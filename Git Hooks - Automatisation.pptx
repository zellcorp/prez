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6" r:id="rId9"/>
    <p:sldId id="263" r:id="rId10"/>
    <p:sldId id="264" r:id="rId11"/>
    <p:sldId id="267" r:id="rId12"/>
    <p:sldId id="265" r:id="rId13"/>
  </p:sldIdLst>
  <p:sldSz cx="12192000" cy="6858000"/>
  <p:notesSz cx="6858000" cy="9144000"/>
  <p:embeddedFontLst>
    <p:embeddedFont>
      <p:font typeface="Urbanist" panose="020B0604020202020204" charset="0"/>
      <p:regular r:id="rId15"/>
      <p:bold r:id="rId16"/>
      <p:italic r:id="rId17"/>
      <p:boldItalic r:id="rId18"/>
    </p:embeddedFont>
    <p:embeddedFont>
      <p:font typeface="Urbanist Medium"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2" d="100"/>
          <a:sy n="142" d="100"/>
        </p:scale>
        <p:origin x="978" y="34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5AD23961-6D80-A1DF-4657-A057738860B9}"/>
            </a:ext>
          </a:extLst>
        </p:cNvPr>
        <p:cNvGrpSpPr/>
        <p:nvPr/>
      </p:nvGrpSpPr>
      <p:grpSpPr>
        <a:xfrm>
          <a:off x="0" y="0"/>
          <a:ext cx="0" cy="0"/>
          <a:chOff x="0" y="0"/>
          <a:chExt cx="0" cy="0"/>
        </a:xfrm>
      </p:grpSpPr>
      <p:sp>
        <p:nvSpPr>
          <p:cNvPr id="162" name="Google Shape;162;p7:notes">
            <a:extLst>
              <a:ext uri="{FF2B5EF4-FFF2-40B4-BE49-F238E27FC236}">
                <a16:creationId xmlns:a16="http://schemas.microsoft.com/office/drawing/2014/main" id="{CE5CD73A-FFB8-B021-C680-1413CD5678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7:notes">
            <a:extLst>
              <a:ext uri="{FF2B5EF4-FFF2-40B4-BE49-F238E27FC236}">
                <a16:creationId xmlns:a16="http://schemas.microsoft.com/office/drawing/2014/main" id="{FBF0CED4-57AB-741F-98F8-253B466090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1726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a:extLst>
            <a:ext uri="{FF2B5EF4-FFF2-40B4-BE49-F238E27FC236}">
              <a16:creationId xmlns:a16="http://schemas.microsoft.com/office/drawing/2014/main" id="{61A99E0F-3693-C04A-270D-C929FD569EFF}"/>
            </a:ext>
          </a:extLst>
        </p:cNvPr>
        <p:cNvGrpSpPr/>
        <p:nvPr/>
      </p:nvGrpSpPr>
      <p:grpSpPr>
        <a:xfrm>
          <a:off x="0" y="0"/>
          <a:ext cx="0" cy="0"/>
          <a:chOff x="0" y="0"/>
          <a:chExt cx="0" cy="0"/>
        </a:xfrm>
      </p:grpSpPr>
      <p:sp>
        <p:nvSpPr>
          <p:cNvPr id="221" name="Google Shape;221;p10:notes">
            <a:extLst>
              <a:ext uri="{FF2B5EF4-FFF2-40B4-BE49-F238E27FC236}">
                <a16:creationId xmlns:a16="http://schemas.microsoft.com/office/drawing/2014/main" id="{2BE9D6D5-4880-9F40-606C-5B28A34DEE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10:notes">
            <a:extLst>
              <a:ext uri="{FF2B5EF4-FFF2-40B4-BE49-F238E27FC236}">
                <a16:creationId xmlns:a16="http://schemas.microsoft.com/office/drawing/2014/main" id="{15E079E9-4FCF-CCAE-61FD-8B922B0E47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23819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905601" y="2619375"/>
            <a:ext cx="6380797" cy="942975"/>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750" b="1" i="0" u="none" strike="noStrike" cap="none">
                <a:solidFill>
                  <a:srgbClr val="FFFFFF"/>
                </a:solidFill>
                <a:latin typeface="Urbanist"/>
                <a:ea typeface="Urbanist"/>
                <a:cs typeface="Urbanist"/>
                <a:sym typeface="Urbanist"/>
              </a:rPr>
              <a:t>Git Hooks</a:t>
            </a:r>
            <a:r>
              <a:rPr lang="en-US" sz="6750" b="1" i="0" u="none" strike="noStrike" cap="none">
                <a:solidFill>
                  <a:srgbClr val="DEFF9A"/>
                </a:solidFill>
                <a:latin typeface="Urbanist"/>
                <a:ea typeface="Urbanist"/>
                <a:cs typeface="Urbanist"/>
                <a:sym typeface="Urbanist"/>
              </a:rPr>
              <a:t>.</a:t>
            </a:r>
            <a:endParaRPr/>
          </a:p>
        </p:txBody>
      </p:sp>
      <p:sp>
        <p:nvSpPr>
          <p:cNvPr id="86" name="Google Shape;86;p13"/>
          <p:cNvSpPr txBox="1"/>
          <p:nvPr/>
        </p:nvSpPr>
        <p:spPr>
          <a:xfrm>
            <a:off x="3057525" y="3752850"/>
            <a:ext cx="6076950" cy="342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8B949E"/>
                </a:solidFill>
                <a:latin typeface="Urbanist Medium"/>
                <a:ea typeface="Urbanist Medium"/>
                <a:cs typeface="Urbanist Medium"/>
                <a:sym typeface="Urbanist Medium"/>
              </a:rPr>
              <a:t>Automatisez &amp; Sécurisez votre Workflow de Développement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90"/>
        <p:cNvGrpSpPr/>
        <p:nvPr/>
      </p:nvGrpSpPr>
      <p:grpSpPr>
        <a:xfrm>
          <a:off x="0" y="0"/>
          <a:ext cx="0" cy="0"/>
          <a:chOff x="0" y="0"/>
          <a:chExt cx="0" cy="0"/>
        </a:xfrm>
      </p:grpSpPr>
      <p:pic>
        <p:nvPicPr>
          <p:cNvPr id="91" name="Google Shape;91;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2" name="Google Shape;92;p14"/>
          <p:cNvSpPr/>
          <p:nvPr/>
        </p:nvSpPr>
        <p:spPr>
          <a:xfrm>
            <a:off x="5619750" y="2409825"/>
            <a:ext cx="952500" cy="47625"/>
          </a:xfrm>
          <a:prstGeom prst="rect">
            <a:avLst/>
          </a:prstGeom>
          <a:solidFill>
            <a:srgbClr val="2EA0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14"/>
          <p:cNvSpPr txBox="1"/>
          <p:nvPr/>
        </p:nvSpPr>
        <p:spPr>
          <a:xfrm>
            <a:off x="1370409" y="2743200"/>
            <a:ext cx="9451181"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FFFFF"/>
                </a:solidFill>
                <a:latin typeface="Urbanist"/>
                <a:ea typeface="Urbanist"/>
                <a:cs typeface="Urbanist"/>
                <a:sym typeface="Urbanist"/>
              </a:rPr>
              <a:t>Qu'est-ce qu'un </a:t>
            </a:r>
            <a:r>
              <a:rPr lang="en-US" sz="6000" b="1" i="0" u="none" strike="noStrike" cap="none">
                <a:solidFill>
                  <a:srgbClr val="DEFF9A"/>
                </a:solidFill>
                <a:latin typeface="Urbanist"/>
                <a:ea typeface="Urbanist"/>
                <a:cs typeface="Urbanist"/>
                <a:sym typeface="Urbanist"/>
              </a:rPr>
              <a:t>Git Hook</a:t>
            </a:r>
            <a:r>
              <a:rPr lang="en-US" sz="6000" b="1" i="0" u="none" strike="noStrike" cap="none">
                <a:solidFill>
                  <a:srgbClr val="FFFFFF"/>
                </a:solidFill>
                <a:latin typeface="Urbanist"/>
                <a:ea typeface="Urbanist"/>
                <a:cs typeface="Urbanist"/>
                <a:sym typeface="Urbanist"/>
              </a:rPr>
              <a:t> ?</a:t>
            </a:r>
            <a:endParaRPr/>
          </a:p>
        </p:txBody>
      </p:sp>
      <p:sp>
        <p:nvSpPr>
          <p:cNvPr id="94" name="Google Shape;94;p14"/>
          <p:cNvSpPr txBox="1"/>
          <p:nvPr/>
        </p:nvSpPr>
        <p:spPr>
          <a:xfrm>
            <a:off x="2286000" y="3848100"/>
            <a:ext cx="7620000" cy="7429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950" b="0" i="0" u="none" strike="noStrike" cap="none">
                <a:solidFill>
                  <a:srgbClr val="8B949E"/>
                </a:solidFill>
                <a:latin typeface="Urbanist"/>
                <a:ea typeface="Urbanist"/>
                <a:cs typeface="Urbanist"/>
                <a:sym typeface="Urbanist"/>
              </a:rPr>
              <a:t>Des scripts automatiques qui s'exécutent en réponse à des actions Git spécifiques pour contrôler le cycle de vie de votre code.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98"/>
        <p:cNvGrpSpPr/>
        <p:nvPr/>
      </p:nvGrpSpPr>
      <p:grpSpPr>
        <a:xfrm>
          <a:off x="0" y="0"/>
          <a:ext cx="0" cy="0"/>
          <a:chOff x="0" y="0"/>
          <a:chExt cx="0" cy="0"/>
        </a:xfrm>
      </p:grpSpPr>
      <p:pic>
        <p:nvPicPr>
          <p:cNvPr id="99" name="Google Shape;9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0" name="Google Shape;100;p15"/>
          <p:cNvSpPr txBox="1"/>
          <p:nvPr/>
        </p:nvSpPr>
        <p:spPr>
          <a:xfrm>
            <a:off x="571500" y="571500"/>
            <a:ext cx="5550693" cy="1162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solidFill>
                  <a:srgbClr val="FFFFFF"/>
                </a:solidFill>
                <a:latin typeface="Urbanist"/>
                <a:ea typeface="Urbanist"/>
                <a:cs typeface="Urbanist"/>
                <a:sym typeface="Urbanist"/>
              </a:rPr>
              <a:t>Le Concept </a:t>
            </a:r>
            <a:r>
              <a:rPr lang="en-US" sz="3750" b="1" i="0" u="none" strike="noStrike" cap="none">
                <a:solidFill>
                  <a:srgbClr val="DEFF9A"/>
                </a:solidFill>
                <a:latin typeface="Urbanist"/>
                <a:ea typeface="Urbanist"/>
                <a:cs typeface="Urbanist"/>
                <a:sym typeface="Urbanist"/>
              </a:rPr>
              <a:t>Fondamental</a:t>
            </a:r>
            <a:endParaRPr/>
          </a:p>
        </p:txBody>
      </p:sp>
      <p:pic>
        <p:nvPicPr>
          <p:cNvPr id="101" name="Google Shape;101;p15" descr="image.png"/>
          <p:cNvPicPr preferRelativeResize="0"/>
          <p:nvPr/>
        </p:nvPicPr>
        <p:blipFill rotWithShape="1">
          <a:blip r:embed="rId4">
            <a:alphaModFix/>
          </a:blip>
          <a:srcRect/>
          <a:stretch/>
        </p:blipFill>
        <p:spPr>
          <a:xfrm>
            <a:off x="6334125" y="0"/>
            <a:ext cx="5857875" cy="6858000"/>
          </a:xfrm>
          <a:prstGeom prst="rect">
            <a:avLst/>
          </a:prstGeom>
          <a:noFill/>
          <a:ln>
            <a:noFill/>
          </a:ln>
        </p:spPr>
      </p:pic>
      <p:sp>
        <p:nvSpPr>
          <p:cNvPr id="102" name="Google Shape;102;p15"/>
          <p:cNvSpPr txBox="1"/>
          <p:nvPr/>
        </p:nvSpPr>
        <p:spPr>
          <a:xfrm>
            <a:off x="571500" y="3057525"/>
            <a:ext cx="5286375"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9D1D9"/>
                </a:solidFill>
                <a:latin typeface="Urbanist"/>
                <a:ea typeface="Urbanist"/>
                <a:cs typeface="Urbanist"/>
                <a:sym typeface="Urbanist"/>
              </a:rPr>
              <a:t>Un Git hook est un script personnalisé qui s'exécute automatiquement lorsqu'un événement spécifique survient dans un dépôt Git (comme un commit, un push, ou un merge).</a:t>
            </a:r>
            <a:endParaRPr/>
          </a:p>
        </p:txBody>
      </p:sp>
      <p:sp>
        <p:nvSpPr>
          <p:cNvPr id="103" name="Google Shape;103;p15"/>
          <p:cNvSpPr txBox="1"/>
          <p:nvPr/>
        </p:nvSpPr>
        <p:spPr>
          <a:xfrm>
            <a:off x="571500" y="4057650"/>
            <a:ext cx="5286375" cy="1143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9D1D9"/>
                </a:solidFill>
                <a:latin typeface="Urbanist"/>
                <a:ea typeface="Urbanist"/>
                <a:cs typeface="Urbanist"/>
                <a:sym typeface="Urbanist"/>
              </a:rPr>
              <a:t>Ils agissent comme des gardiens, vous permettant d'inspecter, de modifier ou de rejeter une action avant qu'elle ne soit finalisée. C'est l'outil ultime pour faire respecter la qualité de votre base de code de manière proactive.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07"/>
        <p:cNvGrpSpPr/>
        <p:nvPr/>
      </p:nvGrpSpPr>
      <p:grpSpPr>
        <a:xfrm>
          <a:off x="0" y="0"/>
          <a:ext cx="0" cy="0"/>
          <a:chOff x="0" y="0"/>
          <a:chExt cx="0" cy="0"/>
        </a:xfrm>
      </p:grpSpPr>
      <p:pic>
        <p:nvPicPr>
          <p:cNvPr id="108" name="Google Shape;108;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9" name="Google Shape;109;p16" descr="image.png"/>
          <p:cNvPicPr preferRelativeResize="0"/>
          <p:nvPr/>
        </p:nvPicPr>
        <p:blipFill rotWithShape="1">
          <a:blip r:embed="rId4">
            <a:alphaModFix/>
          </a:blip>
          <a:srcRect/>
          <a:stretch/>
        </p:blipFill>
        <p:spPr>
          <a:xfrm>
            <a:off x="571500" y="1733550"/>
            <a:ext cx="5286375" cy="4352925"/>
          </a:xfrm>
          <a:prstGeom prst="rect">
            <a:avLst/>
          </a:prstGeom>
          <a:noFill/>
          <a:ln>
            <a:noFill/>
          </a:ln>
        </p:spPr>
      </p:pic>
      <p:pic>
        <p:nvPicPr>
          <p:cNvPr id="110" name="Google Shape;110;p16" descr="image.png"/>
          <p:cNvPicPr preferRelativeResize="0"/>
          <p:nvPr/>
        </p:nvPicPr>
        <p:blipFill rotWithShape="1">
          <a:blip r:embed="rId5">
            <a:alphaModFix/>
          </a:blip>
          <a:srcRect/>
          <a:stretch/>
        </p:blipFill>
        <p:spPr>
          <a:xfrm>
            <a:off x="6334125" y="1733550"/>
            <a:ext cx="5286375" cy="4352925"/>
          </a:xfrm>
          <a:prstGeom prst="rect">
            <a:avLst/>
          </a:prstGeom>
          <a:noFill/>
          <a:ln>
            <a:noFill/>
          </a:ln>
        </p:spPr>
      </p:pic>
      <p:sp>
        <p:nvSpPr>
          <p:cNvPr id="111" name="Google Shape;111;p16"/>
          <p:cNvSpPr txBox="1"/>
          <p:nvPr/>
        </p:nvSpPr>
        <p:spPr>
          <a:xfrm>
            <a:off x="962025" y="2124075"/>
            <a:ext cx="4730591"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58A6FF"/>
                </a:solidFill>
                <a:latin typeface="Urbanist"/>
                <a:ea typeface="Urbanist"/>
                <a:cs typeface="Urbanist"/>
                <a:sym typeface="Urbanist"/>
              </a:rPr>
              <a:t>Hooks Client-Side (Local)</a:t>
            </a:r>
            <a:endParaRPr/>
          </a:p>
        </p:txBody>
      </p:sp>
      <p:sp>
        <p:nvSpPr>
          <p:cNvPr id="112" name="Google Shape;112;p16"/>
          <p:cNvSpPr txBox="1"/>
          <p:nvPr/>
        </p:nvSpPr>
        <p:spPr>
          <a:xfrm>
            <a:off x="6724650" y="2124075"/>
            <a:ext cx="4730591"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58A6FF"/>
                </a:solidFill>
                <a:latin typeface="Urbanist"/>
                <a:ea typeface="Urbanist"/>
                <a:cs typeface="Urbanist"/>
                <a:sym typeface="Urbanist"/>
              </a:rPr>
              <a:t>Hooks Server-Side (Distant)</a:t>
            </a:r>
            <a:endParaRPr/>
          </a:p>
        </p:txBody>
      </p:sp>
      <p:sp>
        <p:nvSpPr>
          <p:cNvPr id="113" name="Google Shape;113;p16"/>
          <p:cNvSpPr txBox="1"/>
          <p:nvPr/>
        </p:nvSpPr>
        <p:spPr>
          <a:xfrm>
            <a:off x="1228725" y="2724150"/>
            <a:ext cx="423862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9D1D9"/>
                </a:solidFill>
                <a:latin typeface="Urbanist"/>
                <a:ea typeface="Urbanist"/>
                <a:cs typeface="Urbanist"/>
                <a:sym typeface="Urbanist"/>
              </a:rPr>
              <a:t>S'exécutent sur l'ordinateur du développeur.</a:t>
            </a:r>
            <a:endParaRPr/>
          </a:p>
        </p:txBody>
      </p:sp>
      <p:sp>
        <p:nvSpPr>
          <p:cNvPr id="114" name="Google Shape;114;p16"/>
          <p:cNvSpPr txBox="1"/>
          <p:nvPr/>
        </p:nvSpPr>
        <p:spPr>
          <a:xfrm>
            <a:off x="1228725" y="3181350"/>
            <a:ext cx="423862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9D1D9"/>
                </a:solidFill>
                <a:latin typeface="Urbanist"/>
                <a:ea typeface="Urbanist"/>
                <a:cs typeface="Urbanist"/>
                <a:sym typeface="Urbanist"/>
              </a:rPr>
              <a:t>Déclenchés par des actions comme ou .</a:t>
            </a:r>
            <a:endParaRPr/>
          </a:p>
        </p:txBody>
      </p:sp>
      <p:sp>
        <p:nvSpPr>
          <p:cNvPr id="115" name="Google Shape;115;p16"/>
          <p:cNvSpPr txBox="1"/>
          <p:nvPr/>
        </p:nvSpPr>
        <p:spPr>
          <a:xfrm>
            <a:off x="1228725" y="3924300"/>
            <a:ext cx="423862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9D1D9"/>
                </a:solidFill>
                <a:latin typeface="Urbanist"/>
                <a:ea typeface="Urbanist"/>
                <a:cs typeface="Urbanist"/>
                <a:sym typeface="Urbanist"/>
              </a:rPr>
              <a:t>Idéals pour le linting, les tests rapides et le formatage.</a:t>
            </a:r>
            <a:endParaRPr/>
          </a:p>
        </p:txBody>
      </p:sp>
      <p:sp>
        <p:nvSpPr>
          <p:cNvPr id="116" name="Google Shape;116;p16"/>
          <p:cNvSpPr txBox="1"/>
          <p:nvPr/>
        </p:nvSpPr>
        <p:spPr>
          <a:xfrm>
            <a:off x="1228725" y="4667250"/>
            <a:ext cx="423862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9D1D9"/>
                </a:solidFill>
                <a:latin typeface="Urbanist"/>
                <a:ea typeface="Urbanist"/>
                <a:cs typeface="Urbanist"/>
                <a:sym typeface="Urbanist"/>
              </a:rPr>
              <a:t>Non versionnés par défaut (nécessitent un outil comme Husky pour le partage).</a:t>
            </a:r>
            <a:endParaRPr/>
          </a:p>
        </p:txBody>
      </p:sp>
      <p:sp>
        <p:nvSpPr>
          <p:cNvPr id="117" name="Google Shape;117;p16"/>
          <p:cNvSpPr txBox="1"/>
          <p:nvPr/>
        </p:nvSpPr>
        <p:spPr>
          <a:xfrm>
            <a:off x="6991350" y="2724150"/>
            <a:ext cx="423862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9D1D9"/>
                </a:solidFill>
                <a:latin typeface="Urbanist"/>
                <a:ea typeface="Urbanist"/>
                <a:cs typeface="Urbanist"/>
                <a:sym typeface="Urbanist"/>
              </a:rPr>
              <a:t>S'exécutent sur le serveur hébergeant le dépôt (GitHub, GitLab, etc.).</a:t>
            </a:r>
            <a:endParaRPr/>
          </a:p>
        </p:txBody>
      </p:sp>
      <p:sp>
        <p:nvSpPr>
          <p:cNvPr id="118" name="Google Shape;118;p16"/>
          <p:cNvSpPr txBox="1"/>
          <p:nvPr/>
        </p:nvSpPr>
        <p:spPr>
          <a:xfrm>
            <a:off x="6991350" y="3467100"/>
            <a:ext cx="423862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9D1D9"/>
                </a:solidFill>
                <a:latin typeface="Urbanist"/>
                <a:ea typeface="Urbanist"/>
                <a:cs typeface="Urbanist"/>
                <a:sym typeface="Urbanist"/>
              </a:rPr>
              <a:t>Déclenchés par des événements réseau comme la réception d'un push.</a:t>
            </a:r>
            <a:endParaRPr/>
          </a:p>
        </p:txBody>
      </p:sp>
      <p:sp>
        <p:nvSpPr>
          <p:cNvPr id="119" name="Google Shape;119;p16"/>
          <p:cNvSpPr txBox="1"/>
          <p:nvPr/>
        </p:nvSpPr>
        <p:spPr>
          <a:xfrm>
            <a:off x="6991350" y="4210050"/>
            <a:ext cx="423862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9D1D9"/>
                </a:solidFill>
                <a:latin typeface="Urbanist"/>
                <a:ea typeface="Urbanist"/>
                <a:cs typeface="Urbanist"/>
                <a:sym typeface="Urbanist"/>
              </a:rPr>
              <a:t>Utilisés pour appliquer des politiques de sécurité ou déclencher la CI/CD.</a:t>
            </a:r>
            <a:endParaRPr/>
          </a:p>
        </p:txBody>
      </p:sp>
      <p:sp>
        <p:nvSpPr>
          <p:cNvPr id="120" name="Google Shape;120;p16"/>
          <p:cNvSpPr txBox="1"/>
          <p:nvPr/>
        </p:nvSpPr>
        <p:spPr>
          <a:xfrm>
            <a:off x="6991350" y="4953000"/>
            <a:ext cx="423862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9D1D9"/>
                </a:solidFill>
                <a:latin typeface="Urbanist"/>
                <a:ea typeface="Urbanist"/>
                <a:cs typeface="Urbanist"/>
                <a:sym typeface="Urbanist"/>
              </a:rPr>
              <a:t>Ne peuvent pas être contournés par les développeurs locaux.</a:t>
            </a:r>
            <a:endParaRPr/>
          </a:p>
        </p:txBody>
      </p:sp>
      <p:sp>
        <p:nvSpPr>
          <p:cNvPr id="121" name="Google Shape;121;p16"/>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solidFill>
                  <a:srgbClr val="FFFFFF"/>
                </a:solidFill>
                <a:latin typeface="Urbanist"/>
                <a:ea typeface="Urbanist"/>
                <a:cs typeface="Urbanist"/>
                <a:sym typeface="Urbanist"/>
              </a:rPr>
              <a:t>Client-Side vs </a:t>
            </a:r>
            <a:r>
              <a:rPr lang="en-US" sz="3750" b="1" i="0" u="none" strike="noStrike" cap="none">
                <a:solidFill>
                  <a:srgbClr val="DEFF9A"/>
                </a:solidFill>
                <a:latin typeface="Urbanist"/>
                <a:ea typeface="Urbanist"/>
                <a:cs typeface="Urbanist"/>
                <a:sym typeface="Urbanist"/>
              </a:rPr>
              <a:t>Server-Side</a:t>
            </a:r>
            <a:endParaRPr/>
          </a:p>
        </p:txBody>
      </p:sp>
      <p:pic>
        <p:nvPicPr>
          <p:cNvPr id="122" name="Google Shape;122;p16" descr="image.png"/>
          <p:cNvPicPr preferRelativeResize="0"/>
          <p:nvPr/>
        </p:nvPicPr>
        <p:blipFill rotWithShape="1">
          <a:blip r:embed="rId6">
            <a:alphaModFix/>
          </a:blip>
          <a:srcRect/>
          <a:stretch/>
        </p:blipFill>
        <p:spPr>
          <a:xfrm>
            <a:off x="962025" y="2724150"/>
            <a:ext cx="95250" cy="200025"/>
          </a:xfrm>
          <a:prstGeom prst="rect">
            <a:avLst/>
          </a:prstGeom>
          <a:noFill/>
          <a:ln>
            <a:noFill/>
          </a:ln>
        </p:spPr>
      </p:pic>
      <p:pic>
        <p:nvPicPr>
          <p:cNvPr id="123" name="Google Shape;123;p16" descr="image.png"/>
          <p:cNvPicPr preferRelativeResize="0"/>
          <p:nvPr/>
        </p:nvPicPr>
        <p:blipFill rotWithShape="1">
          <a:blip r:embed="rId6">
            <a:alphaModFix/>
          </a:blip>
          <a:srcRect/>
          <a:stretch/>
        </p:blipFill>
        <p:spPr>
          <a:xfrm>
            <a:off x="962025" y="3181350"/>
            <a:ext cx="95250" cy="200025"/>
          </a:xfrm>
          <a:prstGeom prst="rect">
            <a:avLst/>
          </a:prstGeom>
          <a:noFill/>
          <a:ln>
            <a:noFill/>
          </a:ln>
        </p:spPr>
      </p:pic>
      <p:pic>
        <p:nvPicPr>
          <p:cNvPr id="124" name="Google Shape;124;p16" descr="image.png"/>
          <p:cNvPicPr preferRelativeResize="0"/>
          <p:nvPr/>
        </p:nvPicPr>
        <p:blipFill rotWithShape="1">
          <a:blip r:embed="rId7">
            <a:alphaModFix/>
          </a:blip>
          <a:srcRect/>
          <a:stretch/>
        </p:blipFill>
        <p:spPr>
          <a:xfrm>
            <a:off x="4286250" y="3200400"/>
            <a:ext cx="1162050" cy="266700"/>
          </a:xfrm>
          <a:prstGeom prst="rect">
            <a:avLst/>
          </a:prstGeom>
          <a:noFill/>
          <a:ln>
            <a:noFill/>
          </a:ln>
        </p:spPr>
      </p:pic>
      <p:pic>
        <p:nvPicPr>
          <p:cNvPr id="125" name="Google Shape;125;p16" descr="image.png"/>
          <p:cNvPicPr preferRelativeResize="0"/>
          <p:nvPr/>
        </p:nvPicPr>
        <p:blipFill rotWithShape="1">
          <a:blip r:embed="rId8">
            <a:alphaModFix/>
          </a:blip>
          <a:srcRect/>
          <a:stretch/>
        </p:blipFill>
        <p:spPr>
          <a:xfrm>
            <a:off x="1476375" y="3486150"/>
            <a:ext cx="952500" cy="266700"/>
          </a:xfrm>
          <a:prstGeom prst="rect">
            <a:avLst/>
          </a:prstGeom>
          <a:noFill/>
          <a:ln>
            <a:noFill/>
          </a:ln>
        </p:spPr>
      </p:pic>
      <p:pic>
        <p:nvPicPr>
          <p:cNvPr id="126" name="Google Shape;126;p16" descr="image.png"/>
          <p:cNvPicPr preferRelativeResize="0"/>
          <p:nvPr/>
        </p:nvPicPr>
        <p:blipFill rotWithShape="1">
          <a:blip r:embed="rId6">
            <a:alphaModFix/>
          </a:blip>
          <a:srcRect/>
          <a:stretch/>
        </p:blipFill>
        <p:spPr>
          <a:xfrm>
            <a:off x="962025" y="3924300"/>
            <a:ext cx="95250" cy="200025"/>
          </a:xfrm>
          <a:prstGeom prst="rect">
            <a:avLst/>
          </a:prstGeom>
          <a:noFill/>
          <a:ln>
            <a:noFill/>
          </a:ln>
        </p:spPr>
      </p:pic>
      <p:pic>
        <p:nvPicPr>
          <p:cNvPr id="127" name="Google Shape;127;p16" descr="image.png"/>
          <p:cNvPicPr preferRelativeResize="0"/>
          <p:nvPr/>
        </p:nvPicPr>
        <p:blipFill rotWithShape="1">
          <a:blip r:embed="rId6">
            <a:alphaModFix/>
          </a:blip>
          <a:srcRect/>
          <a:stretch/>
        </p:blipFill>
        <p:spPr>
          <a:xfrm>
            <a:off x="962025" y="4667250"/>
            <a:ext cx="95250" cy="200025"/>
          </a:xfrm>
          <a:prstGeom prst="rect">
            <a:avLst/>
          </a:prstGeom>
          <a:noFill/>
          <a:ln>
            <a:noFill/>
          </a:ln>
        </p:spPr>
      </p:pic>
      <p:pic>
        <p:nvPicPr>
          <p:cNvPr id="128" name="Google Shape;128;p16" descr="image.png"/>
          <p:cNvPicPr preferRelativeResize="0"/>
          <p:nvPr/>
        </p:nvPicPr>
        <p:blipFill rotWithShape="1">
          <a:blip r:embed="rId6">
            <a:alphaModFix/>
          </a:blip>
          <a:srcRect/>
          <a:stretch/>
        </p:blipFill>
        <p:spPr>
          <a:xfrm>
            <a:off x="6724650" y="2724150"/>
            <a:ext cx="95250" cy="200025"/>
          </a:xfrm>
          <a:prstGeom prst="rect">
            <a:avLst/>
          </a:prstGeom>
          <a:noFill/>
          <a:ln>
            <a:noFill/>
          </a:ln>
        </p:spPr>
      </p:pic>
      <p:pic>
        <p:nvPicPr>
          <p:cNvPr id="129" name="Google Shape;129;p16" descr="image.png"/>
          <p:cNvPicPr preferRelativeResize="0"/>
          <p:nvPr/>
        </p:nvPicPr>
        <p:blipFill rotWithShape="1">
          <a:blip r:embed="rId6">
            <a:alphaModFix/>
          </a:blip>
          <a:srcRect/>
          <a:stretch/>
        </p:blipFill>
        <p:spPr>
          <a:xfrm>
            <a:off x="6724650" y="3467100"/>
            <a:ext cx="95250" cy="200025"/>
          </a:xfrm>
          <a:prstGeom prst="rect">
            <a:avLst/>
          </a:prstGeom>
          <a:noFill/>
          <a:ln>
            <a:noFill/>
          </a:ln>
        </p:spPr>
      </p:pic>
      <p:pic>
        <p:nvPicPr>
          <p:cNvPr id="130" name="Google Shape;130;p16" descr="image.png"/>
          <p:cNvPicPr preferRelativeResize="0"/>
          <p:nvPr/>
        </p:nvPicPr>
        <p:blipFill rotWithShape="1">
          <a:blip r:embed="rId6">
            <a:alphaModFix/>
          </a:blip>
          <a:srcRect/>
          <a:stretch/>
        </p:blipFill>
        <p:spPr>
          <a:xfrm>
            <a:off x="6724650" y="4210050"/>
            <a:ext cx="95250" cy="200025"/>
          </a:xfrm>
          <a:prstGeom prst="rect">
            <a:avLst/>
          </a:prstGeom>
          <a:noFill/>
          <a:ln>
            <a:noFill/>
          </a:ln>
        </p:spPr>
      </p:pic>
      <p:pic>
        <p:nvPicPr>
          <p:cNvPr id="131" name="Google Shape;131;p16" descr="image.png"/>
          <p:cNvPicPr preferRelativeResize="0"/>
          <p:nvPr/>
        </p:nvPicPr>
        <p:blipFill rotWithShape="1">
          <a:blip r:embed="rId6">
            <a:alphaModFix/>
          </a:blip>
          <a:srcRect/>
          <a:stretch/>
        </p:blipFill>
        <p:spPr>
          <a:xfrm>
            <a:off x="6724650" y="4953000"/>
            <a:ext cx="95250" cy="200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35"/>
        <p:cNvGrpSpPr/>
        <p:nvPr/>
      </p:nvGrpSpPr>
      <p:grpSpPr>
        <a:xfrm>
          <a:off x="0" y="0"/>
          <a:ext cx="0" cy="0"/>
          <a:chOff x="0" y="0"/>
          <a:chExt cx="0" cy="0"/>
        </a:xfrm>
      </p:grpSpPr>
      <p:pic>
        <p:nvPicPr>
          <p:cNvPr id="136" name="Google Shape;136;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7" name="Google Shape;137;p17" descr="image.png"/>
          <p:cNvPicPr preferRelativeResize="0"/>
          <p:nvPr/>
        </p:nvPicPr>
        <p:blipFill rotWithShape="1">
          <a:blip r:embed="rId4">
            <a:alphaModFix/>
          </a:blip>
          <a:srcRect/>
          <a:stretch/>
        </p:blipFill>
        <p:spPr>
          <a:xfrm>
            <a:off x="571500" y="2010816"/>
            <a:ext cx="3492549" cy="3798391"/>
          </a:xfrm>
          <a:prstGeom prst="rect">
            <a:avLst/>
          </a:prstGeom>
          <a:noFill/>
          <a:ln>
            <a:noFill/>
          </a:ln>
        </p:spPr>
      </p:pic>
      <p:pic>
        <p:nvPicPr>
          <p:cNvPr id="138" name="Google Shape;138;p17" descr="image.png"/>
          <p:cNvPicPr preferRelativeResize="0"/>
          <p:nvPr/>
        </p:nvPicPr>
        <p:blipFill rotWithShape="1">
          <a:blip r:embed="rId5">
            <a:alphaModFix/>
          </a:blip>
          <a:srcRect/>
          <a:stretch/>
        </p:blipFill>
        <p:spPr>
          <a:xfrm>
            <a:off x="4349799" y="2010816"/>
            <a:ext cx="3492549" cy="3798391"/>
          </a:xfrm>
          <a:prstGeom prst="rect">
            <a:avLst/>
          </a:prstGeom>
          <a:noFill/>
          <a:ln>
            <a:noFill/>
          </a:ln>
        </p:spPr>
      </p:pic>
      <p:pic>
        <p:nvPicPr>
          <p:cNvPr id="139" name="Google Shape;139;p17" descr="image.png"/>
          <p:cNvPicPr preferRelativeResize="0"/>
          <p:nvPr/>
        </p:nvPicPr>
        <p:blipFill rotWithShape="1">
          <a:blip r:embed="rId6">
            <a:alphaModFix/>
          </a:blip>
          <a:srcRect/>
          <a:stretch/>
        </p:blipFill>
        <p:spPr>
          <a:xfrm>
            <a:off x="8128099" y="2010816"/>
            <a:ext cx="3492549" cy="3798391"/>
          </a:xfrm>
          <a:prstGeom prst="rect">
            <a:avLst/>
          </a:prstGeom>
          <a:noFill/>
          <a:ln>
            <a:noFill/>
          </a:ln>
        </p:spPr>
      </p:pic>
      <p:pic>
        <p:nvPicPr>
          <p:cNvPr id="140" name="Google Shape;140;p17" descr="image.png"/>
          <p:cNvPicPr preferRelativeResize="0"/>
          <p:nvPr/>
        </p:nvPicPr>
        <p:blipFill rotWithShape="1">
          <a:blip r:embed="rId7">
            <a:alphaModFix/>
          </a:blip>
          <a:srcRect/>
          <a:stretch/>
        </p:blipFill>
        <p:spPr>
          <a:xfrm>
            <a:off x="866775" y="2353716"/>
            <a:ext cx="666750" cy="666750"/>
          </a:xfrm>
          <a:prstGeom prst="rect">
            <a:avLst/>
          </a:prstGeom>
          <a:noFill/>
          <a:ln>
            <a:noFill/>
          </a:ln>
        </p:spPr>
      </p:pic>
      <p:sp>
        <p:nvSpPr>
          <p:cNvPr id="141" name="Google Shape;141;p17"/>
          <p:cNvSpPr txBox="1"/>
          <p:nvPr/>
        </p:nvSpPr>
        <p:spPr>
          <a:xfrm>
            <a:off x="866775" y="3210966"/>
            <a:ext cx="3047099"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FFFFF"/>
                </a:solidFill>
                <a:latin typeface="Urbanist"/>
                <a:ea typeface="Urbanist"/>
                <a:cs typeface="Urbanist"/>
                <a:sym typeface="Urbanist"/>
              </a:rPr>
              <a:t>pre-commit</a:t>
            </a:r>
            <a:endParaRPr/>
          </a:p>
        </p:txBody>
      </p:sp>
      <p:sp>
        <p:nvSpPr>
          <p:cNvPr id="142" name="Google Shape;142;p17"/>
          <p:cNvSpPr txBox="1"/>
          <p:nvPr/>
        </p:nvSpPr>
        <p:spPr>
          <a:xfrm>
            <a:off x="866775" y="3677691"/>
            <a:ext cx="2901999" cy="16457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9D1D9"/>
                </a:solidFill>
                <a:latin typeface="Urbanist"/>
                <a:ea typeface="Urbanist"/>
                <a:cs typeface="Urbanist"/>
                <a:sym typeface="Urbanist"/>
              </a:rPr>
              <a:t>S'exécute avant même que vous ne tapiez votre message de commit. Parfait pour inspecter le code (linting, vérification de types). S'il échoue, le commit est purement et simplement annulé.</a:t>
            </a:r>
            <a:endParaRPr/>
          </a:p>
        </p:txBody>
      </p:sp>
      <p:pic>
        <p:nvPicPr>
          <p:cNvPr id="143" name="Google Shape;143;p17" descr="image.png"/>
          <p:cNvPicPr preferRelativeResize="0"/>
          <p:nvPr/>
        </p:nvPicPr>
        <p:blipFill rotWithShape="1">
          <a:blip r:embed="rId8">
            <a:alphaModFix/>
          </a:blip>
          <a:srcRect/>
          <a:stretch/>
        </p:blipFill>
        <p:spPr>
          <a:xfrm>
            <a:off x="4645074" y="2353716"/>
            <a:ext cx="666750" cy="666750"/>
          </a:xfrm>
          <a:prstGeom prst="rect">
            <a:avLst/>
          </a:prstGeom>
          <a:noFill/>
          <a:ln>
            <a:noFill/>
          </a:ln>
        </p:spPr>
      </p:pic>
      <p:sp>
        <p:nvSpPr>
          <p:cNvPr id="144" name="Google Shape;144;p17"/>
          <p:cNvSpPr txBox="1"/>
          <p:nvPr/>
        </p:nvSpPr>
        <p:spPr>
          <a:xfrm>
            <a:off x="4645074" y="3210966"/>
            <a:ext cx="3047099"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FFFFF"/>
                </a:solidFill>
                <a:latin typeface="Urbanist"/>
                <a:ea typeface="Urbanist"/>
                <a:cs typeface="Urbanist"/>
                <a:sym typeface="Urbanist"/>
              </a:rPr>
              <a:t>commit-msg</a:t>
            </a:r>
            <a:endParaRPr/>
          </a:p>
        </p:txBody>
      </p:sp>
      <p:sp>
        <p:nvSpPr>
          <p:cNvPr id="145" name="Google Shape;145;p17"/>
          <p:cNvSpPr txBox="1"/>
          <p:nvPr/>
        </p:nvSpPr>
        <p:spPr>
          <a:xfrm>
            <a:off x="4645074" y="3677691"/>
            <a:ext cx="2901999" cy="16457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9D1D9"/>
                </a:solidFill>
                <a:latin typeface="Urbanist"/>
                <a:ea typeface="Urbanist"/>
                <a:cs typeface="Urbanist"/>
                <a:sym typeface="Urbanist"/>
              </a:rPr>
              <a:t>Intervient juste après la saisie du message de commit. Principalement utilisé pour valider que le message respecte une convention d'équipe stricte (ex: la spécification Conventional Commits).</a:t>
            </a:r>
            <a:endParaRPr/>
          </a:p>
        </p:txBody>
      </p:sp>
      <p:pic>
        <p:nvPicPr>
          <p:cNvPr id="146" name="Google Shape;146;p17" descr="image.png"/>
          <p:cNvPicPr preferRelativeResize="0"/>
          <p:nvPr/>
        </p:nvPicPr>
        <p:blipFill rotWithShape="1">
          <a:blip r:embed="rId9">
            <a:alphaModFix/>
          </a:blip>
          <a:srcRect/>
          <a:stretch/>
        </p:blipFill>
        <p:spPr>
          <a:xfrm>
            <a:off x="8423374" y="2353716"/>
            <a:ext cx="666750" cy="666750"/>
          </a:xfrm>
          <a:prstGeom prst="rect">
            <a:avLst/>
          </a:prstGeom>
          <a:noFill/>
          <a:ln>
            <a:noFill/>
          </a:ln>
        </p:spPr>
      </p:pic>
      <p:sp>
        <p:nvSpPr>
          <p:cNvPr id="147" name="Google Shape;147;p17"/>
          <p:cNvSpPr txBox="1"/>
          <p:nvPr/>
        </p:nvSpPr>
        <p:spPr>
          <a:xfrm>
            <a:off x="8423374" y="3210966"/>
            <a:ext cx="3047099"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FFFFF"/>
                </a:solidFill>
                <a:latin typeface="Urbanist"/>
                <a:ea typeface="Urbanist"/>
                <a:cs typeface="Urbanist"/>
                <a:sym typeface="Urbanist"/>
              </a:rPr>
              <a:t>pre-push</a:t>
            </a:r>
            <a:endParaRPr/>
          </a:p>
        </p:txBody>
      </p:sp>
      <p:sp>
        <p:nvSpPr>
          <p:cNvPr id="148" name="Google Shape;148;p17"/>
          <p:cNvSpPr txBox="1"/>
          <p:nvPr/>
        </p:nvSpPr>
        <p:spPr>
          <a:xfrm>
            <a:off x="8423374" y="3677691"/>
            <a:ext cx="2901999" cy="1371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C9D1D9"/>
                </a:solidFill>
                <a:latin typeface="Urbanist"/>
                <a:ea typeface="Urbanist"/>
                <a:cs typeface="Urbanist"/>
                <a:sym typeface="Urbanist"/>
              </a:rPr>
              <a:t>S'exécute avant l'envoi de vos commits locaux vers le serveur distant. C'est le moment idéal pour lancer une suite de tests unitaires complète et éviter de casser la branche principale (main).</a:t>
            </a:r>
            <a:endParaRPr/>
          </a:p>
        </p:txBody>
      </p:sp>
      <p:pic>
        <p:nvPicPr>
          <p:cNvPr id="149" name="Google Shape;149;p17" descr="image.png"/>
          <p:cNvPicPr preferRelativeResize="0"/>
          <p:nvPr/>
        </p:nvPicPr>
        <p:blipFill rotWithShape="1">
          <a:blip r:embed="rId10">
            <a:alphaModFix/>
          </a:blip>
          <a:srcRect/>
          <a:stretch/>
        </p:blipFill>
        <p:spPr>
          <a:xfrm>
            <a:off x="1071562" y="2515641"/>
            <a:ext cx="257175" cy="342900"/>
          </a:xfrm>
          <a:prstGeom prst="rect">
            <a:avLst/>
          </a:prstGeom>
          <a:noFill/>
          <a:ln>
            <a:noFill/>
          </a:ln>
        </p:spPr>
      </p:pic>
      <p:pic>
        <p:nvPicPr>
          <p:cNvPr id="150" name="Google Shape;150;p17" descr="image.png"/>
          <p:cNvPicPr preferRelativeResize="0"/>
          <p:nvPr/>
        </p:nvPicPr>
        <p:blipFill rotWithShape="1">
          <a:blip r:embed="rId11">
            <a:alphaModFix/>
          </a:blip>
          <a:srcRect/>
          <a:stretch/>
        </p:blipFill>
        <p:spPr>
          <a:xfrm>
            <a:off x="4806999" y="2515641"/>
            <a:ext cx="342900" cy="342900"/>
          </a:xfrm>
          <a:prstGeom prst="rect">
            <a:avLst/>
          </a:prstGeom>
          <a:noFill/>
          <a:ln>
            <a:noFill/>
          </a:ln>
        </p:spPr>
      </p:pic>
      <p:pic>
        <p:nvPicPr>
          <p:cNvPr id="151" name="Google Shape;151;p17" descr="image.png"/>
          <p:cNvPicPr preferRelativeResize="0"/>
          <p:nvPr/>
        </p:nvPicPr>
        <p:blipFill rotWithShape="1">
          <a:blip r:embed="rId12">
            <a:alphaModFix/>
          </a:blip>
          <a:srcRect/>
          <a:stretch/>
        </p:blipFill>
        <p:spPr>
          <a:xfrm>
            <a:off x="8542436" y="2515641"/>
            <a:ext cx="428625" cy="342900"/>
          </a:xfrm>
          <a:prstGeom prst="rect">
            <a:avLst/>
          </a:prstGeom>
          <a:noFill/>
          <a:ln>
            <a:noFill/>
          </a:ln>
        </p:spPr>
      </p:pic>
      <p:sp>
        <p:nvSpPr>
          <p:cNvPr id="152" name="Google Shape;152;p17"/>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dirty="0">
                <a:solidFill>
                  <a:srgbClr val="FFFFFF"/>
                </a:solidFill>
                <a:latin typeface="Urbanist"/>
                <a:ea typeface="Urbanist"/>
                <a:cs typeface="Urbanist"/>
                <a:sym typeface="Urbanist"/>
              </a:rPr>
              <a:t>Les 3 Hooks </a:t>
            </a:r>
            <a:r>
              <a:rPr lang="en-US" sz="3750" b="1" i="0" u="none" strike="noStrike" cap="none" dirty="0" err="1">
                <a:solidFill>
                  <a:srgbClr val="DEFF9A"/>
                </a:solidFill>
                <a:latin typeface="Urbanist"/>
                <a:ea typeface="Urbanist"/>
                <a:cs typeface="Urbanist"/>
                <a:sym typeface="Urbanist"/>
              </a:rPr>
              <a:t>Incontournables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56"/>
        <p:cNvGrpSpPr/>
        <p:nvPr/>
      </p:nvGrpSpPr>
      <p:grpSpPr>
        <a:xfrm>
          <a:off x="0" y="0"/>
          <a:ext cx="0" cy="0"/>
          <a:chOff x="0" y="0"/>
          <a:chExt cx="0" cy="0"/>
        </a:xfrm>
      </p:grpSpPr>
      <p:pic>
        <p:nvPicPr>
          <p:cNvPr id="157" name="Google Shape;15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8" name="Google Shape;158;p18"/>
          <p:cNvSpPr/>
          <p:nvPr/>
        </p:nvSpPr>
        <p:spPr>
          <a:xfrm>
            <a:off x="5619750" y="2595562"/>
            <a:ext cx="952500" cy="47625"/>
          </a:xfrm>
          <a:prstGeom prst="rect">
            <a:avLst/>
          </a:prstGeom>
          <a:solidFill>
            <a:srgbClr val="2EA04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9" name="Google Shape;159;p18"/>
          <p:cNvSpPr txBox="1"/>
          <p:nvPr/>
        </p:nvSpPr>
        <p:spPr>
          <a:xfrm>
            <a:off x="2890599" y="2928937"/>
            <a:ext cx="6410801"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FFFFF"/>
                </a:solidFill>
                <a:latin typeface="Urbanist"/>
                <a:ea typeface="Urbanist"/>
                <a:cs typeface="Urbanist"/>
                <a:sym typeface="Urbanist"/>
              </a:rPr>
              <a:t>Dans les </a:t>
            </a:r>
            <a:r>
              <a:rPr lang="en-US" sz="6000" b="1" i="0" u="none" strike="noStrike" cap="none">
                <a:solidFill>
                  <a:srgbClr val="DEFF9A"/>
                </a:solidFill>
                <a:latin typeface="Urbanist"/>
                <a:ea typeface="Urbanist"/>
                <a:cs typeface="Urbanist"/>
                <a:sym typeface="Urbanist"/>
              </a:rPr>
              <a:t>Coulisses</a:t>
            </a:r>
            <a:endParaRPr/>
          </a:p>
        </p:txBody>
      </p:sp>
      <p:sp>
        <p:nvSpPr>
          <p:cNvPr id="160" name="Google Shape;160;p18"/>
          <p:cNvSpPr txBox="1"/>
          <p:nvPr/>
        </p:nvSpPr>
        <p:spPr>
          <a:xfrm>
            <a:off x="2871787" y="4033837"/>
            <a:ext cx="6662178" cy="450123"/>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950" b="0" i="0" u="none" strike="noStrike" cap="none" dirty="0">
                <a:solidFill>
                  <a:srgbClr val="8B949E"/>
                </a:solidFill>
                <a:latin typeface="Urbanist"/>
                <a:ea typeface="Urbanist"/>
                <a:cs typeface="Urbanist"/>
                <a:sym typeface="Urbanist"/>
              </a:rPr>
              <a:t>Comment </a:t>
            </a:r>
            <a:r>
              <a:rPr lang="en-US" sz="1950" b="0" i="0" u="none" strike="noStrike" cap="none" dirty="0" err="1">
                <a:solidFill>
                  <a:srgbClr val="8B949E"/>
                </a:solidFill>
                <a:latin typeface="Urbanist"/>
                <a:ea typeface="Urbanist"/>
                <a:cs typeface="Urbanist"/>
                <a:sym typeface="Urbanist"/>
              </a:rPr>
              <a:t>ça</a:t>
            </a:r>
            <a:r>
              <a:rPr lang="en-US" sz="1950" b="0" i="0" u="none" strike="noStrike" cap="none" dirty="0">
                <a:solidFill>
                  <a:srgbClr val="8B949E"/>
                </a:solidFill>
                <a:latin typeface="Urbanist"/>
                <a:ea typeface="Urbanist"/>
                <a:cs typeface="Urbanist"/>
                <a:sym typeface="Urbanist"/>
              </a:rPr>
              <a:t> </a:t>
            </a:r>
            <a:r>
              <a:rPr lang="en-US" sz="1950" b="0" i="0" u="none" strike="noStrike" cap="none" dirty="0" err="1">
                <a:solidFill>
                  <a:srgbClr val="8B949E"/>
                </a:solidFill>
                <a:latin typeface="Urbanist"/>
                <a:ea typeface="Urbanist"/>
                <a:cs typeface="Urbanist"/>
                <a:sym typeface="Urbanist"/>
              </a:rPr>
              <a:t>fonctionne</a:t>
            </a:r>
            <a:r>
              <a:rPr lang="en-US" sz="1950" b="0" i="0" u="none" strike="noStrike" cap="none" dirty="0">
                <a:solidFill>
                  <a:srgbClr val="8B949E"/>
                </a:solidFill>
                <a:latin typeface="Urbanist"/>
                <a:ea typeface="Urbanist"/>
                <a:cs typeface="Urbanist"/>
                <a:sym typeface="Urbanist"/>
              </a:rPr>
              <a:t> sous le capot de </a:t>
            </a:r>
            <a:r>
              <a:rPr lang="en-US" sz="1950" b="0" i="0" u="none" strike="noStrike" cap="none" dirty="0" err="1">
                <a:solidFill>
                  <a:srgbClr val="8B949E"/>
                </a:solidFill>
                <a:latin typeface="Urbanist"/>
                <a:ea typeface="Urbanist"/>
                <a:cs typeface="Urbanist"/>
                <a:sym typeface="Urbanist"/>
              </a:rPr>
              <a:t>votre</a:t>
            </a:r>
            <a:r>
              <a:rPr lang="en-US" sz="1950" b="0" i="0" u="none" strike="noStrike" cap="none" dirty="0">
                <a:solidFill>
                  <a:srgbClr val="8B949E"/>
                </a:solidFill>
                <a:latin typeface="Urbanist"/>
                <a:ea typeface="Urbanist"/>
                <a:cs typeface="Urbanist"/>
                <a:sym typeface="Urbanist"/>
              </a:rPr>
              <a:t> </a:t>
            </a:r>
            <a:r>
              <a:rPr lang="en-US" sz="1950" b="0" i="0" u="none" strike="noStrike" cap="none" dirty="0" err="1">
                <a:solidFill>
                  <a:srgbClr val="8B949E"/>
                </a:solidFill>
                <a:latin typeface="Urbanist"/>
                <a:ea typeface="Urbanist"/>
                <a:cs typeface="Urbanist"/>
                <a:sym typeface="Urbanist"/>
              </a:rPr>
              <a:t>répertoire</a:t>
            </a:r>
            <a:r>
              <a:rPr lang="en-US" sz="1950" b="0" i="0" u="none" strike="noStrike" cap="none" dirty="0">
                <a:solidFill>
                  <a:srgbClr val="8B949E"/>
                </a:solidFill>
                <a:latin typeface="Urbanist"/>
                <a:ea typeface="Urbanist"/>
                <a:cs typeface="Urbanist"/>
                <a:sym typeface="Urbanist"/>
              </a:rPr>
              <a:t>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64"/>
        <p:cNvGrpSpPr/>
        <p:nvPr/>
      </p:nvGrpSpPr>
      <p:grpSpPr>
        <a:xfrm>
          <a:off x="0" y="0"/>
          <a:ext cx="0" cy="0"/>
          <a:chOff x="0" y="0"/>
          <a:chExt cx="0" cy="0"/>
        </a:xfrm>
      </p:grpSpPr>
      <p:pic>
        <p:nvPicPr>
          <p:cNvPr id="165" name="Google Shape;165;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6" name="Google Shape;166;p19"/>
          <p:cNvSpPr/>
          <p:nvPr/>
        </p:nvSpPr>
        <p:spPr>
          <a:xfrm>
            <a:off x="571500" y="381149"/>
            <a:ext cx="11049000" cy="1945777"/>
          </a:xfrm>
          <a:prstGeom prst="roundRect">
            <a:avLst>
              <a:gd name="adj" fmla="val 5046"/>
            </a:avLst>
          </a:prstGeom>
          <a:solidFill>
            <a:srgbClr val="161B22"/>
          </a:solidFill>
          <a:ln w="9525" cap="flat" cmpd="sng">
            <a:solidFill>
              <a:srgbClr val="30363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7" name="Google Shape;167;p19"/>
          <p:cNvSpPr txBox="1"/>
          <p:nvPr/>
        </p:nvSpPr>
        <p:spPr>
          <a:xfrm>
            <a:off x="1438275" y="482759"/>
            <a:ext cx="9906000" cy="1788616"/>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1" i="0" u="none" strike="noStrike" cap="none" dirty="0" err="1">
                <a:solidFill>
                  <a:srgbClr val="FFFFFF"/>
                </a:solidFill>
                <a:latin typeface="Urbanist"/>
                <a:ea typeface="Urbanist"/>
                <a:cs typeface="Urbanist"/>
                <a:sym typeface="Urbanist"/>
              </a:rPr>
              <a:t>Localisation</a:t>
            </a:r>
            <a:r>
              <a:rPr lang="en-US" sz="1425" b="1" i="0" u="none" strike="noStrike" cap="none" dirty="0">
                <a:solidFill>
                  <a:srgbClr val="FFFFFF"/>
                </a:solidFill>
                <a:latin typeface="Urbanist"/>
                <a:ea typeface="Urbanist"/>
                <a:cs typeface="Urbanist"/>
                <a:sym typeface="Urbanist"/>
              </a:rPr>
              <a:t> Standard</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Chaque</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dépôt</a:t>
            </a:r>
            <a:r>
              <a:rPr lang="en-US" sz="1425" b="0" i="0" u="none" strike="noStrike" cap="none" dirty="0">
                <a:solidFill>
                  <a:srgbClr val="C9D1D9"/>
                </a:solidFill>
                <a:latin typeface="Urbanist"/>
                <a:ea typeface="Urbanist"/>
                <a:cs typeface="Urbanist"/>
                <a:sym typeface="Urbanist"/>
              </a:rPr>
              <a:t> Git </a:t>
            </a:r>
            <a:r>
              <a:rPr lang="en-US" sz="1425" b="0" i="0" u="none" strike="noStrike" cap="none" dirty="0" err="1">
                <a:solidFill>
                  <a:srgbClr val="C9D1D9"/>
                </a:solidFill>
                <a:latin typeface="Urbanist"/>
                <a:ea typeface="Urbanist"/>
                <a:cs typeface="Urbanist"/>
                <a:sym typeface="Urbanist"/>
              </a:rPr>
              <a:t>possède</a:t>
            </a:r>
            <a:r>
              <a:rPr lang="en-US" sz="1425" b="0" i="0" u="none" strike="noStrike" cap="none" dirty="0">
                <a:solidFill>
                  <a:srgbClr val="C9D1D9"/>
                </a:solidFill>
                <a:latin typeface="Urbanist"/>
                <a:ea typeface="Urbanist"/>
                <a:cs typeface="Urbanist"/>
                <a:sym typeface="Urbanist"/>
              </a:rPr>
              <a:t> par </a:t>
            </a:r>
            <a:r>
              <a:rPr lang="en-US" sz="1425" b="0" i="0" u="none" strike="noStrike" cap="none" dirty="0" err="1">
                <a:solidFill>
                  <a:srgbClr val="C9D1D9"/>
                </a:solidFill>
                <a:latin typeface="Urbanist"/>
                <a:ea typeface="Urbanist"/>
                <a:cs typeface="Urbanist"/>
                <a:sym typeface="Urbanist"/>
              </a:rPr>
              <a:t>défaut</a:t>
            </a:r>
            <a:r>
              <a:rPr lang="en-US" sz="1425" b="0" i="0" u="none" strike="noStrike" cap="none" dirty="0">
                <a:solidFill>
                  <a:srgbClr val="C9D1D9"/>
                </a:solidFill>
                <a:latin typeface="Urbanist"/>
                <a:ea typeface="Urbanist"/>
                <a:cs typeface="Urbanist"/>
                <a:sym typeface="Urbanist"/>
              </a:rPr>
              <a:t> un </a:t>
            </a:r>
            <a:r>
              <a:rPr lang="en-US" sz="1425" b="0" i="0" u="none" strike="noStrike" cap="none" dirty="0" err="1">
                <a:solidFill>
                  <a:srgbClr val="C9D1D9"/>
                </a:solidFill>
                <a:latin typeface="Urbanist"/>
                <a:ea typeface="Urbanist"/>
                <a:cs typeface="Urbanist"/>
                <a:sym typeface="Urbanist"/>
              </a:rPr>
              <a:t>répertoire</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caché</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contenant</a:t>
            </a:r>
            <a:r>
              <a:rPr lang="en-US" sz="1425" b="0" i="0" u="none" strike="noStrike" cap="none" dirty="0">
                <a:solidFill>
                  <a:srgbClr val="C9D1D9"/>
                </a:solidFill>
                <a:latin typeface="Urbanist"/>
                <a:ea typeface="Urbanist"/>
                <a:cs typeface="Urbanist"/>
                <a:sym typeface="Urbanist"/>
              </a:rPr>
              <a:t> des </a:t>
            </a:r>
            <a:r>
              <a:rPr lang="en-US" sz="1425" b="0" i="0" u="none" strike="noStrike" cap="none" dirty="0" err="1">
                <a:solidFill>
                  <a:srgbClr val="C9D1D9"/>
                </a:solidFill>
                <a:latin typeface="Urbanist"/>
                <a:ea typeface="Urbanist"/>
                <a:cs typeface="Urbanist"/>
                <a:sym typeface="Urbanist"/>
              </a:rPr>
              <a:t>exemples</a:t>
            </a:r>
            <a:r>
              <a:rPr lang="en-US" sz="1425" b="0" i="0" u="none" strike="noStrike" cap="none" dirty="0">
                <a:solidFill>
                  <a:srgbClr val="C9D1D9"/>
                </a:solidFill>
                <a:latin typeface="Urbanist"/>
                <a:ea typeface="Urbanist"/>
                <a:cs typeface="Urbanist"/>
                <a:sym typeface="Urbanist"/>
              </a:rPr>
              <a:t> de scripts avec </a:t>
            </a:r>
            <a:r>
              <a:rPr lang="en-US" sz="1425" b="0" i="0" u="none" strike="noStrike" cap="none" dirty="0" err="1">
                <a:solidFill>
                  <a:srgbClr val="C9D1D9"/>
                </a:solidFill>
                <a:latin typeface="Urbanist"/>
                <a:ea typeface="Urbanist"/>
                <a:cs typeface="Urbanist"/>
                <a:sym typeface="Urbanist"/>
              </a:rPr>
              <a:t>l'extension</a:t>
            </a:r>
            <a:r>
              <a:rPr lang="en-US" sz="1425" b="0" i="0" u="none" strike="noStrike" cap="none" dirty="0">
                <a:solidFill>
                  <a:srgbClr val="C9D1D9"/>
                </a:solidFill>
                <a:latin typeface="Urbanist"/>
                <a:ea typeface="Urbanist"/>
                <a:cs typeface="Urbanist"/>
                <a:sym typeface="Urbanist"/>
              </a:rPr>
              <a:t> .</a:t>
            </a:r>
            <a:endParaRPr dirty="0"/>
          </a:p>
        </p:txBody>
      </p:sp>
      <p:sp>
        <p:nvSpPr>
          <p:cNvPr id="168" name="Google Shape;168;p19"/>
          <p:cNvSpPr/>
          <p:nvPr/>
        </p:nvSpPr>
        <p:spPr>
          <a:xfrm>
            <a:off x="571500" y="2487920"/>
            <a:ext cx="11049000" cy="1428750"/>
          </a:xfrm>
          <a:prstGeom prst="roundRect">
            <a:avLst>
              <a:gd name="adj" fmla="val 8000"/>
            </a:avLst>
          </a:prstGeom>
          <a:solidFill>
            <a:srgbClr val="161B22"/>
          </a:solidFill>
          <a:ln w="9525" cap="flat" cmpd="sng">
            <a:solidFill>
              <a:srgbClr val="30363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9" name="Google Shape;169;p19"/>
          <p:cNvSpPr txBox="1"/>
          <p:nvPr/>
        </p:nvSpPr>
        <p:spPr>
          <a:xfrm>
            <a:off x="1428750" y="2726045"/>
            <a:ext cx="9906000" cy="657872"/>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0" i="0" u="none" strike="noStrike" cap="none" dirty="0">
                <a:solidFill>
                  <a:srgbClr val="C9D1D9"/>
                </a:solidFill>
                <a:latin typeface="Urbanist"/>
                <a:ea typeface="Urbanist"/>
                <a:cs typeface="Urbanist"/>
                <a:sym typeface="Urbanist"/>
              </a:rPr>
              <a:t> </a:t>
            </a:r>
            <a:r>
              <a:rPr lang="en-US" sz="1425" b="1" i="0" u="none" strike="noStrike" cap="none" dirty="0" err="1">
                <a:solidFill>
                  <a:srgbClr val="FFFFFF"/>
                </a:solidFill>
                <a:latin typeface="Urbanist"/>
                <a:ea typeface="Urbanist"/>
                <a:cs typeface="Urbanist"/>
                <a:sym typeface="Urbanist"/>
              </a:rPr>
              <a:t>Agnostique</a:t>
            </a:r>
            <a:r>
              <a:rPr lang="en-US" sz="1425" b="1" i="0" u="none" strike="noStrike" cap="none" dirty="0">
                <a:solidFill>
                  <a:srgbClr val="FFFFFF"/>
                </a:solidFill>
                <a:latin typeface="Urbanist"/>
                <a:ea typeface="Urbanist"/>
                <a:cs typeface="Urbanist"/>
                <a:sym typeface="Urbanist"/>
              </a:rPr>
              <a:t> du </a:t>
            </a:r>
            <a:r>
              <a:rPr lang="en-US" sz="1425" b="1" i="0" u="none" strike="noStrike" cap="none" dirty="0" err="1">
                <a:solidFill>
                  <a:srgbClr val="FFFFFF"/>
                </a:solidFill>
                <a:latin typeface="Urbanist"/>
                <a:ea typeface="Urbanist"/>
                <a:cs typeface="Urbanist"/>
                <a:sym typeface="Urbanist"/>
              </a:rPr>
              <a:t>Langage</a:t>
            </a:r>
            <a:r>
              <a:rPr lang="en-US" sz="1425" b="0" i="0" u="none" strike="noStrike" cap="none" dirty="0">
                <a:solidFill>
                  <a:srgbClr val="C9D1D9"/>
                </a:solidFill>
                <a:latin typeface="Urbanist"/>
                <a:ea typeface="Urbanist"/>
                <a:cs typeface="Urbanist"/>
                <a:sym typeface="Urbanist"/>
              </a:rPr>
              <a:t> Bien </a:t>
            </a:r>
            <a:r>
              <a:rPr lang="en-US" sz="1425" b="0" i="0" u="none" strike="noStrike" cap="none" dirty="0" err="1">
                <a:solidFill>
                  <a:srgbClr val="C9D1D9"/>
                </a:solidFill>
                <a:latin typeface="Urbanist"/>
                <a:ea typeface="Urbanist"/>
                <a:cs typeface="Urbanist"/>
                <a:sym typeface="Urbanist"/>
              </a:rPr>
              <a:t>que</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souvent</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écrits</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en</a:t>
            </a:r>
            <a:r>
              <a:rPr lang="en-US" sz="1425" b="0" i="0" u="none" strike="noStrike" cap="none" dirty="0">
                <a:solidFill>
                  <a:srgbClr val="C9D1D9"/>
                </a:solidFill>
                <a:latin typeface="Urbanist"/>
                <a:ea typeface="Urbanist"/>
                <a:cs typeface="Urbanist"/>
                <a:sym typeface="Urbanist"/>
              </a:rPr>
              <a:t> scripts Bash, les hooks </a:t>
            </a:r>
            <a:r>
              <a:rPr lang="en-US" sz="1425" b="0" i="0" u="none" strike="noStrike" cap="none" dirty="0" err="1">
                <a:solidFill>
                  <a:srgbClr val="C9D1D9"/>
                </a:solidFill>
                <a:latin typeface="Urbanist"/>
                <a:ea typeface="Urbanist"/>
                <a:cs typeface="Urbanist"/>
                <a:sym typeface="Urbanist"/>
              </a:rPr>
              <a:t>peuvent</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être</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codés</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en</a:t>
            </a:r>
            <a:r>
              <a:rPr lang="en-US" sz="1425" b="0" i="0" u="none" strike="noStrike" cap="none" dirty="0">
                <a:solidFill>
                  <a:srgbClr val="C9D1D9"/>
                </a:solidFill>
                <a:latin typeface="Urbanist"/>
                <a:ea typeface="Urbanist"/>
                <a:cs typeface="Urbanist"/>
                <a:sym typeface="Urbanist"/>
              </a:rPr>
              <a:t> Python, Ruby, Node.js </a:t>
            </a:r>
            <a:r>
              <a:rPr lang="en-US" sz="1425" b="0" i="0" u="none" strike="noStrike" cap="none" dirty="0" err="1">
                <a:solidFill>
                  <a:srgbClr val="C9D1D9"/>
                </a:solidFill>
                <a:latin typeface="Urbanist"/>
                <a:ea typeface="Urbanist"/>
                <a:cs typeface="Urbanist"/>
                <a:sym typeface="Urbanist"/>
              </a:rPr>
              <a:t>ou</a:t>
            </a:r>
            <a:r>
              <a:rPr lang="en-US" sz="1425" b="0" i="0" u="none" strike="noStrike" cap="none" dirty="0">
                <a:solidFill>
                  <a:srgbClr val="C9D1D9"/>
                </a:solidFill>
                <a:latin typeface="Urbanist"/>
                <a:ea typeface="Urbanist"/>
                <a:cs typeface="Urbanist"/>
                <a:sym typeface="Urbanist"/>
              </a:rPr>
              <a:t> tout </a:t>
            </a:r>
            <a:r>
              <a:rPr lang="en-US" sz="1425" b="0" i="0" u="none" strike="noStrike" cap="none" dirty="0" err="1">
                <a:solidFill>
                  <a:srgbClr val="C9D1D9"/>
                </a:solidFill>
                <a:latin typeface="Urbanist"/>
                <a:ea typeface="Urbanist"/>
                <a:cs typeface="Urbanist"/>
                <a:sym typeface="Urbanist"/>
              </a:rPr>
              <a:t>autre</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langage</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exécutable</a:t>
            </a:r>
            <a:r>
              <a:rPr lang="en-US" sz="1425" b="0" i="0" u="none" strike="noStrike" cap="none" dirty="0">
                <a:solidFill>
                  <a:srgbClr val="C9D1D9"/>
                </a:solidFill>
                <a:latin typeface="Urbanist"/>
                <a:ea typeface="Urbanist"/>
                <a:cs typeface="Urbanist"/>
                <a:sym typeface="Urbanist"/>
              </a:rPr>
              <a:t> par </a:t>
            </a:r>
            <a:r>
              <a:rPr lang="en-US" sz="1425" b="0" i="0" u="none" strike="noStrike" cap="none" dirty="0" err="1">
                <a:solidFill>
                  <a:srgbClr val="C9D1D9"/>
                </a:solidFill>
                <a:latin typeface="Urbanist"/>
                <a:ea typeface="Urbanist"/>
                <a:cs typeface="Urbanist"/>
                <a:sym typeface="Urbanist"/>
              </a:rPr>
              <a:t>votre</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système</a:t>
            </a:r>
            <a:r>
              <a:rPr lang="en-US" sz="1425" b="0" i="0" u="none" strike="noStrike" cap="none" dirty="0">
                <a:solidFill>
                  <a:srgbClr val="C9D1D9"/>
                </a:solidFill>
                <a:latin typeface="Urbanist"/>
                <a:ea typeface="Urbanist"/>
                <a:cs typeface="Urbanist"/>
                <a:sym typeface="Urbanist"/>
              </a:rPr>
              <a:t> (Ne vous </a:t>
            </a:r>
            <a:r>
              <a:rPr lang="en-US" sz="1425" b="0" i="0" u="none" strike="noStrike" cap="none" dirty="0" err="1">
                <a:solidFill>
                  <a:srgbClr val="C9D1D9"/>
                </a:solidFill>
                <a:latin typeface="Urbanist"/>
                <a:ea typeface="Urbanist"/>
                <a:cs typeface="Urbanist"/>
                <a:sym typeface="Urbanist"/>
              </a:rPr>
              <a:t>limitez</a:t>
            </a:r>
            <a:r>
              <a:rPr lang="en-US" sz="1425" b="0" i="0" u="none" strike="noStrike" cap="none" dirty="0">
                <a:solidFill>
                  <a:srgbClr val="C9D1D9"/>
                </a:solidFill>
                <a:latin typeface="Urbanist"/>
                <a:ea typeface="Urbanist"/>
                <a:cs typeface="Urbanist"/>
                <a:sym typeface="Urbanist"/>
              </a:rPr>
              <a:t> pas à java </a:t>
            </a:r>
            <a:r>
              <a:rPr lang="en-US" sz="1425" b="0" i="0" u="none" strike="noStrike" cap="none" dirty="0">
                <a:solidFill>
                  <a:srgbClr val="C9D1D9"/>
                </a:solidFill>
                <a:latin typeface="Urbanist"/>
                <a:ea typeface="Urbanist"/>
                <a:cs typeface="Urbanist"/>
                <a:sym typeface="Wingdings" panose="05000000000000000000" pitchFamily="2" charset="2"/>
              </a:rPr>
              <a:t>)</a:t>
            </a:r>
            <a:r>
              <a:rPr lang="en-US" sz="1425" b="0" i="0" u="none" strike="noStrike" cap="none" dirty="0">
                <a:solidFill>
                  <a:srgbClr val="C9D1D9"/>
                </a:solidFill>
                <a:latin typeface="Urbanist"/>
                <a:ea typeface="Urbanist"/>
                <a:cs typeface="Urbanist"/>
                <a:sym typeface="Urbanist"/>
              </a:rPr>
              <a:t>.</a:t>
            </a:r>
            <a:endParaRPr dirty="0"/>
          </a:p>
        </p:txBody>
      </p:sp>
      <p:sp>
        <p:nvSpPr>
          <p:cNvPr id="170" name="Google Shape;170;p19"/>
          <p:cNvSpPr/>
          <p:nvPr/>
        </p:nvSpPr>
        <p:spPr>
          <a:xfrm>
            <a:off x="571500" y="4107170"/>
            <a:ext cx="11049000" cy="2264866"/>
          </a:xfrm>
          <a:prstGeom prst="roundRect">
            <a:avLst>
              <a:gd name="adj" fmla="val 5046"/>
            </a:avLst>
          </a:prstGeom>
          <a:solidFill>
            <a:srgbClr val="161B22"/>
          </a:solidFill>
          <a:ln w="9525" cap="flat" cmpd="sng">
            <a:solidFill>
              <a:srgbClr val="30363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1" name="Google Shape;171;p19"/>
          <p:cNvSpPr txBox="1"/>
          <p:nvPr/>
        </p:nvSpPr>
        <p:spPr>
          <a:xfrm>
            <a:off x="1428750" y="4345295"/>
            <a:ext cx="9906000" cy="1788616"/>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1" i="0" u="none" strike="noStrike" cap="none" dirty="0">
                <a:solidFill>
                  <a:srgbClr val="FFFFFF"/>
                </a:solidFill>
                <a:latin typeface="Urbanist"/>
                <a:ea typeface="Urbanist"/>
                <a:cs typeface="Urbanist"/>
                <a:sym typeface="Urbanist"/>
              </a:rPr>
              <a:t>Permissions </a:t>
            </a:r>
            <a:r>
              <a:rPr lang="en-US" sz="1425" b="1" i="0" u="none" strike="noStrike" cap="none" dirty="0" err="1">
                <a:solidFill>
                  <a:srgbClr val="FFFFFF"/>
                </a:solidFill>
                <a:latin typeface="Urbanist"/>
                <a:ea typeface="Urbanist"/>
                <a:cs typeface="Urbanist"/>
                <a:sym typeface="Urbanist"/>
              </a:rPr>
              <a:t>d'Exécution</a:t>
            </a:r>
            <a:r>
              <a:rPr lang="en-US" sz="1425" b="0" i="0" u="none" strike="noStrike" cap="none" dirty="0">
                <a:solidFill>
                  <a:srgbClr val="C9D1D9"/>
                </a:solidFill>
                <a:latin typeface="Urbanist"/>
                <a:ea typeface="Urbanist"/>
                <a:cs typeface="Urbanist"/>
                <a:sym typeface="Urbanist"/>
              </a:rPr>
              <a:t> Pour </a:t>
            </a:r>
            <a:r>
              <a:rPr lang="en-US" sz="1425" b="0" i="0" u="none" strike="noStrike" cap="none" dirty="0" err="1">
                <a:solidFill>
                  <a:srgbClr val="C9D1D9"/>
                </a:solidFill>
                <a:latin typeface="Urbanist"/>
                <a:ea typeface="Urbanist"/>
                <a:cs typeface="Urbanist"/>
                <a:sym typeface="Urbanist"/>
              </a:rPr>
              <a:t>qu'un</a:t>
            </a:r>
            <a:r>
              <a:rPr lang="en-US" sz="1425" b="0" i="0" u="none" strike="noStrike" cap="none" dirty="0">
                <a:solidFill>
                  <a:srgbClr val="C9D1D9"/>
                </a:solidFill>
                <a:latin typeface="Urbanist"/>
                <a:ea typeface="Urbanist"/>
                <a:cs typeface="Urbanist"/>
                <a:sym typeface="Urbanist"/>
              </a:rPr>
              <a:t> hook </a:t>
            </a:r>
            <a:r>
              <a:rPr lang="en-US" sz="1425" b="0" i="0" u="none" strike="noStrike" cap="none" dirty="0" err="1">
                <a:solidFill>
                  <a:srgbClr val="C9D1D9"/>
                </a:solidFill>
                <a:latin typeface="Urbanist"/>
                <a:ea typeface="Urbanist"/>
                <a:cs typeface="Urbanist"/>
                <a:sym typeface="Urbanist"/>
              </a:rPr>
              <a:t>soit</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actif</a:t>
            </a:r>
            <a:r>
              <a:rPr lang="en-US" sz="1425" b="0" i="0" u="none" strike="noStrike" cap="none" dirty="0">
                <a:solidFill>
                  <a:srgbClr val="C9D1D9"/>
                </a:solidFill>
                <a:latin typeface="Urbanist"/>
                <a:ea typeface="Urbanist"/>
                <a:cs typeface="Urbanist"/>
                <a:sym typeface="Urbanist"/>
              </a:rPr>
              <a:t>, il doit </a:t>
            </a:r>
            <a:r>
              <a:rPr lang="en-US" sz="1425" b="0" i="0" u="none" strike="noStrike" cap="none" dirty="0" err="1">
                <a:solidFill>
                  <a:srgbClr val="C9D1D9"/>
                </a:solidFill>
                <a:latin typeface="Urbanist"/>
                <a:ea typeface="Urbanist"/>
                <a:cs typeface="Urbanist"/>
                <a:sym typeface="Urbanist"/>
              </a:rPr>
              <a:t>perdre</a:t>
            </a:r>
            <a:r>
              <a:rPr lang="en-US" sz="1425" b="0" i="0" u="none" strike="noStrike" cap="none" dirty="0">
                <a:solidFill>
                  <a:srgbClr val="C9D1D9"/>
                </a:solidFill>
                <a:latin typeface="Urbanist"/>
                <a:ea typeface="Urbanist"/>
                <a:cs typeface="Urbanist"/>
                <a:sym typeface="Urbanist"/>
              </a:rPr>
              <a:t> son extension et </a:t>
            </a:r>
            <a:r>
              <a:rPr lang="en-US" sz="1425" b="0" i="0" u="none" strike="noStrike" cap="none" dirty="0" err="1">
                <a:solidFill>
                  <a:srgbClr val="C9D1D9"/>
                </a:solidFill>
                <a:latin typeface="Urbanist"/>
                <a:ea typeface="Urbanist"/>
                <a:cs typeface="Urbanist"/>
                <a:sym typeface="Urbanist"/>
              </a:rPr>
              <a:t>obtenir</a:t>
            </a:r>
            <a:r>
              <a:rPr lang="en-US" sz="1425" b="0" i="0" u="none" strike="noStrike" cap="none" dirty="0">
                <a:solidFill>
                  <a:srgbClr val="C9D1D9"/>
                </a:solidFill>
                <a:latin typeface="Urbanist"/>
                <a:ea typeface="Urbanist"/>
                <a:cs typeface="Urbanist"/>
                <a:sym typeface="Urbanist"/>
              </a:rPr>
              <a:t> les droits </a:t>
            </a:r>
            <a:r>
              <a:rPr lang="en-US" sz="1425" b="0" i="0" u="none" strike="noStrike" cap="none" dirty="0" err="1">
                <a:solidFill>
                  <a:srgbClr val="C9D1D9"/>
                </a:solidFill>
                <a:latin typeface="Urbanist"/>
                <a:ea typeface="Urbanist"/>
                <a:cs typeface="Urbanist"/>
                <a:sym typeface="Urbanist"/>
              </a:rPr>
              <a:t>d'exécution</a:t>
            </a:r>
            <a:r>
              <a:rPr lang="en-US" sz="1425" b="0" i="0" u="none" strike="noStrike" cap="none" dirty="0">
                <a:solidFill>
                  <a:srgbClr val="C9D1D9"/>
                </a:solidFill>
                <a:latin typeface="Urbanist"/>
                <a:ea typeface="Urbanist"/>
                <a:cs typeface="Urbanist"/>
                <a:sym typeface="Urbanist"/>
              </a:rPr>
              <a:t> au </a:t>
            </a:r>
            <a:r>
              <a:rPr lang="en-US" sz="1425" b="0" i="0" u="none" strike="noStrike" cap="none" dirty="0" err="1">
                <a:solidFill>
                  <a:srgbClr val="C9D1D9"/>
                </a:solidFill>
                <a:latin typeface="Urbanist"/>
                <a:ea typeface="Urbanist"/>
                <a:cs typeface="Urbanist"/>
                <a:sym typeface="Urbanist"/>
              </a:rPr>
              <a:t>niveau</a:t>
            </a:r>
            <a:r>
              <a:rPr lang="en-US" sz="1425" b="0" i="0" u="none" strike="noStrike" cap="none" dirty="0">
                <a:solidFill>
                  <a:srgbClr val="C9D1D9"/>
                </a:solidFill>
                <a:latin typeface="Urbanist"/>
                <a:ea typeface="Urbanist"/>
                <a:cs typeface="Urbanist"/>
                <a:sym typeface="Urbanist"/>
              </a:rPr>
              <a:t> du </a:t>
            </a:r>
            <a:r>
              <a:rPr lang="en-US" sz="1425" b="0" i="0" u="none" strike="noStrike" cap="none" dirty="0" err="1">
                <a:solidFill>
                  <a:srgbClr val="C9D1D9"/>
                </a:solidFill>
                <a:latin typeface="Urbanist"/>
                <a:ea typeface="Urbanist"/>
                <a:cs typeface="Urbanist"/>
                <a:sym typeface="Urbanist"/>
              </a:rPr>
              <a:t>système</a:t>
            </a:r>
            <a:r>
              <a:rPr lang="en-US" sz="1425" b="0" i="0" u="none" strike="noStrike" cap="none" dirty="0">
                <a:solidFill>
                  <a:srgbClr val="C9D1D9"/>
                </a:solidFill>
                <a:latin typeface="Urbanist"/>
                <a:ea typeface="Urbanist"/>
                <a:cs typeface="Urbanist"/>
                <a:sym typeface="Urbanist"/>
              </a:rPr>
              <a:t> de </a:t>
            </a:r>
            <a:r>
              <a:rPr lang="en-US" sz="1425" b="0" i="0" u="none" strike="noStrike" cap="none" dirty="0" err="1">
                <a:solidFill>
                  <a:srgbClr val="C9D1D9"/>
                </a:solidFill>
                <a:latin typeface="Urbanist"/>
                <a:ea typeface="Urbanist"/>
                <a:cs typeface="Urbanist"/>
                <a:sym typeface="Urbanist"/>
              </a:rPr>
              <a:t>fichiers</a:t>
            </a:r>
            <a:r>
              <a:rPr lang="en-US" sz="1425" b="0" i="0" u="none" strike="noStrike" cap="none" dirty="0">
                <a:solidFill>
                  <a:srgbClr val="C9D1D9"/>
                </a:solidFill>
                <a:latin typeface="Urbanist"/>
                <a:ea typeface="Urbanist"/>
                <a:cs typeface="Urbanist"/>
                <a:sym typeface="Urbanist"/>
              </a:rPr>
              <a:t> (ex: ).</a:t>
            </a:r>
            <a:endParaRPr dirty="0"/>
          </a:p>
        </p:txBody>
      </p:sp>
      <p:sp>
        <p:nvSpPr>
          <p:cNvPr id="174" name="Google Shape;174;p19"/>
          <p:cNvSpPr/>
          <p:nvPr/>
        </p:nvSpPr>
        <p:spPr>
          <a:xfrm>
            <a:off x="571500" y="1949648"/>
            <a:ext cx="11049000" cy="9525"/>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75" name="Google Shape;175;p19" descr="image.png"/>
          <p:cNvPicPr preferRelativeResize="0"/>
          <p:nvPr/>
        </p:nvPicPr>
        <p:blipFill rotWithShape="1">
          <a:blip r:embed="rId4">
            <a:alphaModFix/>
          </a:blip>
          <a:srcRect/>
          <a:stretch/>
        </p:blipFill>
        <p:spPr>
          <a:xfrm>
            <a:off x="1428750" y="1164317"/>
            <a:ext cx="9886950" cy="282326"/>
          </a:xfrm>
          <a:prstGeom prst="rect">
            <a:avLst/>
          </a:prstGeom>
          <a:noFill/>
          <a:ln>
            <a:noFill/>
          </a:ln>
        </p:spPr>
      </p:pic>
      <p:pic>
        <p:nvPicPr>
          <p:cNvPr id="176" name="Google Shape;176;p19" descr="image.png"/>
          <p:cNvPicPr preferRelativeResize="0"/>
          <p:nvPr/>
        </p:nvPicPr>
        <p:blipFill rotWithShape="1">
          <a:blip r:embed="rId5">
            <a:alphaModFix/>
          </a:blip>
          <a:srcRect/>
          <a:stretch/>
        </p:blipFill>
        <p:spPr>
          <a:xfrm>
            <a:off x="1438275" y="1673905"/>
            <a:ext cx="9886950" cy="282326"/>
          </a:xfrm>
          <a:prstGeom prst="rect">
            <a:avLst/>
          </a:prstGeom>
          <a:noFill/>
          <a:ln>
            <a:noFill/>
          </a:ln>
        </p:spPr>
      </p:pic>
      <p:sp>
        <p:nvSpPr>
          <p:cNvPr id="177" name="Google Shape;177;p19"/>
          <p:cNvSpPr/>
          <p:nvPr/>
        </p:nvSpPr>
        <p:spPr>
          <a:xfrm>
            <a:off x="571500" y="3568898"/>
            <a:ext cx="11049000" cy="9525"/>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8" name="Google Shape;178;p19"/>
          <p:cNvSpPr/>
          <p:nvPr/>
        </p:nvSpPr>
        <p:spPr>
          <a:xfrm>
            <a:off x="571500" y="6024264"/>
            <a:ext cx="11049000" cy="9525"/>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79" name="Google Shape;179;p19" descr="image.png"/>
          <p:cNvPicPr preferRelativeResize="0"/>
          <p:nvPr/>
        </p:nvPicPr>
        <p:blipFill rotWithShape="1">
          <a:blip r:embed="rId6">
            <a:alphaModFix/>
          </a:blip>
          <a:srcRect/>
          <a:stretch/>
        </p:blipFill>
        <p:spPr>
          <a:xfrm>
            <a:off x="1438275" y="5016807"/>
            <a:ext cx="9886950" cy="282326"/>
          </a:xfrm>
          <a:prstGeom prst="rect">
            <a:avLst/>
          </a:prstGeom>
          <a:noFill/>
          <a:ln>
            <a:noFill/>
          </a:ln>
        </p:spPr>
      </p:pic>
      <p:pic>
        <p:nvPicPr>
          <p:cNvPr id="180" name="Google Shape;180;p19" descr="image.png"/>
          <p:cNvPicPr preferRelativeResize="0"/>
          <p:nvPr/>
        </p:nvPicPr>
        <p:blipFill rotWithShape="1">
          <a:blip r:embed="rId7">
            <a:alphaModFix/>
          </a:blip>
          <a:srcRect/>
          <a:stretch/>
        </p:blipFill>
        <p:spPr>
          <a:xfrm>
            <a:off x="1438275" y="5570597"/>
            <a:ext cx="9886950" cy="282326"/>
          </a:xfrm>
          <a:prstGeom prst="rect">
            <a:avLst/>
          </a:prstGeom>
          <a:noFill/>
          <a:ln>
            <a:noFill/>
          </a:ln>
        </p:spPr>
      </p:pic>
      <p:sp>
        <p:nvSpPr>
          <p:cNvPr id="181" name="Google Shape;181;p19"/>
          <p:cNvSpPr/>
          <p:nvPr/>
        </p:nvSpPr>
        <p:spPr>
          <a:xfrm>
            <a:off x="571500" y="7925841"/>
            <a:ext cx="11049000" cy="9525"/>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2" name="Google Shape;182;p19" descr="image.png"/>
          <p:cNvPicPr preferRelativeResize="0"/>
          <p:nvPr/>
        </p:nvPicPr>
        <p:blipFill rotWithShape="1">
          <a:blip r:embed="rId8">
            <a:alphaModFix/>
          </a:blip>
          <a:srcRect/>
          <a:stretch/>
        </p:blipFill>
        <p:spPr>
          <a:xfrm>
            <a:off x="1438275" y="7133927"/>
            <a:ext cx="9886950" cy="282326"/>
          </a:xfrm>
          <a:prstGeom prst="rect">
            <a:avLst/>
          </a:prstGeom>
          <a:noFill/>
          <a:ln>
            <a:noFill/>
          </a:ln>
        </p:spPr>
      </p:pic>
      <p:pic>
        <p:nvPicPr>
          <p:cNvPr id="183" name="Google Shape;183;p19" descr="image.png"/>
          <p:cNvPicPr preferRelativeResize="0"/>
          <p:nvPr/>
        </p:nvPicPr>
        <p:blipFill rotWithShape="1">
          <a:blip r:embed="rId9">
            <a:alphaModFix/>
          </a:blip>
          <a:srcRect/>
          <a:stretch/>
        </p:blipFill>
        <p:spPr>
          <a:xfrm>
            <a:off x="871257" y="1420079"/>
            <a:ext cx="371475" cy="342900"/>
          </a:xfrm>
          <a:prstGeom prst="rect">
            <a:avLst/>
          </a:prstGeom>
          <a:noFill/>
          <a:ln>
            <a:noFill/>
          </a:ln>
        </p:spPr>
      </p:pic>
      <p:pic>
        <p:nvPicPr>
          <p:cNvPr id="184" name="Google Shape;184;p19" descr="image.png"/>
          <p:cNvPicPr preferRelativeResize="0"/>
          <p:nvPr/>
        </p:nvPicPr>
        <p:blipFill rotWithShape="1">
          <a:blip r:embed="rId10">
            <a:alphaModFix/>
          </a:blip>
          <a:srcRect/>
          <a:stretch/>
        </p:blipFill>
        <p:spPr>
          <a:xfrm>
            <a:off x="866775" y="3030845"/>
            <a:ext cx="295275" cy="342900"/>
          </a:xfrm>
          <a:prstGeom prst="rect">
            <a:avLst/>
          </a:prstGeom>
          <a:noFill/>
          <a:ln>
            <a:noFill/>
          </a:ln>
        </p:spPr>
      </p:pic>
      <p:pic>
        <p:nvPicPr>
          <p:cNvPr id="185" name="Google Shape;185;p19" descr="image.png"/>
          <p:cNvPicPr preferRelativeResize="0"/>
          <p:nvPr/>
        </p:nvPicPr>
        <p:blipFill rotWithShape="1">
          <a:blip r:embed="rId11">
            <a:alphaModFix/>
          </a:blip>
          <a:srcRect/>
          <a:stretch/>
        </p:blipFill>
        <p:spPr>
          <a:xfrm>
            <a:off x="866775" y="5068153"/>
            <a:ext cx="295275" cy="342900"/>
          </a:xfrm>
          <a:prstGeom prst="rect">
            <a:avLst/>
          </a:prstGeom>
          <a:noFill/>
          <a:ln>
            <a:noFill/>
          </a:ln>
        </p:spPr>
      </p:pic>
      <p:sp>
        <p:nvSpPr>
          <p:cNvPr id="187" name="Google Shape;187;p19"/>
          <p:cNvSpPr txBox="1"/>
          <p:nvPr/>
        </p:nvSpPr>
        <p:spPr>
          <a:xfrm>
            <a:off x="571500" y="-1267717"/>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solidFill>
                  <a:srgbClr val="FFFFFF"/>
                </a:solidFill>
                <a:latin typeface="Urbanist"/>
                <a:ea typeface="Urbanist"/>
                <a:cs typeface="Urbanist"/>
                <a:sym typeface="Urbanist"/>
              </a:rPr>
              <a:t>Le dossier </a:t>
            </a:r>
            <a:r>
              <a:rPr lang="en-US" sz="3750" b="1" i="0" u="none" strike="noStrike" cap="none">
                <a:solidFill>
                  <a:srgbClr val="DEFF9A"/>
                </a:solidFill>
                <a:latin typeface="Urbanist"/>
                <a:ea typeface="Urbanist"/>
                <a:cs typeface="Urbanist"/>
                <a:sym typeface="Urbanist"/>
              </a:rPr>
              <a:t>.git/hooks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8C1A5181-F4B0-8FED-DA8A-042D697ACFE3}"/>
            </a:ext>
          </a:extLst>
        </p:cNvPr>
        <p:cNvGrpSpPr/>
        <p:nvPr/>
      </p:nvGrpSpPr>
      <p:grpSpPr>
        <a:xfrm>
          <a:off x="0" y="0"/>
          <a:ext cx="0" cy="0"/>
          <a:chOff x="0" y="0"/>
          <a:chExt cx="0" cy="0"/>
        </a:xfrm>
      </p:grpSpPr>
      <p:pic>
        <p:nvPicPr>
          <p:cNvPr id="165" name="Google Shape;165;p19" descr="image.png">
            <a:extLst>
              <a:ext uri="{FF2B5EF4-FFF2-40B4-BE49-F238E27FC236}">
                <a16:creationId xmlns:a16="http://schemas.microsoft.com/office/drawing/2014/main" id="{341DC6B0-CD0D-B2DE-93E5-A6C946940736}"/>
              </a:ext>
            </a:extLst>
          </p:cNvPr>
          <p:cNvPicPr preferRelativeResize="0"/>
          <p:nvPr/>
        </p:nvPicPr>
        <p:blipFill rotWithShape="1">
          <a:blip r:embed="rId3">
            <a:alphaModFix/>
          </a:blip>
          <a:srcRect/>
          <a:stretch/>
        </p:blipFill>
        <p:spPr>
          <a:xfrm>
            <a:off x="-19050" y="0"/>
            <a:ext cx="12192000" cy="6858000"/>
          </a:xfrm>
          <a:prstGeom prst="rect">
            <a:avLst/>
          </a:prstGeom>
          <a:noFill/>
          <a:ln>
            <a:noFill/>
          </a:ln>
        </p:spPr>
      </p:pic>
      <p:sp>
        <p:nvSpPr>
          <p:cNvPr id="172" name="Google Shape;172;p19">
            <a:extLst>
              <a:ext uri="{FF2B5EF4-FFF2-40B4-BE49-F238E27FC236}">
                <a16:creationId xmlns:a16="http://schemas.microsoft.com/office/drawing/2014/main" id="{CABA6388-A229-6598-BC5A-FEAE2217D358}"/>
              </a:ext>
            </a:extLst>
          </p:cNvPr>
          <p:cNvSpPr/>
          <p:nvPr/>
        </p:nvSpPr>
        <p:spPr>
          <a:xfrm>
            <a:off x="436469" y="2265653"/>
            <a:ext cx="11049000" cy="1711076"/>
          </a:xfrm>
          <a:prstGeom prst="roundRect">
            <a:avLst>
              <a:gd name="adj" fmla="val 6680"/>
            </a:avLst>
          </a:prstGeom>
          <a:solidFill>
            <a:srgbClr val="161B22"/>
          </a:solidFill>
          <a:ln w="9525" cap="flat" cmpd="sng">
            <a:solidFill>
              <a:srgbClr val="30363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3" name="Google Shape;173;p19">
            <a:extLst>
              <a:ext uri="{FF2B5EF4-FFF2-40B4-BE49-F238E27FC236}">
                <a16:creationId xmlns:a16="http://schemas.microsoft.com/office/drawing/2014/main" id="{4259D862-EBDF-211F-7DC3-543407A591E5}"/>
              </a:ext>
            </a:extLst>
          </p:cNvPr>
          <p:cNvSpPr txBox="1"/>
          <p:nvPr/>
        </p:nvSpPr>
        <p:spPr>
          <a:xfrm>
            <a:off x="1513355" y="2862156"/>
            <a:ext cx="9906000" cy="395585"/>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1" i="0" u="none" strike="noStrike" cap="none" dirty="0" err="1">
                <a:solidFill>
                  <a:srgbClr val="FFFFFF"/>
                </a:solidFill>
                <a:latin typeface="Urbanist"/>
                <a:ea typeface="Urbanist"/>
                <a:cs typeface="Urbanist"/>
                <a:sym typeface="Urbanist"/>
              </a:rPr>
              <a:t>L'échappatoire</a:t>
            </a:r>
            <a:r>
              <a:rPr lang="en-US" sz="1425" b="1" i="0" u="none" strike="noStrike" cap="none" dirty="0">
                <a:solidFill>
                  <a:srgbClr val="FFFFFF"/>
                </a:solidFill>
                <a:latin typeface="Urbanist"/>
                <a:ea typeface="Urbanist"/>
                <a:cs typeface="Urbanist"/>
                <a:sym typeface="Urbanist"/>
              </a:rPr>
              <a:t> </a:t>
            </a:r>
            <a:r>
              <a:rPr lang="en-US" sz="1425" b="1" i="0" u="none" strike="noStrike" cap="none" dirty="0" err="1">
                <a:solidFill>
                  <a:srgbClr val="FFFFFF"/>
                </a:solidFill>
                <a:latin typeface="Urbanist"/>
                <a:ea typeface="Urbanist"/>
                <a:cs typeface="Urbanist"/>
                <a:sym typeface="Urbanist"/>
              </a:rPr>
              <a:t>d'Urgence</a:t>
            </a:r>
            <a:r>
              <a:rPr lang="en-US" sz="1425" b="0" i="0" u="none" strike="noStrike" cap="none" dirty="0">
                <a:solidFill>
                  <a:srgbClr val="C9D1D9"/>
                </a:solidFill>
                <a:latin typeface="Urbanist"/>
                <a:ea typeface="Urbanist"/>
                <a:cs typeface="Urbanist"/>
                <a:sym typeface="Urbanist"/>
              </a:rPr>
              <a:t> En </a:t>
            </a:r>
            <a:r>
              <a:rPr lang="en-US" sz="1425" b="0" i="0" u="none" strike="noStrike" cap="none" dirty="0" err="1">
                <a:solidFill>
                  <a:srgbClr val="C9D1D9"/>
                </a:solidFill>
                <a:latin typeface="Urbanist"/>
                <a:ea typeface="Urbanist"/>
                <a:cs typeface="Urbanist"/>
                <a:sym typeface="Urbanist"/>
              </a:rPr>
              <a:t>cas</a:t>
            </a:r>
            <a:r>
              <a:rPr lang="en-US" sz="1425" b="0" i="0" u="none" strike="noStrike" cap="none" dirty="0">
                <a:solidFill>
                  <a:srgbClr val="C9D1D9"/>
                </a:solidFill>
                <a:latin typeface="Urbanist"/>
                <a:ea typeface="Urbanist"/>
                <a:cs typeface="Urbanist"/>
                <a:sym typeface="Urbanist"/>
              </a:rPr>
              <a:t> de </a:t>
            </a:r>
            <a:r>
              <a:rPr lang="en-US" sz="1425" b="0" i="0" u="none" strike="noStrike" cap="none" dirty="0" err="1">
                <a:solidFill>
                  <a:srgbClr val="C9D1D9"/>
                </a:solidFill>
                <a:latin typeface="Urbanist"/>
                <a:ea typeface="Urbanist"/>
                <a:cs typeface="Urbanist"/>
                <a:sym typeface="Urbanist"/>
              </a:rPr>
              <a:t>besoin</a:t>
            </a:r>
            <a:r>
              <a:rPr lang="en-US" sz="1425" b="0" i="0" u="none" strike="noStrike" cap="none" dirty="0">
                <a:solidFill>
                  <a:srgbClr val="C9D1D9"/>
                </a:solidFill>
                <a:latin typeface="Urbanist"/>
                <a:ea typeface="Urbanist"/>
                <a:cs typeface="Urbanist"/>
                <a:sym typeface="Urbanist"/>
              </a:rPr>
              <a:t> critique, un </a:t>
            </a:r>
            <a:r>
              <a:rPr lang="en-US" sz="1425" b="0" i="0" u="none" strike="noStrike" cap="none" dirty="0" err="1">
                <a:solidFill>
                  <a:srgbClr val="C9D1D9"/>
                </a:solidFill>
                <a:latin typeface="Urbanist"/>
                <a:ea typeface="Urbanist"/>
                <a:cs typeface="Urbanist"/>
                <a:sym typeface="Urbanist"/>
              </a:rPr>
              <a:t>développeur</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peut</a:t>
            </a:r>
            <a:r>
              <a:rPr lang="en-US" sz="1425" b="0" i="0" u="none" strike="noStrike" cap="none" dirty="0">
                <a:solidFill>
                  <a:srgbClr val="C9D1D9"/>
                </a:solidFill>
                <a:latin typeface="Urbanist"/>
                <a:ea typeface="Urbanist"/>
                <a:cs typeface="Urbanist"/>
                <a:sym typeface="Urbanist"/>
              </a:rPr>
              <a:t> forcer le passage (bypass) d'un hook local </a:t>
            </a:r>
            <a:r>
              <a:rPr lang="en-US" sz="1425" b="0" i="0" u="none" strike="noStrike" cap="none" dirty="0" err="1">
                <a:solidFill>
                  <a:srgbClr val="C9D1D9"/>
                </a:solidFill>
                <a:latin typeface="Urbanist"/>
                <a:ea typeface="Urbanist"/>
                <a:cs typeface="Urbanist"/>
                <a:sym typeface="Urbanist"/>
              </a:rPr>
              <a:t>en</a:t>
            </a:r>
            <a:r>
              <a:rPr lang="en-US" sz="1425" b="0" i="0" u="none" strike="noStrike" cap="none" dirty="0">
                <a:solidFill>
                  <a:srgbClr val="C9D1D9"/>
                </a:solidFill>
                <a:latin typeface="Urbanist"/>
                <a:ea typeface="Urbanist"/>
                <a:cs typeface="Urbanist"/>
                <a:sym typeface="Urbanist"/>
              </a:rPr>
              <a:t> </a:t>
            </a:r>
            <a:r>
              <a:rPr lang="en-US" sz="1425" b="0" i="0" u="none" strike="noStrike" cap="none" dirty="0" err="1">
                <a:solidFill>
                  <a:srgbClr val="C9D1D9"/>
                </a:solidFill>
                <a:latin typeface="Urbanist"/>
                <a:ea typeface="Urbanist"/>
                <a:cs typeface="Urbanist"/>
                <a:sym typeface="Urbanist"/>
              </a:rPr>
              <a:t>utilisant</a:t>
            </a:r>
            <a:r>
              <a:rPr lang="en-US" sz="1425" b="0" i="0" u="none" strike="noStrike" cap="none" dirty="0">
                <a:solidFill>
                  <a:srgbClr val="C9D1D9"/>
                </a:solidFill>
                <a:latin typeface="Urbanist"/>
                <a:ea typeface="Urbanist"/>
                <a:cs typeface="Urbanist"/>
                <a:sym typeface="Urbanist"/>
              </a:rPr>
              <a:t> le flag </a:t>
            </a:r>
            <a:r>
              <a:rPr lang="en-US" sz="1425" b="0" i="0" u="none" strike="noStrike" cap="none" dirty="0" err="1">
                <a:solidFill>
                  <a:srgbClr val="C9D1D9"/>
                </a:solidFill>
                <a:latin typeface="Urbanist"/>
                <a:ea typeface="Urbanist"/>
                <a:cs typeface="Urbanist"/>
                <a:sym typeface="Urbanist"/>
              </a:rPr>
              <a:t>lors</a:t>
            </a:r>
            <a:r>
              <a:rPr lang="en-US" sz="1425" b="0" i="0" u="none" strike="noStrike" cap="none" dirty="0">
                <a:solidFill>
                  <a:srgbClr val="C9D1D9"/>
                </a:solidFill>
                <a:latin typeface="Urbanist"/>
                <a:ea typeface="Urbanist"/>
                <a:cs typeface="Urbanist"/>
                <a:sym typeface="Urbanist"/>
              </a:rPr>
              <a:t> d'un commit.</a:t>
            </a:r>
            <a:endParaRPr dirty="0"/>
          </a:p>
        </p:txBody>
      </p:sp>
      <p:sp>
        <p:nvSpPr>
          <p:cNvPr id="181" name="Google Shape;181;p19">
            <a:extLst>
              <a:ext uri="{FF2B5EF4-FFF2-40B4-BE49-F238E27FC236}">
                <a16:creationId xmlns:a16="http://schemas.microsoft.com/office/drawing/2014/main" id="{FEE944D6-CE57-4036-53EF-80DC7A172B70}"/>
              </a:ext>
            </a:extLst>
          </p:cNvPr>
          <p:cNvSpPr/>
          <p:nvPr/>
        </p:nvSpPr>
        <p:spPr>
          <a:xfrm>
            <a:off x="571500" y="7925841"/>
            <a:ext cx="11049000" cy="9525"/>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2" name="Google Shape;182;p19" descr="image.png">
            <a:extLst>
              <a:ext uri="{FF2B5EF4-FFF2-40B4-BE49-F238E27FC236}">
                <a16:creationId xmlns:a16="http://schemas.microsoft.com/office/drawing/2014/main" id="{3300FD9E-8A12-2EF5-D1D7-36C85CAD6B15}"/>
              </a:ext>
            </a:extLst>
          </p:cNvPr>
          <p:cNvPicPr preferRelativeResize="0"/>
          <p:nvPr/>
        </p:nvPicPr>
        <p:blipFill rotWithShape="1">
          <a:blip r:embed="rId4">
            <a:alphaModFix/>
          </a:blip>
          <a:srcRect/>
          <a:stretch/>
        </p:blipFill>
        <p:spPr>
          <a:xfrm>
            <a:off x="1522880" y="3528683"/>
            <a:ext cx="9886950" cy="282326"/>
          </a:xfrm>
          <a:prstGeom prst="rect">
            <a:avLst/>
          </a:prstGeom>
          <a:noFill/>
          <a:ln>
            <a:noFill/>
          </a:ln>
        </p:spPr>
      </p:pic>
      <p:pic>
        <p:nvPicPr>
          <p:cNvPr id="186" name="Google Shape;186;p19" descr="image.png">
            <a:extLst>
              <a:ext uri="{FF2B5EF4-FFF2-40B4-BE49-F238E27FC236}">
                <a16:creationId xmlns:a16="http://schemas.microsoft.com/office/drawing/2014/main" id="{7AE9C3DD-0712-BD56-72A3-21ECB671C4E7}"/>
              </a:ext>
            </a:extLst>
          </p:cNvPr>
          <p:cNvPicPr preferRelativeResize="0"/>
          <p:nvPr/>
        </p:nvPicPr>
        <p:blipFill rotWithShape="1">
          <a:blip r:embed="rId5">
            <a:alphaModFix/>
          </a:blip>
          <a:srcRect/>
          <a:stretch/>
        </p:blipFill>
        <p:spPr>
          <a:xfrm>
            <a:off x="784412" y="3141022"/>
            <a:ext cx="209550" cy="342900"/>
          </a:xfrm>
          <a:prstGeom prst="rect">
            <a:avLst/>
          </a:prstGeom>
          <a:noFill/>
          <a:ln>
            <a:noFill/>
          </a:ln>
        </p:spPr>
      </p:pic>
      <p:sp>
        <p:nvSpPr>
          <p:cNvPr id="187" name="Google Shape;187;p19">
            <a:extLst>
              <a:ext uri="{FF2B5EF4-FFF2-40B4-BE49-F238E27FC236}">
                <a16:creationId xmlns:a16="http://schemas.microsoft.com/office/drawing/2014/main" id="{8C5B71E6-9BB4-4A96-6874-99ED02CD414A}"/>
              </a:ext>
            </a:extLst>
          </p:cNvPr>
          <p:cNvSpPr txBox="1"/>
          <p:nvPr/>
        </p:nvSpPr>
        <p:spPr>
          <a:xfrm>
            <a:off x="571500" y="-1267717"/>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solidFill>
                  <a:srgbClr val="FFFFFF"/>
                </a:solidFill>
                <a:latin typeface="Urbanist"/>
                <a:ea typeface="Urbanist"/>
                <a:cs typeface="Urbanist"/>
                <a:sym typeface="Urbanist"/>
              </a:rPr>
              <a:t>Le dossier </a:t>
            </a:r>
            <a:r>
              <a:rPr lang="en-US" sz="3750" b="1" i="0" u="none" strike="noStrike" cap="none">
                <a:solidFill>
                  <a:srgbClr val="DEFF9A"/>
                </a:solidFill>
                <a:latin typeface="Urbanist"/>
                <a:ea typeface="Urbanist"/>
                <a:cs typeface="Urbanist"/>
                <a:sym typeface="Urbanist"/>
              </a:rPr>
              <a:t>.git/hooks</a:t>
            </a:r>
            <a:endParaRPr/>
          </a:p>
        </p:txBody>
      </p:sp>
      <p:sp>
        <p:nvSpPr>
          <p:cNvPr id="2" name="Google Shape;152;p17">
            <a:extLst>
              <a:ext uri="{FF2B5EF4-FFF2-40B4-BE49-F238E27FC236}">
                <a16:creationId xmlns:a16="http://schemas.microsoft.com/office/drawing/2014/main" id="{CD2441E2-26DC-5743-064B-7518C0D87F14}"/>
              </a:ext>
            </a:extLst>
          </p:cNvPr>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dirty="0">
                <a:solidFill>
                  <a:srgbClr val="FFFFFF"/>
                </a:solidFill>
                <a:latin typeface="Urbanist"/>
                <a:ea typeface="Urbanist"/>
                <a:cs typeface="Urbanist"/>
                <a:sym typeface="Urbanist"/>
              </a:rPr>
              <a:t>Et </a:t>
            </a:r>
            <a:r>
              <a:rPr lang="en-US" sz="3750" b="1" i="0" u="none" strike="noStrike" cap="none" dirty="0" err="1">
                <a:solidFill>
                  <a:srgbClr val="FFFFFF"/>
                </a:solidFill>
                <a:latin typeface="Urbanist"/>
                <a:ea typeface="Urbanist"/>
                <a:cs typeface="Urbanist"/>
                <a:sym typeface="Urbanist"/>
              </a:rPr>
              <a:t>si</a:t>
            </a:r>
            <a:r>
              <a:rPr lang="en-US" sz="3750" b="1" i="0" u="none" strike="noStrike" cap="none" dirty="0">
                <a:solidFill>
                  <a:srgbClr val="FFFFFF"/>
                </a:solidFill>
                <a:latin typeface="Urbanist"/>
                <a:ea typeface="Urbanist"/>
                <a:cs typeface="Urbanist"/>
                <a:sym typeface="Urbanist"/>
              </a:rPr>
              <a:t> </a:t>
            </a:r>
            <a:r>
              <a:rPr lang="en-US" sz="3750" b="1" i="0" u="none" strike="noStrike" cap="none" dirty="0" err="1">
                <a:solidFill>
                  <a:srgbClr val="FFFFFF"/>
                </a:solidFill>
                <a:latin typeface="Urbanist"/>
                <a:ea typeface="Urbanist"/>
                <a:cs typeface="Urbanist"/>
                <a:sym typeface="Urbanist"/>
              </a:rPr>
              <a:t>Besoin</a:t>
            </a:r>
            <a:r>
              <a:rPr lang="en-US" sz="3750" b="1" i="0" u="none" strike="noStrike" cap="none" dirty="0">
                <a:solidFill>
                  <a:srgbClr val="FFFFFF"/>
                </a:solidFill>
                <a:latin typeface="Urbanist"/>
                <a:ea typeface="Urbanist"/>
                <a:cs typeface="Urbanist"/>
                <a:sym typeface="Urbanist"/>
              </a:rPr>
              <a:t> (</a:t>
            </a:r>
            <a:r>
              <a:rPr lang="en-US" sz="3750" b="1" i="0" u="none" strike="noStrike" cap="none" dirty="0" err="1">
                <a:solidFill>
                  <a:srgbClr val="FFFFFF"/>
                </a:solidFill>
                <a:latin typeface="Urbanist"/>
                <a:ea typeface="Urbanist"/>
                <a:cs typeface="Urbanist"/>
                <a:sym typeface="Urbanist"/>
              </a:rPr>
              <a:t>vraiment</a:t>
            </a:r>
            <a:r>
              <a:rPr lang="en-US" sz="3750" b="1" i="0" u="none" strike="noStrike" cap="none" dirty="0">
                <a:solidFill>
                  <a:srgbClr val="FFFFFF"/>
                </a:solidFill>
                <a:latin typeface="Urbanist"/>
                <a:ea typeface="Urbanist"/>
                <a:cs typeface="Urbanist"/>
                <a:sym typeface="Urbanist"/>
              </a:rPr>
              <a:t> </a:t>
            </a:r>
            <a:r>
              <a:rPr lang="en-US" sz="3750" b="1" i="0" u="none" strike="noStrike" cap="none" dirty="0" err="1">
                <a:solidFill>
                  <a:srgbClr val="FFFFFF"/>
                </a:solidFill>
                <a:latin typeface="Urbanist"/>
                <a:ea typeface="Urbanist"/>
                <a:cs typeface="Urbanist"/>
                <a:sym typeface="Urbanist"/>
              </a:rPr>
              <a:t>que</a:t>
            </a:r>
            <a:r>
              <a:rPr lang="en-US" sz="3750" b="1" i="0" u="none" strike="noStrike" cap="none" dirty="0">
                <a:solidFill>
                  <a:srgbClr val="FFFFFF"/>
                </a:solidFill>
                <a:latin typeface="Urbanist"/>
                <a:ea typeface="Urbanist"/>
                <a:cs typeface="Urbanist"/>
                <a:sym typeface="Urbanist"/>
              </a:rPr>
              <a:t> </a:t>
            </a:r>
            <a:r>
              <a:rPr lang="en-US" sz="3750" b="1" i="0" u="none" strike="noStrike" cap="none" dirty="0" err="1">
                <a:solidFill>
                  <a:srgbClr val="FFFFFF"/>
                </a:solidFill>
                <a:latin typeface="Urbanist"/>
                <a:ea typeface="Urbanist"/>
                <a:cs typeface="Urbanist"/>
                <a:sym typeface="Urbanist"/>
              </a:rPr>
              <a:t>si</a:t>
            </a:r>
            <a:r>
              <a:rPr lang="en-US" sz="3750" b="1" i="0" u="none" strike="noStrike" cap="none" dirty="0">
                <a:solidFill>
                  <a:srgbClr val="FFFFFF"/>
                </a:solidFill>
                <a:latin typeface="Urbanist"/>
                <a:ea typeface="Urbanist"/>
                <a:cs typeface="Urbanist"/>
                <a:sym typeface="Urbanist"/>
              </a:rPr>
              <a:t> </a:t>
            </a:r>
            <a:r>
              <a:rPr lang="en-US" sz="3750" b="1" i="0" u="none" strike="noStrike" cap="none" dirty="0" err="1">
                <a:solidFill>
                  <a:srgbClr val="FFFFFF"/>
                </a:solidFill>
                <a:latin typeface="Urbanist"/>
                <a:ea typeface="Urbanist"/>
                <a:cs typeface="Urbanist"/>
                <a:sym typeface="Urbanist"/>
              </a:rPr>
              <a:t>besoin</a:t>
            </a:r>
            <a:r>
              <a:rPr lang="en-US" sz="3750" b="1" i="0" u="none" strike="noStrike" cap="none" dirty="0">
                <a:solidFill>
                  <a:srgbClr val="FFFFFF"/>
                </a:solidFill>
                <a:latin typeface="Urbanist"/>
                <a:ea typeface="Urbanist"/>
                <a:cs typeface="Urbanist"/>
                <a:sym typeface="Urbanist"/>
              </a:rPr>
              <a:t> !)</a:t>
            </a:r>
            <a:endParaRPr dirty="0"/>
          </a:p>
        </p:txBody>
      </p:sp>
    </p:spTree>
    <p:extLst>
      <p:ext uri="{BB962C8B-B14F-4D97-AF65-F5344CB8AC3E}">
        <p14:creationId xmlns:p14="http://schemas.microsoft.com/office/powerpoint/2010/main" val="908007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91"/>
        <p:cNvGrpSpPr/>
        <p:nvPr/>
      </p:nvGrpSpPr>
      <p:grpSpPr>
        <a:xfrm>
          <a:off x="0" y="0"/>
          <a:ext cx="0" cy="0"/>
          <a:chOff x="0" y="0"/>
          <a:chExt cx="0" cy="0"/>
        </a:xfrm>
      </p:grpSpPr>
      <p:pic>
        <p:nvPicPr>
          <p:cNvPr id="192" name="Google Shape;192;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3" name="Google Shape;193;p20" descr="image.png"/>
          <p:cNvPicPr preferRelativeResize="0"/>
          <p:nvPr/>
        </p:nvPicPr>
        <p:blipFill rotWithShape="1">
          <a:blip r:embed="rId4">
            <a:alphaModFix/>
          </a:blip>
          <a:srcRect/>
          <a:stretch/>
        </p:blipFill>
        <p:spPr>
          <a:xfrm>
            <a:off x="571500" y="1785937"/>
            <a:ext cx="3492549" cy="4248150"/>
          </a:xfrm>
          <a:prstGeom prst="rect">
            <a:avLst/>
          </a:prstGeom>
          <a:noFill/>
          <a:ln>
            <a:noFill/>
          </a:ln>
        </p:spPr>
      </p:pic>
      <p:pic>
        <p:nvPicPr>
          <p:cNvPr id="194" name="Google Shape;194;p20" descr="image.png"/>
          <p:cNvPicPr preferRelativeResize="0"/>
          <p:nvPr/>
        </p:nvPicPr>
        <p:blipFill rotWithShape="1">
          <a:blip r:embed="rId5">
            <a:alphaModFix/>
          </a:blip>
          <a:srcRect/>
          <a:stretch/>
        </p:blipFill>
        <p:spPr>
          <a:xfrm>
            <a:off x="4349799" y="1785937"/>
            <a:ext cx="3492549" cy="4248150"/>
          </a:xfrm>
          <a:prstGeom prst="rect">
            <a:avLst/>
          </a:prstGeom>
          <a:noFill/>
          <a:ln>
            <a:noFill/>
          </a:ln>
        </p:spPr>
      </p:pic>
      <p:pic>
        <p:nvPicPr>
          <p:cNvPr id="195" name="Google Shape;195;p20" descr="image.png"/>
          <p:cNvPicPr preferRelativeResize="0"/>
          <p:nvPr/>
        </p:nvPicPr>
        <p:blipFill rotWithShape="1">
          <a:blip r:embed="rId6">
            <a:alphaModFix/>
          </a:blip>
          <a:srcRect/>
          <a:stretch/>
        </p:blipFill>
        <p:spPr>
          <a:xfrm>
            <a:off x="8128099" y="1785937"/>
            <a:ext cx="3492549" cy="4248150"/>
          </a:xfrm>
          <a:prstGeom prst="rect">
            <a:avLst/>
          </a:prstGeom>
          <a:noFill/>
          <a:ln>
            <a:noFill/>
          </a:ln>
        </p:spPr>
      </p:pic>
      <p:sp>
        <p:nvSpPr>
          <p:cNvPr id="196" name="Google Shape;196;p20"/>
          <p:cNvSpPr txBox="1"/>
          <p:nvPr/>
        </p:nvSpPr>
        <p:spPr>
          <a:xfrm>
            <a:off x="694212" y="4319587"/>
            <a:ext cx="3247124"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a:solidFill>
                  <a:srgbClr val="58A6FF"/>
                </a:solidFill>
                <a:latin typeface="Urbanist"/>
                <a:ea typeface="Urbanist"/>
                <a:cs typeface="Urbanist"/>
                <a:sym typeface="Urbanist"/>
              </a:rPr>
              <a:t>Linting Automatique</a:t>
            </a:r>
            <a:endParaRPr/>
          </a:p>
        </p:txBody>
      </p:sp>
      <p:sp>
        <p:nvSpPr>
          <p:cNvPr id="197" name="Google Shape;197;p20"/>
          <p:cNvSpPr txBox="1"/>
          <p:nvPr/>
        </p:nvSpPr>
        <p:spPr>
          <a:xfrm>
            <a:off x="771525" y="4719637"/>
            <a:ext cx="3092499" cy="971550"/>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a:solidFill>
                  <a:srgbClr val="C9D1D9"/>
                </a:solidFill>
                <a:latin typeface="Urbanist"/>
                <a:ea typeface="Urbanist"/>
                <a:cs typeface="Urbanist"/>
                <a:sym typeface="Urbanist"/>
              </a:rPr>
              <a:t>Détection et correction systématique des erreurs de syntaxe et des violations de style avant même que le commit ne soit créé.</a:t>
            </a:r>
            <a:endParaRPr/>
          </a:p>
        </p:txBody>
      </p:sp>
      <p:sp>
        <p:nvSpPr>
          <p:cNvPr id="198" name="Google Shape;198;p20"/>
          <p:cNvSpPr txBox="1"/>
          <p:nvPr/>
        </p:nvSpPr>
        <p:spPr>
          <a:xfrm>
            <a:off x="4472512" y="4319587"/>
            <a:ext cx="3247124"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a:solidFill>
                  <a:srgbClr val="58A6FF"/>
                </a:solidFill>
                <a:latin typeface="Urbanist"/>
                <a:ea typeface="Urbanist"/>
                <a:cs typeface="Urbanist"/>
                <a:sym typeface="Urbanist"/>
              </a:rPr>
              <a:t>Tests Bloquants</a:t>
            </a:r>
            <a:endParaRPr/>
          </a:p>
        </p:txBody>
      </p:sp>
      <p:sp>
        <p:nvSpPr>
          <p:cNvPr id="199" name="Google Shape;199;p20"/>
          <p:cNvSpPr txBox="1"/>
          <p:nvPr/>
        </p:nvSpPr>
        <p:spPr>
          <a:xfrm>
            <a:off x="4549824" y="4719637"/>
            <a:ext cx="3092499" cy="728662"/>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a:solidFill>
                  <a:srgbClr val="C9D1D9"/>
                </a:solidFill>
                <a:latin typeface="Urbanist"/>
                <a:ea typeface="Urbanist"/>
                <a:cs typeface="Urbanist"/>
                <a:sym typeface="Urbanist"/>
              </a:rPr>
              <a:t>Exécution des tests unitaires critiques pour empêcher de manière formelle l'envoi de code défaillant sur le serveur de l'équipe.</a:t>
            </a:r>
            <a:endParaRPr/>
          </a:p>
        </p:txBody>
      </p:sp>
      <p:sp>
        <p:nvSpPr>
          <p:cNvPr id="200" name="Google Shape;200;p20"/>
          <p:cNvSpPr txBox="1"/>
          <p:nvPr/>
        </p:nvSpPr>
        <p:spPr>
          <a:xfrm>
            <a:off x="8250811" y="4319587"/>
            <a:ext cx="3247124"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a:solidFill>
                  <a:srgbClr val="58A6FF"/>
                </a:solidFill>
                <a:latin typeface="Urbanist"/>
                <a:ea typeface="Urbanist"/>
                <a:cs typeface="Urbanist"/>
                <a:sym typeface="Urbanist"/>
              </a:rPr>
              <a:t>Formatage du Code</a:t>
            </a:r>
            <a:endParaRPr/>
          </a:p>
        </p:txBody>
      </p:sp>
      <p:sp>
        <p:nvSpPr>
          <p:cNvPr id="201" name="Google Shape;201;p20"/>
          <p:cNvSpPr txBox="1"/>
          <p:nvPr/>
        </p:nvSpPr>
        <p:spPr>
          <a:xfrm>
            <a:off x="8328124" y="4719637"/>
            <a:ext cx="3092499" cy="971550"/>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a:solidFill>
                  <a:srgbClr val="C9D1D9"/>
                </a:solidFill>
                <a:latin typeface="Urbanist"/>
                <a:ea typeface="Urbanist"/>
                <a:cs typeface="Urbanist"/>
                <a:sym typeface="Urbanist"/>
              </a:rPr>
              <a:t>Uniformisation transparente du style de code (via des outils comme Prettier ou Black) pour une lecture standardisée par toute l'équipe.</a:t>
            </a:r>
            <a:endParaRPr/>
          </a:p>
        </p:txBody>
      </p:sp>
      <p:pic>
        <p:nvPicPr>
          <p:cNvPr id="202" name="Google Shape;202;p20" descr="image.png"/>
          <p:cNvPicPr preferRelativeResize="0"/>
          <p:nvPr/>
        </p:nvPicPr>
        <p:blipFill rotWithShape="1">
          <a:blip r:embed="rId7">
            <a:alphaModFix/>
          </a:blip>
          <a:srcRect/>
          <a:stretch/>
        </p:blipFill>
        <p:spPr>
          <a:xfrm>
            <a:off x="771525" y="1985962"/>
            <a:ext cx="3092499" cy="2095500"/>
          </a:xfrm>
          <a:prstGeom prst="rect">
            <a:avLst/>
          </a:prstGeom>
          <a:noFill/>
          <a:ln>
            <a:noFill/>
          </a:ln>
        </p:spPr>
      </p:pic>
      <p:pic>
        <p:nvPicPr>
          <p:cNvPr id="203" name="Google Shape;203;p20" descr="image.png"/>
          <p:cNvPicPr preferRelativeResize="0"/>
          <p:nvPr/>
        </p:nvPicPr>
        <p:blipFill rotWithShape="1">
          <a:blip r:embed="rId8">
            <a:alphaModFix/>
          </a:blip>
          <a:srcRect/>
          <a:stretch/>
        </p:blipFill>
        <p:spPr>
          <a:xfrm>
            <a:off x="4549824" y="1985962"/>
            <a:ext cx="3092499" cy="2095500"/>
          </a:xfrm>
          <a:prstGeom prst="rect">
            <a:avLst/>
          </a:prstGeom>
          <a:noFill/>
          <a:ln>
            <a:noFill/>
          </a:ln>
        </p:spPr>
      </p:pic>
      <p:pic>
        <p:nvPicPr>
          <p:cNvPr id="204" name="Google Shape;204;p20" descr="image.png"/>
          <p:cNvPicPr preferRelativeResize="0"/>
          <p:nvPr/>
        </p:nvPicPr>
        <p:blipFill rotWithShape="1">
          <a:blip r:embed="rId9">
            <a:alphaModFix/>
          </a:blip>
          <a:srcRect/>
          <a:stretch/>
        </p:blipFill>
        <p:spPr>
          <a:xfrm>
            <a:off x="8328124" y="1985962"/>
            <a:ext cx="3092499" cy="2095500"/>
          </a:xfrm>
          <a:prstGeom prst="rect">
            <a:avLst/>
          </a:prstGeom>
          <a:noFill/>
          <a:ln>
            <a:noFill/>
          </a:ln>
        </p:spPr>
      </p:pic>
      <p:sp>
        <p:nvSpPr>
          <p:cNvPr id="205" name="Google Shape;205;p20"/>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solidFill>
                  <a:srgbClr val="FFFFFF"/>
                </a:solidFill>
                <a:latin typeface="Urbanist"/>
                <a:ea typeface="Urbanist"/>
                <a:cs typeface="Urbanist"/>
                <a:sym typeface="Urbanist"/>
              </a:rPr>
              <a:t>Cas d'Usage </a:t>
            </a:r>
            <a:r>
              <a:rPr lang="en-US" sz="3750" b="1" i="0" u="none" strike="noStrike" cap="none">
                <a:solidFill>
                  <a:srgbClr val="DEFF9A"/>
                </a:solidFill>
                <a:latin typeface="Urbanist"/>
                <a:ea typeface="Urbanist"/>
                <a:cs typeface="Urbanist"/>
                <a:sym typeface="Urbanist"/>
              </a:rPr>
              <a:t>Concrets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209"/>
        <p:cNvGrpSpPr/>
        <p:nvPr/>
      </p:nvGrpSpPr>
      <p:grpSpPr>
        <a:xfrm>
          <a:off x="0" y="0"/>
          <a:ext cx="0" cy="0"/>
          <a:chOff x="0" y="0"/>
          <a:chExt cx="0" cy="0"/>
        </a:xfrm>
      </p:grpSpPr>
      <p:pic>
        <p:nvPicPr>
          <p:cNvPr id="210" name="Google Shape;210;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1" name="Google Shape;211;p21" descr="image.png"/>
          <p:cNvPicPr preferRelativeResize="0"/>
          <p:nvPr/>
        </p:nvPicPr>
        <p:blipFill rotWithShape="1">
          <a:blip r:embed="rId4">
            <a:alphaModFix/>
          </a:blip>
          <a:srcRect/>
          <a:stretch/>
        </p:blipFill>
        <p:spPr>
          <a:xfrm>
            <a:off x="571500" y="2024062"/>
            <a:ext cx="5286375" cy="3771900"/>
          </a:xfrm>
          <a:prstGeom prst="rect">
            <a:avLst/>
          </a:prstGeom>
          <a:noFill/>
          <a:ln>
            <a:noFill/>
          </a:ln>
        </p:spPr>
      </p:pic>
      <p:pic>
        <p:nvPicPr>
          <p:cNvPr id="212" name="Google Shape;212;p21" descr="image.png"/>
          <p:cNvPicPr preferRelativeResize="0"/>
          <p:nvPr/>
        </p:nvPicPr>
        <p:blipFill rotWithShape="1">
          <a:blip r:embed="rId5">
            <a:alphaModFix/>
          </a:blip>
          <a:srcRect/>
          <a:stretch/>
        </p:blipFill>
        <p:spPr>
          <a:xfrm>
            <a:off x="6334125" y="2024062"/>
            <a:ext cx="5286375" cy="3771900"/>
          </a:xfrm>
          <a:prstGeom prst="rect">
            <a:avLst/>
          </a:prstGeom>
          <a:noFill/>
          <a:ln>
            <a:noFill/>
          </a:ln>
        </p:spPr>
      </p:pic>
      <p:sp>
        <p:nvSpPr>
          <p:cNvPr id="213" name="Google Shape;213;p21"/>
          <p:cNvSpPr txBox="1"/>
          <p:nvPr/>
        </p:nvSpPr>
        <p:spPr>
          <a:xfrm>
            <a:off x="962025" y="2509837"/>
            <a:ext cx="4505325" cy="1143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9000" b="1" i="0" u="none" strike="noStrike" cap="none">
                <a:solidFill>
                  <a:srgbClr val="DEFF9A"/>
                </a:solidFill>
                <a:latin typeface="Urbanist"/>
                <a:ea typeface="Urbanist"/>
                <a:cs typeface="Urbanist"/>
                <a:sym typeface="Urbanist"/>
              </a:rPr>
              <a:t>0%</a:t>
            </a:r>
            <a:endParaRPr/>
          </a:p>
        </p:txBody>
      </p:sp>
      <p:sp>
        <p:nvSpPr>
          <p:cNvPr id="214" name="Google Shape;214;p21"/>
          <p:cNvSpPr txBox="1"/>
          <p:nvPr/>
        </p:nvSpPr>
        <p:spPr>
          <a:xfrm>
            <a:off x="962025" y="3795712"/>
            <a:ext cx="450532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FFFFFF"/>
                </a:solidFill>
                <a:latin typeface="Urbanist"/>
                <a:ea typeface="Urbanist"/>
                <a:cs typeface="Urbanist"/>
                <a:sym typeface="Urbanist"/>
              </a:rPr>
              <a:t>De Commits Cassés</a:t>
            </a:r>
            <a:endParaRPr/>
          </a:p>
        </p:txBody>
      </p:sp>
      <p:sp>
        <p:nvSpPr>
          <p:cNvPr id="215" name="Google Shape;215;p21"/>
          <p:cNvSpPr txBox="1"/>
          <p:nvPr/>
        </p:nvSpPr>
        <p:spPr>
          <a:xfrm>
            <a:off x="962025" y="4310062"/>
            <a:ext cx="4505325" cy="8572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8B949E"/>
                </a:solidFill>
                <a:latin typeface="Urbanist"/>
                <a:ea typeface="Urbanist"/>
                <a:cs typeface="Urbanist"/>
                <a:sym typeface="Urbanist"/>
              </a:rPr>
              <a:t>En arrêtant les erreurs de syntaxe ou de tests à la source, la branche principale (main) reste toujours stable et prête à être déployée.</a:t>
            </a:r>
            <a:endParaRPr/>
          </a:p>
        </p:txBody>
      </p:sp>
      <p:sp>
        <p:nvSpPr>
          <p:cNvPr id="216" name="Google Shape;216;p21"/>
          <p:cNvSpPr txBox="1"/>
          <p:nvPr/>
        </p:nvSpPr>
        <p:spPr>
          <a:xfrm>
            <a:off x="6724650" y="2509837"/>
            <a:ext cx="4505325" cy="1143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9000" b="1" i="0" u="none" strike="noStrike" cap="none">
                <a:solidFill>
                  <a:srgbClr val="DEFF9A"/>
                </a:solidFill>
                <a:latin typeface="Urbanist"/>
                <a:ea typeface="Urbanist"/>
                <a:cs typeface="Urbanist"/>
                <a:sym typeface="Urbanist"/>
              </a:rPr>
              <a:t>100%</a:t>
            </a:r>
            <a:endParaRPr/>
          </a:p>
        </p:txBody>
      </p:sp>
      <p:sp>
        <p:nvSpPr>
          <p:cNvPr id="217" name="Google Shape;217;p21"/>
          <p:cNvSpPr txBox="1"/>
          <p:nvPr/>
        </p:nvSpPr>
        <p:spPr>
          <a:xfrm>
            <a:off x="6724650" y="3795712"/>
            <a:ext cx="450532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FFFFFF"/>
                </a:solidFill>
                <a:latin typeface="Urbanist"/>
                <a:ea typeface="Urbanist"/>
                <a:cs typeface="Urbanist"/>
                <a:sym typeface="Urbanist"/>
              </a:rPr>
              <a:t>Automatisation</a:t>
            </a:r>
            <a:endParaRPr/>
          </a:p>
        </p:txBody>
      </p:sp>
      <p:sp>
        <p:nvSpPr>
          <p:cNvPr id="218" name="Google Shape;218;p21"/>
          <p:cNvSpPr txBox="1"/>
          <p:nvPr/>
        </p:nvSpPr>
        <p:spPr>
          <a:xfrm>
            <a:off x="6724650" y="4310062"/>
            <a:ext cx="4505325" cy="8572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8B949E"/>
                </a:solidFill>
                <a:latin typeface="Urbanist"/>
                <a:ea typeface="Urbanist"/>
                <a:cs typeface="Urbanist"/>
                <a:sym typeface="Urbanist"/>
              </a:rPr>
              <a:t>Les développeurs n'ont plus besoin de se souvenir de lancer manuellement les linters ou les tests, le processus est garanti et invisible.</a:t>
            </a:r>
            <a:endParaRPr/>
          </a:p>
        </p:txBody>
      </p:sp>
      <p:sp>
        <p:nvSpPr>
          <p:cNvPr id="219" name="Google Shape;219;p21"/>
          <p:cNvSpPr txBox="1"/>
          <p:nvPr/>
        </p:nvSpPr>
        <p:spPr>
          <a:xfrm>
            <a:off x="571500" y="57150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dirty="0" err="1">
                <a:solidFill>
                  <a:srgbClr val="FFFFFF"/>
                </a:solidFill>
                <a:latin typeface="Urbanist"/>
                <a:ea typeface="Urbanist"/>
                <a:cs typeface="Urbanist"/>
                <a:sym typeface="Urbanist"/>
              </a:rPr>
              <a:t>Pourquoi</a:t>
            </a:r>
            <a:r>
              <a:rPr lang="en-US" sz="3750" b="1" i="0" u="none" strike="noStrike" cap="none" dirty="0">
                <a:solidFill>
                  <a:srgbClr val="FFFFFF"/>
                </a:solidFill>
                <a:latin typeface="Urbanist"/>
                <a:ea typeface="Urbanist"/>
                <a:cs typeface="Urbanist"/>
                <a:sym typeface="Urbanist"/>
              </a:rPr>
              <a:t> </a:t>
            </a:r>
            <a:r>
              <a:rPr lang="en-US" sz="3750" b="1" i="0" u="none" strike="noStrike" cap="none" dirty="0">
                <a:solidFill>
                  <a:srgbClr val="DEFF9A"/>
                </a:solidFill>
                <a:latin typeface="Urbanist"/>
                <a:ea typeface="Urbanist"/>
                <a:cs typeface="Urbanist"/>
                <a:sym typeface="Urbanist"/>
              </a:rPr>
              <a:t>Adopter</a:t>
            </a:r>
            <a:r>
              <a:rPr lang="en-US" sz="3750" b="1" i="0" u="none" strike="noStrike" cap="none" dirty="0">
                <a:solidFill>
                  <a:srgbClr val="FFFFFF"/>
                </a:solidFill>
                <a:latin typeface="Urbanist"/>
                <a:ea typeface="Urbanist"/>
                <a:cs typeface="Urbanist"/>
                <a:sym typeface="Urbanist"/>
              </a:rPr>
              <a:t> les Hooks (entre </a:t>
            </a:r>
            <a:r>
              <a:rPr lang="en-US" sz="3750" b="1" i="0" u="none" strike="noStrike" cap="none" dirty="0" err="1">
                <a:solidFill>
                  <a:srgbClr val="FFFFFF"/>
                </a:solidFill>
                <a:latin typeface="Urbanist"/>
                <a:ea typeface="Urbanist"/>
                <a:cs typeface="Urbanist"/>
                <a:sym typeface="Urbanist"/>
              </a:rPr>
              <a:t>autres</a:t>
            </a:r>
            <a:r>
              <a:rPr lang="en-US" sz="3750" b="1" i="0" u="none" strike="noStrike" cap="none" dirty="0">
                <a:solidFill>
                  <a:srgbClr val="FFFFFF"/>
                </a:solidFill>
                <a:latin typeface="Urbanist"/>
                <a:ea typeface="Urbanist"/>
                <a:cs typeface="Urbanist"/>
                <a:sym typeface="Urbanist"/>
              </a:rPr>
              <a:t>)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3">
          <a:extLst>
            <a:ext uri="{FF2B5EF4-FFF2-40B4-BE49-F238E27FC236}">
              <a16:creationId xmlns:a16="http://schemas.microsoft.com/office/drawing/2014/main" id="{565D1ABF-F842-B258-956D-640C7A2ADEF6}"/>
            </a:ext>
          </a:extLst>
        </p:cNvPr>
        <p:cNvGrpSpPr/>
        <p:nvPr/>
      </p:nvGrpSpPr>
      <p:grpSpPr>
        <a:xfrm>
          <a:off x="0" y="0"/>
          <a:ext cx="0" cy="0"/>
          <a:chOff x="0" y="0"/>
          <a:chExt cx="0" cy="0"/>
        </a:xfrm>
      </p:grpSpPr>
      <p:pic>
        <p:nvPicPr>
          <p:cNvPr id="224" name="Google Shape;224;p22" descr="image.png">
            <a:extLst>
              <a:ext uri="{FF2B5EF4-FFF2-40B4-BE49-F238E27FC236}">
                <a16:creationId xmlns:a16="http://schemas.microsoft.com/office/drawing/2014/main" id="{B7FF9675-76EB-652F-6FF6-EE32F1B80ADE}"/>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5" name="Google Shape;225;p22">
            <a:extLst>
              <a:ext uri="{FF2B5EF4-FFF2-40B4-BE49-F238E27FC236}">
                <a16:creationId xmlns:a16="http://schemas.microsoft.com/office/drawing/2014/main" id="{FC85CF87-F9E9-8672-D009-21B7CCE5D104}"/>
              </a:ext>
            </a:extLst>
          </p:cNvPr>
          <p:cNvSpPr txBox="1"/>
          <p:nvPr/>
        </p:nvSpPr>
        <p:spPr>
          <a:xfrm>
            <a:off x="295275" y="2543175"/>
            <a:ext cx="11601450" cy="1038225"/>
          </a:xfrm>
          <a:prstGeom prst="rect">
            <a:avLst/>
          </a:prstGeom>
          <a:noFill/>
          <a:ln>
            <a:noFill/>
          </a:ln>
        </p:spPr>
        <p:txBody>
          <a:bodyPr spcFirstLastPara="1" wrap="square" lIns="0" tIns="0" rIns="0" bIns="0" anchor="t" anchorCtr="0">
            <a:spAutoFit/>
          </a:bodyPr>
          <a:lstStyle/>
          <a:p>
            <a:pPr lvl="0" algn="ctr"/>
            <a:r>
              <a:rPr lang="en-US" sz="6750" b="1" i="0" u="none" strike="noStrike" cap="none" dirty="0">
                <a:solidFill>
                  <a:srgbClr val="FFFFFF"/>
                </a:solidFill>
                <a:latin typeface="Urbanist"/>
                <a:ea typeface="Urbanist"/>
                <a:cs typeface="Urbanist"/>
                <a:sym typeface="Urbanist"/>
              </a:rPr>
              <a:t>Merci </a:t>
            </a:r>
            <a:r>
              <a:rPr lang="en-US" sz="6750" b="1" dirty="0">
                <a:solidFill>
                  <a:srgbClr val="DEFF9A"/>
                </a:solidFill>
                <a:latin typeface="Urbanist"/>
                <a:ea typeface="Urbanist"/>
                <a:cs typeface="Urbanist"/>
                <a:sym typeface="Urbanist"/>
              </a:rPr>
              <a:t>! ! !</a:t>
            </a:r>
            <a:endParaRPr dirty="0"/>
          </a:p>
        </p:txBody>
      </p:sp>
      <p:sp>
        <p:nvSpPr>
          <p:cNvPr id="226" name="Google Shape;226;p22">
            <a:extLst>
              <a:ext uri="{FF2B5EF4-FFF2-40B4-BE49-F238E27FC236}">
                <a16:creationId xmlns:a16="http://schemas.microsoft.com/office/drawing/2014/main" id="{0F696FAE-C9ED-E42C-7CE4-8EEF72A26C3D}"/>
              </a:ext>
            </a:extLst>
          </p:cNvPr>
          <p:cNvSpPr txBox="1"/>
          <p:nvPr/>
        </p:nvSpPr>
        <p:spPr>
          <a:xfrm>
            <a:off x="571500" y="3771900"/>
            <a:ext cx="11049000" cy="48474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100" b="0" i="0" u="none" strike="noStrike" cap="none" dirty="0">
                <a:solidFill>
                  <a:srgbClr val="8B949E"/>
                </a:solidFill>
                <a:latin typeface="Urbanist"/>
                <a:ea typeface="Urbanist"/>
                <a:cs typeface="Urbanist"/>
                <a:sym typeface="Urbanist"/>
              </a:rPr>
              <a:t>Prêt à </a:t>
            </a:r>
            <a:r>
              <a:rPr lang="en-US" sz="2100" b="0" i="0" u="none" strike="noStrike" cap="none" dirty="0" err="1">
                <a:solidFill>
                  <a:srgbClr val="8B949E"/>
                </a:solidFill>
                <a:latin typeface="Urbanist"/>
                <a:ea typeface="Urbanist"/>
                <a:cs typeface="Urbanist"/>
                <a:sym typeface="Urbanist"/>
              </a:rPr>
              <a:t>configurer</a:t>
            </a:r>
            <a:r>
              <a:rPr lang="en-US" sz="2100" b="0" i="0" u="none" strike="noStrike" cap="none" dirty="0">
                <a:solidFill>
                  <a:srgbClr val="8B949E"/>
                </a:solidFill>
                <a:latin typeface="Urbanist"/>
                <a:ea typeface="Urbanist"/>
                <a:cs typeface="Urbanist"/>
                <a:sym typeface="Urbanist"/>
              </a:rPr>
              <a:t> un pre-commit pour </a:t>
            </a:r>
            <a:r>
              <a:rPr lang="en-US" sz="2100" b="0" i="0" u="none" strike="noStrike" cap="none" dirty="0" err="1">
                <a:solidFill>
                  <a:srgbClr val="8B949E"/>
                </a:solidFill>
                <a:latin typeface="Urbanist"/>
                <a:ea typeface="Urbanist"/>
                <a:cs typeface="Urbanist"/>
                <a:sym typeface="Urbanist"/>
              </a:rPr>
              <a:t>votre</a:t>
            </a:r>
            <a:r>
              <a:rPr lang="en-US" sz="2100" b="0" i="0" u="none" strike="noStrike" cap="none" dirty="0">
                <a:solidFill>
                  <a:srgbClr val="8B949E"/>
                </a:solidFill>
                <a:latin typeface="Urbanist"/>
                <a:ea typeface="Urbanist"/>
                <a:cs typeface="Urbanist"/>
                <a:sym typeface="Urbanist"/>
              </a:rPr>
              <a:t> </a:t>
            </a:r>
            <a:r>
              <a:rPr lang="en-US" sz="2100" b="0" i="0" u="none" strike="noStrike" cap="none" dirty="0" err="1">
                <a:solidFill>
                  <a:srgbClr val="8B949E"/>
                </a:solidFill>
                <a:latin typeface="Urbanist"/>
                <a:ea typeface="Urbanist"/>
                <a:cs typeface="Urbanist"/>
                <a:sym typeface="Urbanist"/>
              </a:rPr>
              <a:t>prochaine</a:t>
            </a:r>
            <a:r>
              <a:rPr lang="en-US" sz="2100" b="0" i="0" u="none" strike="noStrike" cap="none" dirty="0">
                <a:solidFill>
                  <a:srgbClr val="8B949E"/>
                </a:solidFill>
                <a:latin typeface="Urbanist"/>
                <a:ea typeface="Urbanist"/>
                <a:cs typeface="Urbanist"/>
                <a:sym typeface="Urbanist"/>
              </a:rPr>
              <a:t> U.S ?</a:t>
            </a:r>
            <a:endParaRPr dirty="0"/>
          </a:p>
        </p:txBody>
      </p:sp>
    </p:spTree>
    <p:extLst>
      <p:ext uri="{BB962C8B-B14F-4D97-AF65-F5344CB8AC3E}">
        <p14:creationId xmlns:p14="http://schemas.microsoft.com/office/powerpoint/2010/main" val="3971582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223"/>
        <p:cNvGrpSpPr/>
        <p:nvPr/>
      </p:nvGrpSpPr>
      <p:grpSpPr>
        <a:xfrm>
          <a:off x="0" y="0"/>
          <a:ext cx="0" cy="0"/>
          <a:chOff x="0" y="0"/>
          <a:chExt cx="0" cy="0"/>
        </a:xfrm>
      </p:grpSpPr>
      <p:pic>
        <p:nvPicPr>
          <p:cNvPr id="224" name="Google Shape;224;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5" name="Google Shape;225;p22"/>
          <p:cNvSpPr txBox="1"/>
          <p:nvPr/>
        </p:nvSpPr>
        <p:spPr>
          <a:xfrm>
            <a:off x="295275" y="2543175"/>
            <a:ext cx="11601450" cy="1038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750" b="1" i="0" u="none" strike="noStrike" cap="none" dirty="0">
                <a:solidFill>
                  <a:srgbClr val="FFFFFF"/>
                </a:solidFill>
                <a:latin typeface="Urbanist"/>
                <a:ea typeface="Urbanist"/>
                <a:cs typeface="Urbanist"/>
                <a:sym typeface="Urbanist"/>
              </a:rPr>
              <a:t>Des </a:t>
            </a:r>
            <a:r>
              <a:rPr lang="en-US" sz="6750" b="1" i="0" u="none" strike="noStrike" cap="none" dirty="0">
                <a:solidFill>
                  <a:srgbClr val="DEFF9A"/>
                </a:solidFill>
                <a:latin typeface="Urbanist"/>
                <a:ea typeface="Urbanist"/>
                <a:cs typeface="Urbanist"/>
                <a:sym typeface="Urbanist"/>
              </a:rPr>
              <a:t>Questions</a:t>
            </a:r>
            <a:r>
              <a:rPr lang="en-US" sz="6750" b="1" i="0" u="none" strike="noStrike" cap="none" dirty="0">
                <a:solidFill>
                  <a:srgbClr val="FFFFFF"/>
                </a:solidFill>
                <a:latin typeface="Urbanist"/>
                <a:ea typeface="Urbanist"/>
                <a:cs typeface="Urbanist"/>
                <a:sym typeface="Urbanist"/>
              </a:rPr>
              <a:t> ?</a:t>
            </a:r>
            <a:endParaRPr dirty="0"/>
          </a:p>
        </p:txBody>
      </p:sp>
      <p:sp>
        <p:nvSpPr>
          <p:cNvPr id="226" name="Google Shape;226;p22"/>
          <p:cNvSpPr txBox="1"/>
          <p:nvPr/>
        </p:nvSpPr>
        <p:spPr>
          <a:xfrm>
            <a:off x="571500" y="3771900"/>
            <a:ext cx="11049000" cy="48474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100" b="0" i="0" u="none" strike="noStrike" cap="none" dirty="0">
                <a:solidFill>
                  <a:srgbClr val="8B949E"/>
                </a:solidFill>
                <a:latin typeface="Urbanist"/>
                <a:ea typeface="Urbanist"/>
                <a:cs typeface="Urbanist"/>
                <a:sym typeface="Urbanist"/>
              </a:rPr>
              <a:t>Prêt à </a:t>
            </a:r>
            <a:r>
              <a:rPr lang="en-US" sz="2100" b="0" i="0" u="none" strike="noStrike" cap="none" dirty="0" err="1">
                <a:solidFill>
                  <a:srgbClr val="8B949E"/>
                </a:solidFill>
                <a:latin typeface="Urbanist"/>
                <a:ea typeface="Urbanist"/>
                <a:cs typeface="Urbanist"/>
                <a:sym typeface="Urbanist"/>
              </a:rPr>
              <a:t>configurer</a:t>
            </a:r>
            <a:r>
              <a:rPr lang="en-US" sz="2100" b="0" i="0" u="none" strike="noStrike" cap="none" dirty="0">
                <a:solidFill>
                  <a:srgbClr val="8B949E"/>
                </a:solidFill>
                <a:latin typeface="Urbanist"/>
                <a:ea typeface="Urbanist"/>
                <a:cs typeface="Urbanist"/>
                <a:sym typeface="Urbanist"/>
              </a:rPr>
              <a:t> un pre-commit pour </a:t>
            </a:r>
            <a:r>
              <a:rPr lang="en-US" sz="2100" b="0" i="0" u="none" strike="noStrike" cap="none" dirty="0" err="1">
                <a:solidFill>
                  <a:srgbClr val="8B949E"/>
                </a:solidFill>
                <a:latin typeface="Urbanist"/>
                <a:ea typeface="Urbanist"/>
                <a:cs typeface="Urbanist"/>
                <a:sym typeface="Urbanist"/>
              </a:rPr>
              <a:t>votre</a:t>
            </a:r>
            <a:r>
              <a:rPr lang="en-US" sz="2100" b="0" i="0" u="none" strike="noStrike" cap="none" dirty="0">
                <a:solidFill>
                  <a:srgbClr val="8B949E"/>
                </a:solidFill>
                <a:latin typeface="Urbanist"/>
                <a:ea typeface="Urbanist"/>
                <a:cs typeface="Urbanist"/>
                <a:sym typeface="Urbanist"/>
              </a:rPr>
              <a:t> </a:t>
            </a:r>
            <a:r>
              <a:rPr lang="en-US" sz="2100" b="0" i="0" u="none" strike="noStrike" cap="none" dirty="0" err="1">
                <a:solidFill>
                  <a:srgbClr val="8B949E"/>
                </a:solidFill>
                <a:latin typeface="Urbanist"/>
                <a:ea typeface="Urbanist"/>
                <a:cs typeface="Urbanist"/>
                <a:sym typeface="Urbanist"/>
              </a:rPr>
              <a:t>prochaine</a:t>
            </a:r>
            <a:r>
              <a:rPr lang="en-US" sz="2100" b="0" i="0" u="none" strike="noStrike" cap="none" dirty="0">
                <a:solidFill>
                  <a:srgbClr val="8B949E"/>
                </a:solidFill>
                <a:latin typeface="Urbanist"/>
                <a:ea typeface="Urbanist"/>
                <a:cs typeface="Urbanist"/>
                <a:sym typeface="Urbanist"/>
              </a:rPr>
              <a:t> U.S ?</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643</Words>
  <Application>Microsoft Office PowerPoint</Application>
  <PresentationFormat>Grand écran</PresentationFormat>
  <Paragraphs>52</Paragraphs>
  <Slides>12</Slides>
  <Notes>12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12</vt:i4>
      </vt:variant>
    </vt:vector>
  </HeadingPairs>
  <TitlesOfParts>
    <vt:vector size="17" baseType="lpstr">
      <vt:lpstr>Urbanist Medium</vt:lpstr>
      <vt:lpstr>Urbanist</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larbi bougoufa</cp:lastModifiedBy>
  <cp:revision>3</cp:revision>
  <dcterms:modified xsi:type="dcterms:W3CDTF">2026-03-06T12:19:29Z</dcterms:modified>
</cp:coreProperties>
</file>