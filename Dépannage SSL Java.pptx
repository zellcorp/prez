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6858000" cx="12192000"/>
  <p:notesSz cx="6858000" cy="9144000"/>
  <p:embeddedFontLst>
    <p:embeddedFont>
      <p:font typeface="Roboto"/>
      <p:regular r:id="rId19"/>
      <p:bold r:id="rId20"/>
      <p:italic r:id="rId21"/>
      <p:boldItalic r:id="rId22"/>
    </p:embeddedFont>
    <p:embeddedFont>
      <p:font typeface="Fira Code"/>
      <p:regular r:id="rId23"/>
      <p:bold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bold.fntdata"/><Relationship Id="rId11" Type="http://schemas.openxmlformats.org/officeDocument/2006/relationships/slide" Target="slides/slide6.xml"/><Relationship Id="rId22" Type="http://schemas.openxmlformats.org/officeDocument/2006/relationships/font" Target="fonts/Roboto-boldItalic.fntdata"/><Relationship Id="rId10" Type="http://schemas.openxmlformats.org/officeDocument/2006/relationships/slide" Target="slides/slide5.xml"/><Relationship Id="rId21" Type="http://schemas.openxmlformats.org/officeDocument/2006/relationships/font" Target="fonts/Roboto-italic.fntdata"/><Relationship Id="rId13" Type="http://schemas.openxmlformats.org/officeDocument/2006/relationships/slide" Target="slides/slide8.xml"/><Relationship Id="rId24" Type="http://schemas.openxmlformats.org/officeDocument/2006/relationships/font" Target="fonts/FiraCode-bold.fntdata"/><Relationship Id="rId12" Type="http://schemas.openxmlformats.org/officeDocument/2006/relationships/slide" Target="slides/slide7.xml"/><Relationship Id="rId23" Type="http://schemas.openxmlformats.org/officeDocument/2006/relationships/font" Target="fonts/FiraCode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Roboto-regular.fntdata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1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Relationship Id="rId4" Type="http://schemas.openxmlformats.org/officeDocument/2006/relationships/image" Target="../media/image14.png"/><Relationship Id="rId5" Type="http://schemas.openxmlformats.org/officeDocument/2006/relationships/image" Target="../media/image17.png"/><Relationship Id="rId6" Type="http://schemas.openxmlformats.org/officeDocument/2006/relationships/image" Target="../media/image2.png"/><Relationship Id="rId7" Type="http://schemas.openxmlformats.org/officeDocument/2006/relationships/image" Target="../media/image18.png"/><Relationship Id="rId8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Relationship Id="rId4" Type="http://schemas.openxmlformats.org/officeDocument/2006/relationships/image" Target="../media/image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5715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1940480" y="1569690"/>
            <a:ext cx="8311038" cy="714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Dépannage SSL/TLS en Java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4115752" y="2474565"/>
            <a:ext cx="396049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E67E22"/>
                </a:solidFill>
                <a:latin typeface="Roboto"/>
                <a:ea typeface="Roboto"/>
                <a:cs typeface="Roboto"/>
                <a:sym typeface="Roboto"/>
              </a:rPr>
              <a:t>Guide Technique Avancé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3676650" y="3636615"/>
            <a:ext cx="48387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BDC3C7"/>
                </a:solidFill>
                <a:latin typeface="Roboto"/>
                <a:ea typeface="Roboto"/>
                <a:cs typeface="Roboto"/>
                <a:sym typeface="Roboto"/>
              </a:rPr>
              <a:t>mTLS • Handshake • PKIX • Ciphers • Debugging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/>
          <p:nvPr/>
        </p:nvSpPr>
        <p:spPr>
          <a:xfrm>
            <a:off x="571500" y="571500"/>
            <a:ext cx="11601450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2C3E50"/>
                </a:solidFill>
                <a:latin typeface="Roboto"/>
                <a:ea typeface="Roboto"/>
                <a:cs typeface="Roboto"/>
                <a:sym typeface="Roboto"/>
              </a:rPr>
              <a:t>1. Fondamentaux : Keystore vs Truststore</a:t>
            </a:r>
            <a:endParaRPr/>
          </a:p>
        </p:txBody>
      </p:sp>
      <p:sp>
        <p:nvSpPr>
          <p:cNvPr id="93" name="Google Shape;93;p14"/>
          <p:cNvSpPr/>
          <p:nvPr/>
        </p:nvSpPr>
        <p:spPr>
          <a:xfrm>
            <a:off x="571500" y="1133475"/>
            <a:ext cx="11049000" cy="381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4"/>
          <p:cNvSpPr txBox="1"/>
          <p:nvPr/>
        </p:nvSpPr>
        <p:spPr>
          <a:xfrm>
            <a:off x="11563350" y="6515100"/>
            <a:ext cx="3429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99999"/>
                </a:solidFill>
                <a:latin typeface="Roboto"/>
                <a:ea typeface="Roboto"/>
                <a:cs typeface="Roboto"/>
                <a:sym typeface="Roboto"/>
              </a:rPr>
              <a:t>2 / 13</a:t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571500" y="2371725"/>
            <a:ext cx="52863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La confusion #1 en Java. Comprendre la différence est crucial pour le diagnostic.</a:t>
            </a:r>
            <a:endParaRPr/>
          </a:p>
        </p:txBody>
      </p:sp>
      <p:sp>
        <p:nvSpPr>
          <p:cNvPr id="96" name="Google Shape;96;p14"/>
          <p:cNvSpPr/>
          <p:nvPr/>
        </p:nvSpPr>
        <p:spPr>
          <a:xfrm>
            <a:off x="6334125" y="3376612"/>
            <a:ext cx="5286375" cy="990600"/>
          </a:xfrm>
          <a:prstGeom prst="rect">
            <a:avLst/>
          </a:prstGeom>
          <a:solidFill>
            <a:srgbClr val="E8F6F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4"/>
          <p:cNvSpPr txBox="1"/>
          <p:nvPr/>
        </p:nvSpPr>
        <p:spPr>
          <a:xfrm>
            <a:off x="6524625" y="3567112"/>
            <a:ext cx="49053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Commande utile :</a:t>
            </a:r>
            <a:r>
              <a:rPr b="0" i="0" lang="en-US" sz="13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keytool -list -v -keystore mon_fichier.jks</a:t>
            </a:r>
            <a:endParaRPr/>
          </a:p>
        </p:txBody>
      </p:sp>
      <p:sp>
        <p:nvSpPr>
          <p:cNvPr id="98" name="Google Shape;98;p14"/>
          <p:cNvSpPr/>
          <p:nvPr/>
        </p:nvSpPr>
        <p:spPr>
          <a:xfrm>
            <a:off x="6334125" y="3376612"/>
            <a:ext cx="57150" cy="9906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4"/>
          <p:cNvSpPr txBox="1"/>
          <p:nvPr/>
        </p:nvSpPr>
        <p:spPr>
          <a:xfrm>
            <a:off x="885825" y="3133725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•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952500" y="3133725"/>
            <a:ext cx="4905375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Keystore (Mon identité)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 Contient MA clé privée et mon certificat. Utilisé uniquement quand le serveur demande "Qui es-tu ?" (mTLS).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885825" y="4495800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•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952500" y="4495800"/>
            <a:ext cx="490537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Truststore (Mes amis)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 Contient les certificats des CA que je </a:t>
            </a:r>
            <a:r>
              <a:rPr b="1" i="0" lang="en-US" sz="150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crois</a:t>
            </a:r>
            <a:r>
              <a:rPr b="0" i="0" lang="en-US" sz="150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. Utilisé pour valider l'identité du serveur.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7" name="Google Shape;107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34125" y="3026271"/>
            <a:ext cx="5286375" cy="1500782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5"/>
          <p:cNvSpPr txBox="1"/>
          <p:nvPr/>
        </p:nvSpPr>
        <p:spPr>
          <a:xfrm>
            <a:off x="571500" y="571500"/>
            <a:ext cx="11601450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2C3E50"/>
                </a:solidFill>
                <a:latin typeface="Roboto"/>
                <a:ea typeface="Roboto"/>
                <a:cs typeface="Roboto"/>
                <a:sym typeface="Roboto"/>
              </a:rPr>
              <a:t>2. Erreur de Confiance (Trust Issues)</a:t>
            </a:r>
            <a:endParaRPr/>
          </a:p>
        </p:txBody>
      </p:sp>
      <p:sp>
        <p:nvSpPr>
          <p:cNvPr id="109" name="Google Shape;109;p15"/>
          <p:cNvSpPr/>
          <p:nvPr/>
        </p:nvSpPr>
        <p:spPr>
          <a:xfrm>
            <a:off x="571500" y="1133475"/>
            <a:ext cx="11049000" cy="381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5"/>
          <p:cNvSpPr txBox="1"/>
          <p:nvPr/>
        </p:nvSpPr>
        <p:spPr>
          <a:xfrm>
            <a:off x="11563350" y="6515100"/>
            <a:ext cx="3429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99999"/>
                </a:solidFill>
                <a:latin typeface="Roboto"/>
                <a:ea typeface="Roboto"/>
                <a:cs typeface="Roboto"/>
                <a:sym typeface="Roboto"/>
              </a:rPr>
              <a:t>3 / 13</a:t>
            </a:r>
            <a:endParaRPr/>
          </a:p>
        </p:txBody>
      </p:sp>
      <p:sp>
        <p:nvSpPr>
          <p:cNvPr id="111" name="Google Shape;111;p15"/>
          <p:cNvSpPr txBox="1"/>
          <p:nvPr/>
        </p:nvSpPr>
        <p:spPr>
          <a:xfrm>
            <a:off x="571500" y="2590800"/>
            <a:ext cx="52863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Problème :</a:t>
            </a:r>
            <a:r>
              <a:rPr b="0" i="0" lang="en-US" sz="150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 Le client Java ne fait pas confiance au certificat du serveur.</a:t>
            </a:r>
            <a:endParaRPr/>
          </a:p>
        </p:txBody>
      </p:sp>
      <p:sp>
        <p:nvSpPr>
          <p:cNvPr id="112" name="Google Shape;112;p15"/>
          <p:cNvSpPr txBox="1"/>
          <p:nvPr/>
        </p:nvSpPr>
        <p:spPr>
          <a:xfrm>
            <a:off x="571500" y="3390900"/>
            <a:ext cx="52863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Causes :</a:t>
            </a:r>
            <a:r>
              <a:rPr b="0" i="0" lang="en-US" sz="150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 Certificat auto-signé ou CA interne d'entreprise absente du `cacerts`.</a:t>
            </a:r>
            <a:endParaRPr/>
          </a:p>
        </p:txBody>
      </p:sp>
      <p:sp>
        <p:nvSpPr>
          <p:cNvPr id="113" name="Google Shape;113;p15"/>
          <p:cNvSpPr/>
          <p:nvPr/>
        </p:nvSpPr>
        <p:spPr>
          <a:xfrm>
            <a:off x="571500" y="4143375"/>
            <a:ext cx="5286375" cy="1200150"/>
          </a:xfrm>
          <a:prstGeom prst="rect">
            <a:avLst/>
          </a:prstGeom>
          <a:solidFill>
            <a:srgbClr val="E8F6F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5"/>
          <p:cNvSpPr txBox="1"/>
          <p:nvPr/>
        </p:nvSpPr>
        <p:spPr>
          <a:xfrm>
            <a:off x="762000" y="4333875"/>
            <a:ext cx="4905375" cy="819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Solution :</a:t>
            </a:r>
            <a:r>
              <a:rPr b="0" i="0" lang="en-US" sz="13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Importer le certificat public dans le Truststore. 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keytool -import -alias serv -file serv.crt -keystore cacerts</a:t>
            </a:r>
            <a:endParaRPr/>
          </a:p>
        </p:txBody>
      </p:sp>
      <p:sp>
        <p:nvSpPr>
          <p:cNvPr id="115" name="Google Shape;115;p15"/>
          <p:cNvSpPr/>
          <p:nvPr/>
        </p:nvSpPr>
        <p:spPr>
          <a:xfrm>
            <a:off x="571500" y="4143375"/>
            <a:ext cx="57150" cy="120015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0" name="Google Shape;120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3905250"/>
            <a:ext cx="5286375" cy="1676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1" name="Google Shape;121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3119586"/>
            <a:ext cx="5286375" cy="1314152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6"/>
          <p:cNvSpPr txBox="1"/>
          <p:nvPr/>
        </p:nvSpPr>
        <p:spPr>
          <a:xfrm>
            <a:off x="571500" y="571500"/>
            <a:ext cx="11601450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2C3E50"/>
                </a:solidFill>
                <a:latin typeface="Roboto"/>
                <a:ea typeface="Roboto"/>
                <a:cs typeface="Roboto"/>
                <a:sym typeface="Roboto"/>
              </a:rPr>
              <a:t>3. Certificat Expiré ou Invalide</a:t>
            </a:r>
            <a:endParaRPr/>
          </a:p>
        </p:txBody>
      </p:sp>
      <p:sp>
        <p:nvSpPr>
          <p:cNvPr id="123" name="Google Shape;123;p16"/>
          <p:cNvSpPr/>
          <p:nvPr/>
        </p:nvSpPr>
        <p:spPr>
          <a:xfrm>
            <a:off x="571500" y="1133475"/>
            <a:ext cx="11049000" cy="381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6"/>
          <p:cNvSpPr txBox="1"/>
          <p:nvPr/>
        </p:nvSpPr>
        <p:spPr>
          <a:xfrm>
            <a:off x="11563350" y="6515100"/>
            <a:ext cx="3429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99999"/>
                </a:solidFill>
                <a:latin typeface="Roboto"/>
                <a:ea typeface="Roboto"/>
                <a:cs typeface="Roboto"/>
                <a:sym typeface="Roboto"/>
              </a:rPr>
              <a:t>4 / 13</a:t>
            </a:r>
            <a:endParaRPr/>
          </a:p>
        </p:txBody>
      </p:sp>
      <p:sp>
        <p:nvSpPr>
          <p:cNvPr id="125" name="Google Shape;125;p16"/>
          <p:cNvSpPr txBox="1"/>
          <p:nvPr/>
        </p:nvSpPr>
        <p:spPr>
          <a:xfrm>
            <a:off x="571500" y="2352675"/>
            <a:ext cx="52863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Problème :</a:t>
            </a:r>
            <a:r>
              <a:rPr b="0" i="0" lang="en-US" sz="150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 Le certificat est techniquement correct, mais la période de validité ne correspond pas.</a:t>
            </a:r>
            <a:endParaRPr/>
          </a:p>
        </p:txBody>
      </p:sp>
      <p:sp>
        <p:nvSpPr>
          <p:cNvPr id="126" name="Google Shape;126;p16"/>
          <p:cNvSpPr txBox="1"/>
          <p:nvPr/>
        </p:nvSpPr>
        <p:spPr>
          <a:xfrm>
            <a:off x="571500" y="3152775"/>
            <a:ext cx="52863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Attention :</a:t>
            </a:r>
            <a:r>
              <a:rPr b="0" i="0" lang="en-US" sz="150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 Vérifiez toujours la date/heure du serveur où tourne l'application Java (dérive NTP).</a:t>
            </a:r>
            <a:endParaRPr/>
          </a:p>
        </p:txBody>
      </p:sp>
      <p:sp>
        <p:nvSpPr>
          <p:cNvPr id="127" name="Google Shape;127;p16"/>
          <p:cNvSpPr txBox="1"/>
          <p:nvPr/>
        </p:nvSpPr>
        <p:spPr>
          <a:xfrm>
            <a:off x="819150" y="4095750"/>
            <a:ext cx="7239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Solution :</a:t>
            </a:r>
            <a:endParaRPr/>
          </a:p>
        </p:txBody>
      </p:sp>
      <p:sp>
        <p:nvSpPr>
          <p:cNvPr id="128" name="Google Shape;128;p16"/>
          <p:cNvSpPr txBox="1"/>
          <p:nvPr/>
        </p:nvSpPr>
        <p:spPr>
          <a:xfrm>
            <a:off x="1047750" y="4467225"/>
            <a:ext cx="1524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1.</a:t>
            </a:r>
            <a:endParaRPr/>
          </a:p>
        </p:txBody>
      </p:sp>
      <p:sp>
        <p:nvSpPr>
          <p:cNvPr id="129" name="Google Shape;129;p16"/>
          <p:cNvSpPr txBox="1"/>
          <p:nvPr/>
        </p:nvSpPr>
        <p:spPr>
          <a:xfrm>
            <a:off x="1200150" y="4467225"/>
            <a:ext cx="44672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524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Renouveler le certificat côté serveur.</a:t>
            </a:r>
            <a:endParaRPr/>
          </a:p>
        </p:txBody>
      </p:sp>
      <p:sp>
        <p:nvSpPr>
          <p:cNvPr id="130" name="Google Shape;130;p16"/>
          <p:cNvSpPr txBox="1"/>
          <p:nvPr/>
        </p:nvSpPr>
        <p:spPr>
          <a:xfrm>
            <a:off x="1047750" y="4914900"/>
            <a:ext cx="1524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2.</a:t>
            </a:r>
            <a:endParaRPr/>
          </a:p>
        </p:txBody>
      </p:sp>
      <p:sp>
        <p:nvSpPr>
          <p:cNvPr id="131" name="Google Shape;131;p16"/>
          <p:cNvSpPr txBox="1"/>
          <p:nvPr/>
        </p:nvSpPr>
        <p:spPr>
          <a:xfrm>
            <a:off x="1200150" y="4914900"/>
            <a:ext cx="44672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524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Corriger l'horloge système.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6" name="Google Shape;136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34125" y="3026271"/>
            <a:ext cx="5286375" cy="1500782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7"/>
          <p:cNvSpPr txBox="1"/>
          <p:nvPr/>
        </p:nvSpPr>
        <p:spPr>
          <a:xfrm>
            <a:off x="571500" y="571500"/>
            <a:ext cx="11601450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2C3E50"/>
                </a:solidFill>
                <a:latin typeface="Roboto"/>
                <a:ea typeface="Roboto"/>
                <a:cs typeface="Roboto"/>
                <a:sym typeface="Roboto"/>
              </a:rPr>
              <a:t>4. Problème de Nom d'Hôte</a:t>
            </a:r>
            <a:endParaRPr/>
          </a:p>
        </p:txBody>
      </p:sp>
      <p:sp>
        <p:nvSpPr>
          <p:cNvPr id="138" name="Google Shape;138;p17"/>
          <p:cNvSpPr/>
          <p:nvPr/>
        </p:nvSpPr>
        <p:spPr>
          <a:xfrm>
            <a:off x="571500" y="1133475"/>
            <a:ext cx="11049000" cy="381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7"/>
          <p:cNvSpPr txBox="1"/>
          <p:nvPr/>
        </p:nvSpPr>
        <p:spPr>
          <a:xfrm>
            <a:off x="11563350" y="6515100"/>
            <a:ext cx="3429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99999"/>
                </a:solidFill>
                <a:latin typeface="Roboto"/>
                <a:ea typeface="Roboto"/>
                <a:cs typeface="Roboto"/>
                <a:sym typeface="Roboto"/>
              </a:rPr>
              <a:t>5 / 13</a:t>
            </a:r>
            <a:endParaRPr/>
          </a:p>
        </p:txBody>
      </p:sp>
      <p:sp>
        <p:nvSpPr>
          <p:cNvPr id="140" name="Google Shape;140;p17"/>
          <p:cNvSpPr txBox="1"/>
          <p:nvPr/>
        </p:nvSpPr>
        <p:spPr>
          <a:xfrm>
            <a:off x="571500" y="2947987"/>
            <a:ext cx="52863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Problème :</a:t>
            </a:r>
            <a:r>
              <a:rPr b="0" i="0" lang="en-US" sz="150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 Le certificat est valide, mais pas pour l'URL appelée. Le CN ou SAN ne matche pas.</a:t>
            </a:r>
            <a:endParaRPr/>
          </a:p>
        </p:txBody>
      </p:sp>
      <p:sp>
        <p:nvSpPr>
          <p:cNvPr id="141" name="Google Shape;141;p17"/>
          <p:cNvSpPr txBox="1"/>
          <p:nvPr/>
        </p:nvSpPr>
        <p:spPr>
          <a:xfrm>
            <a:off x="571500" y="3748087"/>
            <a:ext cx="528637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0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Exemple : Appel vers api.interne mais cert pour prod.com.</a:t>
            </a:r>
            <a:endParaRPr/>
          </a:p>
        </p:txBody>
      </p:sp>
      <p:sp>
        <p:nvSpPr>
          <p:cNvPr id="142" name="Google Shape;142;p17"/>
          <p:cNvSpPr/>
          <p:nvPr/>
        </p:nvSpPr>
        <p:spPr>
          <a:xfrm>
            <a:off x="571500" y="4205287"/>
            <a:ext cx="5286375" cy="781050"/>
          </a:xfrm>
          <a:prstGeom prst="rect">
            <a:avLst/>
          </a:prstGeom>
          <a:solidFill>
            <a:srgbClr val="E8F6F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7"/>
          <p:cNvSpPr txBox="1"/>
          <p:nvPr/>
        </p:nvSpPr>
        <p:spPr>
          <a:xfrm>
            <a:off x="762000" y="4395787"/>
            <a:ext cx="490537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Solution :</a:t>
            </a:r>
            <a:r>
              <a:rPr b="0" i="0" lang="en-US" sz="13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Ne PAS désactiver la vérification (faille de sécurité). Régénérer le certificat avec le bon SAN.</a:t>
            </a:r>
            <a:endParaRPr/>
          </a:p>
        </p:txBody>
      </p:sp>
      <p:sp>
        <p:nvSpPr>
          <p:cNvPr id="144" name="Google Shape;144;p17"/>
          <p:cNvSpPr/>
          <p:nvPr/>
        </p:nvSpPr>
        <p:spPr>
          <a:xfrm>
            <a:off x="571500" y="4205287"/>
            <a:ext cx="57150" cy="78105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9" name="Google Shape;149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2886075"/>
            <a:ext cx="11049000" cy="1971675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8"/>
          <p:cNvSpPr txBox="1"/>
          <p:nvPr/>
        </p:nvSpPr>
        <p:spPr>
          <a:xfrm>
            <a:off x="571500" y="571500"/>
            <a:ext cx="11601450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2C3E50"/>
                </a:solidFill>
                <a:latin typeface="Roboto"/>
                <a:ea typeface="Roboto"/>
                <a:cs typeface="Roboto"/>
                <a:sym typeface="Roboto"/>
              </a:rPr>
              <a:t>5. Comprendre le mTLS</a:t>
            </a:r>
            <a:endParaRPr/>
          </a:p>
        </p:txBody>
      </p:sp>
      <p:sp>
        <p:nvSpPr>
          <p:cNvPr id="151" name="Google Shape;151;p18"/>
          <p:cNvSpPr/>
          <p:nvPr/>
        </p:nvSpPr>
        <p:spPr>
          <a:xfrm>
            <a:off x="571500" y="1133475"/>
            <a:ext cx="11049000" cy="381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8"/>
          <p:cNvSpPr txBox="1"/>
          <p:nvPr/>
        </p:nvSpPr>
        <p:spPr>
          <a:xfrm>
            <a:off x="11563350" y="6515100"/>
            <a:ext cx="3429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99999"/>
                </a:solidFill>
                <a:latin typeface="Roboto"/>
                <a:ea typeface="Roboto"/>
                <a:cs typeface="Roboto"/>
                <a:sym typeface="Roboto"/>
              </a:rPr>
              <a:t>6 / 13</a:t>
            </a:r>
            <a:endParaRPr/>
          </a:p>
        </p:txBody>
      </p:sp>
      <p:sp>
        <p:nvSpPr>
          <p:cNvPr id="153" name="Google Shape;153;p18"/>
          <p:cNvSpPr txBox="1"/>
          <p:nvPr/>
        </p:nvSpPr>
        <p:spPr>
          <a:xfrm>
            <a:off x="571500" y="2438400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Authentification bilatérale où le serveur exige une preuve d'identité.</a:t>
            </a:r>
            <a:endParaRPr/>
          </a:p>
        </p:txBody>
      </p:sp>
      <p:sp>
        <p:nvSpPr>
          <p:cNvPr id="154" name="Google Shape;154;p18"/>
          <p:cNvSpPr txBox="1"/>
          <p:nvPr/>
        </p:nvSpPr>
        <p:spPr>
          <a:xfrm>
            <a:off x="571500" y="5048250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67E22"/>
                </a:solidFill>
                <a:latin typeface="Roboto"/>
                <a:ea typeface="Roboto"/>
                <a:cs typeface="Roboto"/>
                <a:sym typeface="Roboto"/>
              </a:rPr>
              <a:t>C'est l'étape 4 qui échoue souvent en Java.</a:t>
            </a:r>
            <a:endParaRPr/>
          </a:p>
        </p:txBody>
      </p:sp>
      <p:sp>
        <p:nvSpPr>
          <p:cNvPr id="155" name="Google Shape;155;p18"/>
          <p:cNvSpPr txBox="1"/>
          <p:nvPr/>
        </p:nvSpPr>
        <p:spPr>
          <a:xfrm>
            <a:off x="4962376" y="3371850"/>
            <a:ext cx="2324100" cy="1000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3335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55555"/>
                </a:solidFill>
                <a:latin typeface="Fira Code"/>
                <a:ea typeface="Fira Code"/>
                <a:cs typeface="Fira Code"/>
                <a:sym typeface="Fira Code"/>
              </a:rPr>
              <a:t>1. Client Hello 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555555"/>
                </a:solidFill>
                <a:latin typeface="Fira Code"/>
                <a:ea typeface="Fira Code"/>
                <a:cs typeface="Fira Code"/>
                <a:sym typeface="Fira Code"/>
              </a:rPr>
              <a:t> 2. Server Hello + Cert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555555"/>
                </a:solidFill>
                <a:latin typeface="Fira Code"/>
                <a:ea typeface="Fira Code"/>
                <a:cs typeface="Fira Code"/>
                <a:sym typeface="Fira Code"/>
              </a:rPr>
              <a:t> 3. </a:t>
            </a:r>
            <a:r>
              <a:rPr b="1" i="0" lang="en-US" sz="1200" u="none" cap="none" strike="noStrike">
                <a:solidFill>
                  <a:srgbClr val="555555"/>
                </a:solidFill>
                <a:latin typeface="Fira Code"/>
                <a:ea typeface="Fira Code"/>
                <a:cs typeface="Fira Code"/>
                <a:sym typeface="Fira Code"/>
              </a:rPr>
              <a:t>Certificate Request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555555"/>
                </a:solidFill>
                <a:latin typeface="Fira Code"/>
                <a:ea typeface="Fira Code"/>
                <a:cs typeface="Fira Code"/>
                <a:sym typeface="Fira Code"/>
              </a:rPr>
              <a:t> 4. </a:t>
            </a:r>
            <a:r>
              <a:rPr b="1" i="0" lang="en-US" sz="1200" u="none" cap="none" strike="noStrike">
                <a:solidFill>
                  <a:srgbClr val="555555"/>
                </a:solidFill>
                <a:latin typeface="Fira Code"/>
                <a:ea typeface="Fira Code"/>
                <a:cs typeface="Fira Code"/>
                <a:sym typeface="Fira Code"/>
              </a:rPr>
              <a:t>Client Certificate</a:t>
            </a:r>
            <a:r>
              <a:rPr b="0" i="0" lang="en-US" sz="1200" u="none" cap="none" strike="noStrike">
                <a:solidFill>
                  <a:srgbClr val="555555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555555"/>
                </a:solidFill>
                <a:latin typeface="Fira Code"/>
                <a:ea typeface="Fira Code"/>
                <a:cs typeface="Fira Code"/>
                <a:sym typeface="Fira Code"/>
              </a:rPr>
              <a:t> 5. Finished</a:t>
            </a:r>
            <a:endParaRPr/>
          </a:p>
        </p:txBody>
      </p:sp>
      <p:pic>
        <p:nvPicPr>
          <p:cNvPr descr="image.png" id="156" name="Google Shape;156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051000" y="3267075"/>
            <a:ext cx="714375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18"/>
          <p:cNvSpPr txBox="1"/>
          <p:nvPr/>
        </p:nvSpPr>
        <p:spPr>
          <a:xfrm>
            <a:off x="2051000" y="4029075"/>
            <a:ext cx="7143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Client</a:t>
            </a:r>
            <a:endParaRPr/>
          </a:p>
        </p:txBody>
      </p:sp>
      <p:pic>
        <p:nvPicPr>
          <p:cNvPr descr="image.png" id="158" name="Google Shape;158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86376" y="3390900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9" name="Google Shape;159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962376" y="3590925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0" name="Google Shape;160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962376" y="3790950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1" name="Google Shape;161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057876" y="3990975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2" name="Google Shape;162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962376" y="4191000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3" name="Google Shape;163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526339" y="3267075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18"/>
          <p:cNvSpPr txBox="1"/>
          <p:nvPr/>
        </p:nvSpPr>
        <p:spPr>
          <a:xfrm>
            <a:off x="9483476" y="4029075"/>
            <a:ext cx="6572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Serveur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9" name="Google Shape;169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34125" y="3026271"/>
            <a:ext cx="5286375" cy="1500782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9"/>
          <p:cNvSpPr txBox="1"/>
          <p:nvPr/>
        </p:nvSpPr>
        <p:spPr>
          <a:xfrm>
            <a:off x="571500" y="571500"/>
            <a:ext cx="11601450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2C3E50"/>
                </a:solidFill>
                <a:latin typeface="Roboto"/>
                <a:ea typeface="Roboto"/>
                <a:cs typeface="Roboto"/>
                <a:sym typeface="Roboto"/>
              </a:rPr>
              <a:t>6. mTLS : Non-présentation du certificat</a:t>
            </a:r>
            <a:endParaRPr/>
          </a:p>
        </p:txBody>
      </p:sp>
      <p:sp>
        <p:nvSpPr>
          <p:cNvPr id="171" name="Google Shape;171;p19"/>
          <p:cNvSpPr/>
          <p:nvPr/>
        </p:nvSpPr>
        <p:spPr>
          <a:xfrm>
            <a:off x="571500" y="1133475"/>
            <a:ext cx="11049000" cy="381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9"/>
          <p:cNvSpPr txBox="1"/>
          <p:nvPr/>
        </p:nvSpPr>
        <p:spPr>
          <a:xfrm>
            <a:off x="11563350" y="6515100"/>
            <a:ext cx="3429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99999"/>
                </a:solidFill>
                <a:latin typeface="Roboto"/>
                <a:ea typeface="Roboto"/>
                <a:cs typeface="Roboto"/>
                <a:sym typeface="Roboto"/>
              </a:rPr>
              <a:t>7 / 13</a:t>
            </a:r>
            <a:endParaRPr/>
          </a:p>
        </p:txBody>
      </p:sp>
      <p:sp>
        <p:nvSpPr>
          <p:cNvPr id="173" name="Google Shape;173;p19"/>
          <p:cNvSpPr txBox="1"/>
          <p:nvPr/>
        </p:nvSpPr>
        <p:spPr>
          <a:xfrm>
            <a:off x="571500" y="2743200"/>
            <a:ext cx="52863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Symptôme :</a:t>
            </a:r>
            <a:r>
              <a:rPr b="0" i="0" lang="en-US" sz="150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 Le serveur demande un certificat, mais Java envoie une chaîne vide.</a:t>
            </a:r>
            <a:endParaRPr/>
          </a:p>
        </p:txBody>
      </p:sp>
      <p:sp>
        <p:nvSpPr>
          <p:cNvPr id="174" name="Google Shape;174;p19"/>
          <p:cNvSpPr txBox="1"/>
          <p:nvPr/>
        </p:nvSpPr>
        <p:spPr>
          <a:xfrm>
            <a:off x="571500" y="3543300"/>
            <a:ext cx="52863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Cause :</a:t>
            </a:r>
            <a:r>
              <a:rPr b="0" i="0" lang="en-US" sz="150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 Keystore non configuré ou alias introuvable.</a:t>
            </a:r>
            <a:endParaRPr/>
          </a:p>
        </p:txBody>
      </p:sp>
      <p:sp>
        <p:nvSpPr>
          <p:cNvPr id="175" name="Google Shape;175;p19"/>
          <p:cNvSpPr/>
          <p:nvPr/>
        </p:nvSpPr>
        <p:spPr>
          <a:xfrm>
            <a:off x="571500" y="3990975"/>
            <a:ext cx="5286375" cy="1200150"/>
          </a:xfrm>
          <a:prstGeom prst="rect">
            <a:avLst/>
          </a:prstGeom>
          <a:solidFill>
            <a:srgbClr val="E8F6F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9"/>
          <p:cNvSpPr txBox="1"/>
          <p:nvPr/>
        </p:nvSpPr>
        <p:spPr>
          <a:xfrm>
            <a:off x="762000" y="4181475"/>
            <a:ext cx="4905375" cy="819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Solution :</a:t>
            </a:r>
            <a:r>
              <a:rPr b="0" i="0" lang="en-US" sz="13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Configurer les propriétés : 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-Djavax.net.ssl.keyStore=mon_keystore.jks 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-Djavax.net.ssl.keyStorePassword=changeit</a:t>
            </a:r>
            <a:endParaRPr/>
          </a:p>
        </p:txBody>
      </p:sp>
      <p:sp>
        <p:nvSpPr>
          <p:cNvPr id="177" name="Google Shape;177;p19"/>
          <p:cNvSpPr/>
          <p:nvPr/>
        </p:nvSpPr>
        <p:spPr>
          <a:xfrm>
            <a:off x="571500" y="3990975"/>
            <a:ext cx="57150" cy="120015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2" name="Google Shape;182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34125" y="3212901"/>
            <a:ext cx="5286375" cy="1127521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20"/>
          <p:cNvSpPr txBox="1"/>
          <p:nvPr/>
        </p:nvSpPr>
        <p:spPr>
          <a:xfrm>
            <a:off x="571500" y="571500"/>
            <a:ext cx="11601450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2C3E50"/>
                </a:solidFill>
                <a:latin typeface="Roboto"/>
                <a:ea typeface="Roboto"/>
                <a:cs typeface="Roboto"/>
                <a:sym typeface="Roboto"/>
              </a:rPr>
              <a:t>7. mTLS : Certificat non approuvé</a:t>
            </a:r>
            <a:endParaRPr/>
          </a:p>
        </p:txBody>
      </p:sp>
      <p:sp>
        <p:nvSpPr>
          <p:cNvPr id="184" name="Google Shape;184;p20"/>
          <p:cNvSpPr/>
          <p:nvPr/>
        </p:nvSpPr>
        <p:spPr>
          <a:xfrm>
            <a:off x="571500" y="1133475"/>
            <a:ext cx="11049000" cy="381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20"/>
          <p:cNvSpPr txBox="1"/>
          <p:nvPr/>
        </p:nvSpPr>
        <p:spPr>
          <a:xfrm>
            <a:off x="11563350" y="6515100"/>
            <a:ext cx="3429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99999"/>
                </a:solidFill>
                <a:latin typeface="Roboto"/>
                <a:ea typeface="Roboto"/>
                <a:cs typeface="Roboto"/>
                <a:sym typeface="Roboto"/>
              </a:rPr>
              <a:t>8 / 13</a:t>
            </a:r>
            <a:endParaRPr/>
          </a:p>
        </p:txBody>
      </p:sp>
      <p:sp>
        <p:nvSpPr>
          <p:cNvPr id="186" name="Google Shape;186;p20"/>
          <p:cNvSpPr txBox="1"/>
          <p:nvPr/>
        </p:nvSpPr>
        <p:spPr>
          <a:xfrm>
            <a:off x="571500" y="2847975"/>
            <a:ext cx="528637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Symptôme :</a:t>
            </a:r>
            <a:r>
              <a:rPr b="0" i="0" lang="en-US" sz="150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 Le client envoie bien son certificat, mais le serveur rejette la connexion car il ne connait pas l'émetteur (CA).</a:t>
            </a:r>
            <a:endParaRPr/>
          </a:p>
        </p:txBody>
      </p:sp>
      <p:sp>
        <p:nvSpPr>
          <p:cNvPr id="187" name="Google Shape;187;p20"/>
          <p:cNvSpPr/>
          <p:nvPr/>
        </p:nvSpPr>
        <p:spPr>
          <a:xfrm>
            <a:off x="571500" y="3905250"/>
            <a:ext cx="5286375" cy="1181100"/>
          </a:xfrm>
          <a:prstGeom prst="rect">
            <a:avLst/>
          </a:prstGeom>
          <a:solidFill>
            <a:srgbClr val="E8F6F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20"/>
          <p:cNvSpPr txBox="1"/>
          <p:nvPr/>
        </p:nvSpPr>
        <p:spPr>
          <a:xfrm>
            <a:off x="762000" y="4095750"/>
            <a:ext cx="4905375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Solution :</a:t>
            </a:r>
            <a:r>
              <a:rPr b="0" i="0" lang="en-US" sz="13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Ce n'est pas un problème côté client Java. 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Il faut exporter la partie publique du certificat client et l'importer dans le </a:t>
            </a:r>
            <a:r>
              <a:rPr b="1" i="0" lang="en-US" sz="13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Truststore du SERVEUR</a:t>
            </a:r>
            <a:r>
              <a:rPr b="0" i="0" lang="en-US" sz="13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en face.</a:t>
            </a:r>
            <a:endParaRPr/>
          </a:p>
        </p:txBody>
      </p:sp>
      <p:sp>
        <p:nvSpPr>
          <p:cNvPr id="189" name="Google Shape;189;p20"/>
          <p:cNvSpPr/>
          <p:nvPr/>
        </p:nvSpPr>
        <p:spPr>
          <a:xfrm>
            <a:off x="571500" y="3905250"/>
            <a:ext cx="57150" cy="11811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4" name="Google Shape;194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3676650"/>
            <a:ext cx="5286375" cy="2133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5" name="Google Shape;195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3212901"/>
            <a:ext cx="5286375" cy="1127521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21"/>
          <p:cNvSpPr txBox="1"/>
          <p:nvPr/>
        </p:nvSpPr>
        <p:spPr>
          <a:xfrm>
            <a:off x="571500" y="571500"/>
            <a:ext cx="11601450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2C3E50"/>
                </a:solidFill>
                <a:latin typeface="Roboto"/>
                <a:ea typeface="Roboto"/>
                <a:cs typeface="Roboto"/>
                <a:sym typeface="Roboto"/>
              </a:rPr>
              <a:t>8. Incompatibilité Algorithmique</a:t>
            </a:r>
            <a:endParaRPr/>
          </a:p>
        </p:txBody>
      </p:sp>
      <p:sp>
        <p:nvSpPr>
          <p:cNvPr id="197" name="Google Shape;197;p21"/>
          <p:cNvSpPr/>
          <p:nvPr/>
        </p:nvSpPr>
        <p:spPr>
          <a:xfrm>
            <a:off x="571500" y="1133475"/>
            <a:ext cx="11049000" cy="381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21"/>
          <p:cNvSpPr txBox="1"/>
          <p:nvPr/>
        </p:nvSpPr>
        <p:spPr>
          <a:xfrm>
            <a:off x="11563350" y="6515100"/>
            <a:ext cx="3429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99999"/>
                </a:solidFill>
                <a:latin typeface="Roboto"/>
                <a:ea typeface="Roboto"/>
                <a:cs typeface="Roboto"/>
                <a:sym typeface="Roboto"/>
              </a:rPr>
              <a:t>9 / 13</a:t>
            </a:r>
            <a:endParaRPr/>
          </a:p>
        </p:txBody>
      </p:sp>
      <p:sp>
        <p:nvSpPr>
          <p:cNvPr id="199" name="Google Shape;199;p21"/>
          <p:cNvSpPr txBox="1"/>
          <p:nvPr/>
        </p:nvSpPr>
        <p:spPr>
          <a:xfrm>
            <a:off x="571500" y="2124075"/>
            <a:ext cx="52863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Problème :</a:t>
            </a:r>
            <a:r>
              <a:rPr b="0" i="0" lang="en-US" sz="150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 Client et Serveur ne trouvent pas de langage commun (Cipher Suite).</a:t>
            </a:r>
            <a:endParaRPr/>
          </a:p>
        </p:txBody>
      </p:sp>
      <p:sp>
        <p:nvSpPr>
          <p:cNvPr id="200" name="Google Shape;200;p21"/>
          <p:cNvSpPr txBox="1"/>
          <p:nvPr/>
        </p:nvSpPr>
        <p:spPr>
          <a:xfrm>
            <a:off x="571500" y="2924175"/>
            <a:ext cx="52863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Cas fréquent :</a:t>
            </a:r>
            <a:r>
              <a:rPr b="0" i="0" lang="en-US" sz="150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 Java 8 update ancien (pas de GCM) vs Serveur moderne, ou Java 11+ vs Serveur ancien (RC4/3DES).</a:t>
            </a:r>
            <a:endParaRPr/>
          </a:p>
        </p:txBody>
      </p:sp>
      <p:sp>
        <p:nvSpPr>
          <p:cNvPr id="201" name="Google Shape;201;p21"/>
          <p:cNvSpPr txBox="1"/>
          <p:nvPr/>
        </p:nvSpPr>
        <p:spPr>
          <a:xfrm>
            <a:off x="819150" y="3867150"/>
            <a:ext cx="7239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Solution :</a:t>
            </a:r>
            <a:endParaRPr/>
          </a:p>
        </p:txBody>
      </p:sp>
      <p:sp>
        <p:nvSpPr>
          <p:cNvPr id="202" name="Google Shape;202;p21"/>
          <p:cNvSpPr txBox="1"/>
          <p:nvPr/>
        </p:nvSpPr>
        <p:spPr>
          <a:xfrm>
            <a:off x="1133475" y="4238625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•</a:t>
            </a:r>
            <a:endParaRPr/>
          </a:p>
        </p:txBody>
      </p:sp>
      <p:sp>
        <p:nvSpPr>
          <p:cNvPr id="203" name="Google Shape;203;p21"/>
          <p:cNvSpPr txBox="1"/>
          <p:nvPr/>
        </p:nvSpPr>
        <p:spPr>
          <a:xfrm>
            <a:off x="1200150" y="4238625"/>
            <a:ext cx="44672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Mettre à jour le JDK.</a:t>
            </a:r>
            <a:endParaRPr/>
          </a:p>
        </p:txBody>
      </p:sp>
      <p:sp>
        <p:nvSpPr>
          <p:cNvPr id="204" name="Google Shape;204;p21"/>
          <p:cNvSpPr txBox="1"/>
          <p:nvPr/>
        </p:nvSpPr>
        <p:spPr>
          <a:xfrm>
            <a:off x="1133475" y="4686300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•</a:t>
            </a:r>
            <a:endParaRPr/>
          </a:p>
        </p:txBody>
      </p:sp>
      <p:sp>
        <p:nvSpPr>
          <p:cNvPr id="205" name="Google Shape;205;p21"/>
          <p:cNvSpPr txBox="1"/>
          <p:nvPr/>
        </p:nvSpPr>
        <p:spPr>
          <a:xfrm>
            <a:off x="1200150" y="4686300"/>
            <a:ext cx="44672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Installer les </a:t>
            </a:r>
            <a:r>
              <a:rPr b="0" i="1" lang="en-US" sz="150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JCE Unlimited Strength Policy Files</a:t>
            </a:r>
            <a:r>
              <a:rPr b="0" i="0" lang="en-US" sz="150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/>
          </a:p>
        </p:txBody>
      </p:sp>
      <p:sp>
        <p:nvSpPr>
          <p:cNvPr id="206" name="Google Shape;206;p21"/>
          <p:cNvSpPr txBox="1"/>
          <p:nvPr/>
        </p:nvSpPr>
        <p:spPr>
          <a:xfrm>
            <a:off x="1133475" y="5133975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•</a:t>
            </a:r>
            <a:endParaRPr/>
          </a:p>
        </p:txBody>
      </p:sp>
      <p:sp>
        <p:nvSpPr>
          <p:cNvPr id="207" name="Google Shape;207;p21"/>
          <p:cNvSpPr txBox="1"/>
          <p:nvPr/>
        </p:nvSpPr>
        <p:spPr>
          <a:xfrm>
            <a:off x="1200150" y="5133975"/>
            <a:ext cx="446722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Vérifier jdk.tls.disabledAlgorithms.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2" name="Google Shape;212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34125" y="3026271"/>
            <a:ext cx="5286375" cy="1500782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22"/>
          <p:cNvSpPr txBox="1"/>
          <p:nvPr/>
        </p:nvSpPr>
        <p:spPr>
          <a:xfrm>
            <a:off x="571500" y="571500"/>
            <a:ext cx="11601450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2C3E50"/>
                </a:solidFill>
                <a:latin typeface="Roboto"/>
                <a:ea typeface="Roboto"/>
                <a:cs typeface="Roboto"/>
                <a:sym typeface="Roboto"/>
              </a:rPr>
              <a:t>9. Incompatibilité de Protocole (TLS)</a:t>
            </a:r>
            <a:endParaRPr/>
          </a:p>
        </p:txBody>
      </p:sp>
      <p:sp>
        <p:nvSpPr>
          <p:cNvPr id="214" name="Google Shape;214;p22"/>
          <p:cNvSpPr/>
          <p:nvPr/>
        </p:nvSpPr>
        <p:spPr>
          <a:xfrm>
            <a:off x="571500" y="1133475"/>
            <a:ext cx="11049000" cy="381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22"/>
          <p:cNvSpPr txBox="1"/>
          <p:nvPr/>
        </p:nvSpPr>
        <p:spPr>
          <a:xfrm>
            <a:off x="11487150" y="6515100"/>
            <a:ext cx="4191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99999"/>
                </a:solidFill>
                <a:latin typeface="Roboto"/>
                <a:ea typeface="Roboto"/>
                <a:cs typeface="Roboto"/>
                <a:sym typeface="Roboto"/>
              </a:rPr>
              <a:t>10 / 13</a:t>
            </a:r>
            <a:endParaRPr/>
          </a:p>
        </p:txBody>
      </p:sp>
      <p:sp>
        <p:nvSpPr>
          <p:cNvPr id="216" name="Google Shape;216;p22"/>
          <p:cNvSpPr txBox="1"/>
          <p:nvPr/>
        </p:nvSpPr>
        <p:spPr>
          <a:xfrm>
            <a:off x="571500" y="3095625"/>
            <a:ext cx="52863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Problème :</a:t>
            </a:r>
            <a:r>
              <a:rPr b="0" i="0" lang="en-US" sz="150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 Le serveur exige TLS 1.3 ou 1.2 minimum, mais le client force une version ancienne (TLS 1.0/1.1).</a:t>
            </a:r>
            <a:endParaRPr/>
          </a:p>
        </p:txBody>
      </p:sp>
      <p:sp>
        <p:nvSpPr>
          <p:cNvPr id="217" name="Google Shape;217;p22"/>
          <p:cNvSpPr/>
          <p:nvPr/>
        </p:nvSpPr>
        <p:spPr>
          <a:xfrm>
            <a:off x="571500" y="3848100"/>
            <a:ext cx="5286375" cy="990600"/>
          </a:xfrm>
          <a:prstGeom prst="rect">
            <a:avLst/>
          </a:prstGeom>
          <a:solidFill>
            <a:srgbClr val="E8F6F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22"/>
          <p:cNvSpPr txBox="1"/>
          <p:nvPr/>
        </p:nvSpPr>
        <p:spPr>
          <a:xfrm>
            <a:off x="762000" y="4038600"/>
            <a:ext cx="49053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Solution :</a:t>
            </a:r>
            <a:r>
              <a:rPr b="0" i="0" lang="en-US" sz="13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Forcer le protocole au démarrage : 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-Dhttps.protocols=TLSv1.2,TLSv1.3</a:t>
            </a:r>
            <a:endParaRPr/>
          </a:p>
        </p:txBody>
      </p:sp>
      <p:sp>
        <p:nvSpPr>
          <p:cNvPr id="219" name="Google Shape;219;p22"/>
          <p:cNvSpPr/>
          <p:nvPr/>
        </p:nvSpPr>
        <p:spPr>
          <a:xfrm>
            <a:off x="571500" y="3848100"/>
            <a:ext cx="57150" cy="9906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4" name="Google Shape;224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34125" y="3212901"/>
            <a:ext cx="5286375" cy="1127521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23"/>
          <p:cNvSpPr txBox="1"/>
          <p:nvPr/>
        </p:nvSpPr>
        <p:spPr>
          <a:xfrm>
            <a:off x="571500" y="571500"/>
            <a:ext cx="11601450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2C3E50"/>
                </a:solidFill>
                <a:latin typeface="Roboto"/>
                <a:ea typeface="Roboto"/>
                <a:cs typeface="Roboto"/>
                <a:sym typeface="Roboto"/>
              </a:rPr>
              <a:t>10. Erreurs Opaques (Broken Pipe / Reset)</a:t>
            </a:r>
            <a:endParaRPr/>
          </a:p>
        </p:txBody>
      </p:sp>
      <p:sp>
        <p:nvSpPr>
          <p:cNvPr id="226" name="Google Shape;226;p23"/>
          <p:cNvSpPr/>
          <p:nvPr/>
        </p:nvSpPr>
        <p:spPr>
          <a:xfrm>
            <a:off x="571500" y="1133475"/>
            <a:ext cx="11049000" cy="381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23"/>
          <p:cNvSpPr txBox="1"/>
          <p:nvPr/>
        </p:nvSpPr>
        <p:spPr>
          <a:xfrm>
            <a:off x="11487150" y="6515100"/>
            <a:ext cx="4191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99999"/>
                </a:solidFill>
                <a:latin typeface="Roboto"/>
                <a:ea typeface="Roboto"/>
                <a:cs typeface="Roboto"/>
                <a:sym typeface="Roboto"/>
              </a:rPr>
              <a:t>11 / 13</a:t>
            </a:r>
            <a:endParaRPr/>
          </a:p>
        </p:txBody>
      </p:sp>
      <p:sp>
        <p:nvSpPr>
          <p:cNvPr id="228" name="Google Shape;228;p23"/>
          <p:cNvSpPr txBox="1"/>
          <p:nvPr/>
        </p:nvSpPr>
        <p:spPr>
          <a:xfrm>
            <a:off x="571500" y="2119312"/>
            <a:ext cx="528637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Le contexte :</a:t>
            </a:r>
            <a:r>
              <a:rPr b="0" i="0" lang="en-US" sz="150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 Le handshake échoue brutalement. Le serveur coupe la connexion TCP (RST) sans envoyer d'alerte TLS explicite.</a:t>
            </a:r>
            <a:endParaRPr/>
          </a:p>
        </p:txBody>
      </p:sp>
      <p:sp>
        <p:nvSpPr>
          <p:cNvPr id="229" name="Google Shape;229;p23"/>
          <p:cNvSpPr txBox="1"/>
          <p:nvPr/>
        </p:nvSpPr>
        <p:spPr>
          <a:xfrm>
            <a:off x="571500" y="3224212"/>
            <a:ext cx="52863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Causes probables :</a:t>
            </a:r>
            <a:endParaRPr/>
          </a:p>
        </p:txBody>
      </p:sp>
      <p:sp>
        <p:nvSpPr>
          <p:cNvPr id="230" name="Google Shape;230;p23"/>
          <p:cNvSpPr/>
          <p:nvPr/>
        </p:nvSpPr>
        <p:spPr>
          <a:xfrm>
            <a:off x="571500" y="5033962"/>
            <a:ext cx="5286375" cy="781050"/>
          </a:xfrm>
          <a:prstGeom prst="rect">
            <a:avLst/>
          </a:prstGeom>
          <a:solidFill>
            <a:srgbClr val="E8F6F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23"/>
          <p:cNvSpPr txBox="1"/>
          <p:nvPr/>
        </p:nvSpPr>
        <p:spPr>
          <a:xfrm>
            <a:off x="762000" y="5224462"/>
            <a:ext cx="490537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Diagnostic :</a:t>
            </a:r>
            <a:r>
              <a:rPr b="0" i="0" lang="en-US" sz="13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Les logs Java sont inutiles ici. Il faut une trace réseau (Wireshark / Tcpdump).</a:t>
            </a:r>
            <a:endParaRPr/>
          </a:p>
        </p:txBody>
      </p:sp>
      <p:sp>
        <p:nvSpPr>
          <p:cNvPr id="232" name="Google Shape;232;p23"/>
          <p:cNvSpPr/>
          <p:nvPr/>
        </p:nvSpPr>
        <p:spPr>
          <a:xfrm>
            <a:off x="571500" y="5033962"/>
            <a:ext cx="57150" cy="78105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23"/>
          <p:cNvSpPr txBox="1"/>
          <p:nvPr/>
        </p:nvSpPr>
        <p:spPr>
          <a:xfrm>
            <a:off x="885825" y="3681412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•</a:t>
            </a:r>
            <a:endParaRPr/>
          </a:p>
        </p:txBody>
      </p:sp>
      <p:sp>
        <p:nvSpPr>
          <p:cNvPr id="234" name="Google Shape;234;p23"/>
          <p:cNvSpPr txBox="1"/>
          <p:nvPr/>
        </p:nvSpPr>
        <p:spPr>
          <a:xfrm>
            <a:off x="952500" y="3681412"/>
            <a:ext cx="49053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SNI Manquant :</a:t>
            </a:r>
            <a:r>
              <a:rPr b="0" i="0" lang="en-US" sz="150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 Serveur multisite.</a:t>
            </a:r>
            <a:endParaRPr/>
          </a:p>
        </p:txBody>
      </p:sp>
      <p:sp>
        <p:nvSpPr>
          <p:cNvPr id="235" name="Google Shape;235;p23"/>
          <p:cNvSpPr txBox="1"/>
          <p:nvPr/>
        </p:nvSpPr>
        <p:spPr>
          <a:xfrm>
            <a:off x="885825" y="4129087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•</a:t>
            </a:r>
            <a:endParaRPr/>
          </a:p>
        </p:txBody>
      </p:sp>
      <p:sp>
        <p:nvSpPr>
          <p:cNvPr id="236" name="Google Shape;236;p23"/>
          <p:cNvSpPr txBox="1"/>
          <p:nvPr/>
        </p:nvSpPr>
        <p:spPr>
          <a:xfrm>
            <a:off x="952500" y="4129087"/>
            <a:ext cx="49053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Firewall / DPI :</a:t>
            </a:r>
            <a:r>
              <a:rPr b="0" i="0" lang="en-US" sz="150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 Inspection qui rejette le ClientHello.</a:t>
            </a:r>
            <a:endParaRPr/>
          </a:p>
        </p:txBody>
      </p:sp>
      <p:sp>
        <p:nvSpPr>
          <p:cNvPr id="237" name="Google Shape;237;p23"/>
          <p:cNvSpPr txBox="1"/>
          <p:nvPr/>
        </p:nvSpPr>
        <p:spPr>
          <a:xfrm>
            <a:off x="885825" y="4576762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•</a:t>
            </a:r>
            <a:endParaRPr/>
          </a:p>
        </p:txBody>
      </p:sp>
      <p:sp>
        <p:nvSpPr>
          <p:cNvPr id="238" name="Google Shape;238;p23"/>
          <p:cNvSpPr txBox="1"/>
          <p:nvPr/>
        </p:nvSpPr>
        <p:spPr>
          <a:xfrm>
            <a:off x="952500" y="4576762"/>
            <a:ext cx="49053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Crash :</a:t>
            </a:r>
            <a:r>
              <a:rPr b="0" i="0" lang="en-US" sz="150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 Le serveur plante.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24"/>
          <p:cNvSpPr txBox="1"/>
          <p:nvPr/>
        </p:nvSpPr>
        <p:spPr>
          <a:xfrm>
            <a:off x="571500" y="571500"/>
            <a:ext cx="11601450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2C3E50"/>
                </a:solidFill>
                <a:latin typeface="Roboto"/>
                <a:ea typeface="Roboto"/>
                <a:cs typeface="Roboto"/>
                <a:sym typeface="Roboto"/>
              </a:rPr>
              <a:t>11. L'arme absolue : Debug Logs</a:t>
            </a:r>
            <a:endParaRPr/>
          </a:p>
        </p:txBody>
      </p:sp>
      <p:sp>
        <p:nvSpPr>
          <p:cNvPr id="244" name="Google Shape;244;p24"/>
          <p:cNvSpPr/>
          <p:nvPr/>
        </p:nvSpPr>
        <p:spPr>
          <a:xfrm>
            <a:off x="571500" y="1133475"/>
            <a:ext cx="11049000" cy="381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24"/>
          <p:cNvSpPr txBox="1"/>
          <p:nvPr/>
        </p:nvSpPr>
        <p:spPr>
          <a:xfrm>
            <a:off x="11487150" y="6515100"/>
            <a:ext cx="4191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99999"/>
                </a:solidFill>
                <a:latin typeface="Roboto"/>
                <a:ea typeface="Roboto"/>
                <a:cs typeface="Roboto"/>
                <a:sym typeface="Roboto"/>
              </a:rPr>
              <a:t>12 / 13</a:t>
            </a:r>
            <a:endParaRPr/>
          </a:p>
        </p:txBody>
      </p:sp>
      <p:sp>
        <p:nvSpPr>
          <p:cNvPr id="246" name="Google Shape;246;p24"/>
          <p:cNvSpPr txBox="1"/>
          <p:nvPr/>
        </p:nvSpPr>
        <p:spPr>
          <a:xfrm>
            <a:off x="571500" y="3043237"/>
            <a:ext cx="52863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Comment voir ce qui se passe sous le capot ?</a:t>
            </a:r>
            <a:endParaRPr/>
          </a:p>
        </p:txBody>
      </p:sp>
      <p:sp>
        <p:nvSpPr>
          <p:cNvPr id="247" name="Google Shape;247;p24"/>
          <p:cNvSpPr/>
          <p:nvPr/>
        </p:nvSpPr>
        <p:spPr>
          <a:xfrm>
            <a:off x="571500" y="3490912"/>
            <a:ext cx="5286375" cy="14001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24"/>
          <p:cNvSpPr txBox="1"/>
          <p:nvPr/>
        </p:nvSpPr>
        <p:spPr>
          <a:xfrm>
            <a:off x="762000" y="3681412"/>
            <a:ext cx="4905375" cy="1019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Activer les logs SSL :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-Djavax.net.debug=all (Tout)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-Djavax.net.debug=ssl:handshake (Handshake)</a:t>
            </a:r>
            <a:endParaRPr/>
          </a:p>
        </p:txBody>
      </p:sp>
      <p:sp>
        <p:nvSpPr>
          <p:cNvPr id="249" name="Google Shape;249;p24"/>
          <p:cNvSpPr/>
          <p:nvPr/>
        </p:nvSpPr>
        <p:spPr>
          <a:xfrm>
            <a:off x="571500" y="3490912"/>
            <a:ext cx="57150" cy="1400175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24"/>
          <p:cNvSpPr txBox="1"/>
          <p:nvPr/>
        </p:nvSpPr>
        <p:spPr>
          <a:xfrm>
            <a:off x="6334125" y="2819400"/>
            <a:ext cx="52863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Mots-clés à chercher (grep) :</a:t>
            </a:r>
            <a:endParaRPr/>
          </a:p>
        </p:txBody>
      </p:sp>
      <p:sp>
        <p:nvSpPr>
          <p:cNvPr id="251" name="Google Shape;251;p24"/>
          <p:cNvSpPr txBox="1"/>
          <p:nvPr/>
        </p:nvSpPr>
        <p:spPr>
          <a:xfrm>
            <a:off x="6648450" y="3276600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•</a:t>
            </a:r>
            <a:endParaRPr/>
          </a:p>
        </p:txBody>
      </p:sp>
      <p:sp>
        <p:nvSpPr>
          <p:cNvPr id="252" name="Google Shape;252;p24"/>
          <p:cNvSpPr txBox="1"/>
          <p:nvPr/>
        </p:nvSpPr>
        <p:spPr>
          <a:xfrm>
            <a:off x="6715125" y="3276600"/>
            <a:ext cx="490537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ClientHello : Ce que j'envoie (version TLS max, ciphers).</a:t>
            </a:r>
            <a:endParaRPr/>
          </a:p>
        </p:txBody>
      </p:sp>
      <p:sp>
        <p:nvSpPr>
          <p:cNvPr id="253" name="Google Shape;253;p24"/>
          <p:cNvSpPr txBox="1"/>
          <p:nvPr/>
        </p:nvSpPr>
        <p:spPr>
          <a:xfrm>
            <a:off x="6648450" y="3733800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•</a:t>
            </a:r>
            <a:endParaRPr/>
          </a:p>
        </p:txBody>
      </p:sp>
      <p:sp>
        <p:nvSpPr>
          <p:cNvPr id="254" name="Google Shape;254;p24"/>
          <p:cNvSpPr txBox="1"/>
          <p:nvPr/>
        </p:nvSpPr>
        <p:spPr>
          <a:xfrm>
            <a:off x="6715125" y="3733800"/>
            <a:ext cx="490537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ServerHello : Ce que le serveur a choisi.</a:t>
            </a:r>
            <a:endParaRPr/>
          </a:p>
        </p:txBody>
      </p:sp>
      <p:sp>
        <p:nvSpPr>
          <p:cNvPr id="255" name="Google Shape;255;p24"/>
          <p:cNvSpPr txBox="1"/>
          <p:nvPr/>
        </p:nvSpPr>
        <p:spPr>
          <a:xfrm>
            <a:off x="6648450" y="4191000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•</a:t>
            </a:r>
            <a:endParaRPr/>
          </a:p>
        </p:txBody>
      </p:sp>
      <p:sp>
        <p:nvSpPr>
          <p:cNvPr id="256" name="Google Shape;256;p24"/>
          <p:cNvSpPr txBox="1"/>
          <p:nvPr/>
        </p:nvSpPr>
        <p:spPr>
          <a:xfrm>
            <a:off x="6715125" y="4191000"/>
            <a:ext cx="490537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CertificateRequest : Le serveur demande-t-il du mTLS ?</a:t>
            </a:r>
            <a:endParaRPr/>
          </a:p>
        </p:txBody>
      </p:sp>
      <p:sp>
        <p:nvSpPr>
          <p:cNvPr id="257" name="Google Shape;257;p24"/>
          <p:cNvSpPr txBox="1"/>
          <p:nvPr/>
        </p:nvSpPr>
        <p:spPr>
          <a:xfrm>
            <a:off x="6648450" y="4648200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•</a:t>
            </a:r>
            <a:endParaRPr/>
          </a:p>
        </p:txBody>
      </p:sp>
      <p:sp>
        <p:nvSpPr>
          <p:cNvPr id="258" name="Google Shape;258;p24"/>
          <p:cNvSpPr txBox="1"/>
          <p:nvPr/>
        </p:nvSpPr>
        <p:spPr>
          <a:xfrm>
            <a:off x="6715125" y="4648200"/>
            <a:ext cx="490537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fatal : L'erreur précise.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3" name="Google Shape;263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34125" y="2462212"/>
            <a:ext cx="5286375" cy="2819400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25"/>
          <p:cNvSpPr txBox="1"/>
          <p:nvPr/>
        </p:nvSpPr>
        <p:spPr>
          <a:xfrm>
            <a:off x="571500" y="571500"/>
            <a:ext cx="11601450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2C3E50"/>
                </a:solidFill>
                <a:latin typeface="Roboto"/>
                <a:ea typeface="Roboto"/>
                <a:cs typeface="Roboto"/>
                <a:sym typeface="Roboto"/>
              </a:rPr>
              <a:t>Résumé pour le développeur</a:t>
            </a:r>
            <a:endParaRPr/>
          </a:p>
        </p:txBody>
      </p:sp>
      <p:sp>
        <p:nvSpPr>
          <p:cNvPr id="265" name="Google Shape;265;p25"/>
          <p:cNvSpPr/>
          <p:nvPr/>
        </p:nvSpPr>
        <p:spPr>
          <a:xfrm>
            <a:off x="571500" y="1133475"/>
            <a:ext cx="11049000" cy="381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25"/>
          <p:cNvSpPr txBox="1"/>
          <p:nvPr/>
        </p:nvSpPr>
        <p:spPr>
          <a:xfrm>
            <a:off x="11487150" y="6515100"/>
            <a:ext cx="4191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99999"/>
                </a:solidFill>
                <a:latin typeface="Roboto"/>
                <a:ea typeface="Roboto"/>
                <a:cs typeface="Roboto"/>
                <a:sym typeface="Roboto"/>
              </a:rPr>
              <a:t>13 / 13</a:t>
            </a:r>
            <a:endParaRPr/>
          </a:p>
        </p:txBody>
      </p:sp>
      <p:sp>
        <p:nvSpPr>
          <p:cNvPr id="267" name="Google Shape;267;p25"/>
          <p:cNvSpPr txBox="1"/>
          <p:nvPr/>
        </p:nvSpPr>
        <p:spPr>
          <a:xfrm>
            <a:off x="571500" y="2686050"/>
            <a:ext cx="52863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En cas d'erreur SSL, suivez cette checklist :</a:t>
            </a:r>
            <a:endParaRPr/>
          </a:p>
        </p:txBody>
      </p:sp>
      <p:sp>
        <p:nvSpPr>
          <p:cNvPr id="268" name="Google Shape;268;p25"/>
          <p:cNvSpPr txBox="1"/>
          <p:nvPr/>
        </p:nvSpPr>
        <p:spPr>
          <a:xfrm>
            <a:off x="800100" y="3143250"/>
            <a:ext cx="1524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1.</a:t>
            </a:r>
            <a:endParaRPr/>
          </a:p>
        </p:txBody>
      </p:sp>
      <p:sp>
        <p:nvSpPr>
          <p:cNvPr id="269" name="Google Shape;269;p25"/>
          <p:cNvSpPr txBox="1"/>
          <p:nvPr/>
        </p:nvSpPr>
        <p:spPr>
          <a:xfrm>
            <a:off x="952500" y="3143250"/>
            <a:ext cx="49053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524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Identifier l'erreur :</a:t>
            </a:r>
            <a:r>
              <a:rPr b="0" i="0" lang="en-US" sz="150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 Trust ? Handshake ? Broken Pipe ?</a:t>
            </a:r>
            <a:endParaRPr/>
          </a:p>
        </p:txBody>
      </p:sp>
      <p:sp>
        <p:nvSpPr>
          <p:cNvPr id="270" name="Google Shape;270;p25"/>
          <p:cNvSpPr txBox="1"/>
          <p:nvPr/>
        </p:nvSpPr>
        <p:spPr>
          <a:xfrm>
            <a:off x="800100" y="3590925"/>
            <a:ext cx="1524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2.</a:t>
            </a:r>
            <a:endParaRPr/>
          </a:p>
        </p:txBody>
      </p:sp>
      <p:sp>
        <p:nvSpPr>
          <p:cNvPr id="271" name="Google Shape;271;p25"/>
          <p:cNvSpPr txBox="1"/>
          <p:nvPr/>
        </p:nvSpPr>
        <p:spPr>
          <a:xfrm>
            <a:off x="952500" y="3590925"/>
            <a:ext cx="4905375" cy="1057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524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Vérifier les identités :</a:t>
            </a:r>
            <a:endParaRPr/>
          </a:p>
        </p:txBody>
      </p:sp>
      <p:sp>
        <p:nvSpPr>
          <p:cNvPr id="272" name="Google Shape;272;p25"/>
          <p:cNvSpPr txBox="1"/>
          <p:nvPr/>
        </p:nvSpPr>
        <p:spPr>
          <a:xfrm>
            <a:off x="800100" y="4791075"/>
            <a:ext cx="1524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3.</a:t>
            </a:r>
            <a:endParaRPr/>
          </a:p>
        </p:txBody>
      </p:sp>
      <p:sp>
        <p:nvSpPr>
          <p:cNvPr id="273" name="Google Shape;273;p25"/>
          <p:cNvSpPr txBox="1"/>
          <p:nvPr/>
        </p:nvSpPr>
        <p:spPr>
          <a:xfrm>
            <a:off x="952500" y="4791075"/>
            <a:ext cx="49053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524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Vérifier la compatibilité :</a:t>
            </a:r>
            <a:r>
              <a:rPr b="0" i="0" lang="en-US" sz="150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 Versions TLS et Ciphers.</a:t>
            </a:r>
            <a:endParaRPr/>
          </a:p>
        </p:txBody>
      </p:sp>
      <p:sp>
        <p:nvSpPr>
          <p:cNvPr id="274" name="Google Shape;274;p25"/>
          <p:cNvSpPr txBox="1"/>
          <p:nvPr/>
        </p:nvSpPr>
        <p:spPr>
          <a:xfrm>
            <a:off x="6581775" y="2652712"/>
            <a:ext cx="48482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Outils Indispensables :</a:t>
            </a:r>
            <a:endParaRPr/>
          </a:p>
        </p:txBody>
      </p:sp>
      <p:sp>
        <p:nvSpPr>
          <p:cNvPr id="275" name="Google Shape;275;p25"/>
          <p:cNvSpPr/>
          <p:nvPr/>
        </p:nvSpPr>
        <p:spPr>
          <a:xfrm>
            <a:off x="6581775" y="3052762"/>
            <a:ext cx="4848225" cy="9525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25"/>
          <p:cNvSpPr txBox="1"/>
          <p:nvPr/>
        </p:nvSpPr>
        <p:spPr>
          <a:xfrm>
            <a:off x="6896100" y="3233737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•</a:t>
            </a:r>
            <a:endParaRPr/>
          </a:p>
        </p:txBody>
      </p:sp>
      <p:sp>
        <p:nvSpPr>
          <p:cNvPr id="277" name="Google Shape;277;p25"/>
          <p:cNvSpPr txBox="1"/>
          <p:nvPr/>
        </p:nvSpPr>
        <p:spPr>
          <a:xfrm>
            <a:off x="6962775" y="3233737"/>
            <a:ext cx="446722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keytool -list -v</a:t>
            </a:r>
            <a:endParaRPr/>
          </a:p>
        </p:txBody>
      </p:sp>
      <p:sp>
        <p:nvSpPr>
          <p:cNvPr id="278" name="Google Shape;278;p25"/>
          <p:cNvSpPr txBox="1"/>
          <p:nvPr/>
        </p:nvSpPr>
        <p:spPr>
          <a:xfrm>
            <a:off x="6896100" y="3690937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•</a:t>
            </a:r>
            <a:endParaRPr/>
          </a:p>
        </p:txBody>
      </p:sp>
      <p:sp>
        <p:nvSpPr>
          <p:cNvPr id="279" name="Google Shape;279;p25"/>
          <p:cNvSpPr txBox="1"/>
          <p:nvPr/>
        </p:nvSpPr>
        <p:spPr>
          <a:xfrm>
            <a:off x="6962775" y="3690937"/>
            <a:ext cx="446722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openssl s_client -connect host:port</a:t>
            </a:r>
            <a:endParaRPr/>
          </a:p>
        </p:txBody>
      </p:sp>
      <p:sp>
        <p:nvSpPr>
          <p:cNvPr id="280" name="Google Shape;280;p25"/>
          <p:cNvSpPr txBox="1"/>
          <p:nvPr/>
        </p:nvSpPr>
        <p:spPr>
          <a:xfrm>
            <a:off x="6896100" y="4148137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•</a:t>
            </a:r>
            <a:endParaRPr/>
          </a:p>
        </p:txBody>
      </p:sp>
      <p:sp>
        <p:nvSpPr>
          <p:cNvPr id="281" name="Google Shape;281;p25"/>
          <p:cNvSpPr txBox="1"/>
          <p:nvPr/>
        </p:nvSpPr>
        <p:spPr>
          <a:xfrm>
            <a:off x="6962775" y="4148137"/>
            <a:ext cx="446722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curl -v https://host</a:t>
            </a:r>
            <a:endParaRPr/>
          </a:p>
        </p:txBody>
      </p:sp>
      <p:sp>
        <p:nvSpPr>
          <p:cNvPr id="282" name="Google Shape;282;p25"/>
          <p:cNvSpPr txBox="1"/>
          <p:nvPr/>
        </p:nvSpPr>
        <p:spPr>
          <a:xfrm>
            <a:off x="6896100" y="4605337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•</a:t>
            </a:r>
            <a:endParaRPr/>
          </a:p>
        </p:txBody>
      </p:sp>
      <p:sp>
        <p:nvSpPr>
          <p:cNvPr id="283" name="Google Shape;283;p25"/>
          <p:cNvSpPr txBox="1"/>
          <p:nvPr/>
        </p:nvSpPr>
        <p:spPr>
          <a:xfrm>
            <a:off x="6962775" y="4605337"/>
            <a:ext cx="446722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-Djavax.net.debug=all</a:t>
            </a:r>
            <a:endParaRPr/>
          </a:p>
        </p:txBody>
      </p:sp>
      <p:sp>
        <p:nvSpPr>
          <p:cNvPr id="284" name="Google Shape;284;p25"/>
          <p:cNvSpPr txBox="1"/>
          <p:nvPr/>
        </p:nvSpPr>
        <p:spPr>
          <a:xfrm>
            <a:off x="1219200" y="3895725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○</a:t>
            </a:r>
            <a:endParaRPr/>
          </a:p>
        </p:txBody>
      </p:sp>
      <p:sp>
        <p:nvSpPr>
          <p:cNvPr id="285" name="Google Shape;285;p25"/>
          <p:cNvSpPr txBox="1"/>
          <p:nvPr/>
        </p:nvSpPr>
        <p:spPr>
          <a:xfrm>
            <a:off x="1333500" y="3895725"/>
            <a:ext cx="45243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Serveur public -&gt; Truststore à jour ?</a:t>
            </a:r>
            <a:endParaRPr/>
          </a:p>
        </p:txBody>
      </p:sp>
      <p:sp>
        <p:nvSpPr>
          <p:cNvPr id="286" name="Google Shape;286;p25"/>
          <p:cNvSpPr txBox="1"/>
          <p:nvPr/>
        </p:nvSpPr>
        <p:spPr>
          <a:xfrm>
            <a:off x="1219200" y="4343400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○</a:t>
            </a:r>
            <a:endParaRPr/>
          </a:p>
        </p:txBody>
      </p:sp>
      <p:sp>
        <p:nvSpPr>
          <p:cNvPr id="287" name="Google Shape;287;p25"/>
          <p:cNvSpPr txBox="1"/>
          <p:nvPr/>
        </p:nvSpPr>
        <p:spPr>
          <a:xfrm>
            <a:off x="1333500" y="4343400"/>
            <a:ext cx="45243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mTLS requis -&gt; Keystore configuré ?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