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ExtraBold" panose="020B0604020202020204" charset="0"/>
      <p:bold r:id="rId17"/>
      <p:boldItalic r:id="rId18"/>
    </p:embeddedFont>
    <p:embeddedFont>
      <p:font typeface="Inter SemiBold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978" y="3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795462" y="2358479"/>
            <a:ext cx="8601075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DevOps : Briser les Silos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000250" y="3379440"/>
            <a:ext cx="81915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Philosophie et Pratiques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Java / Angular / K8s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5487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05012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866775" y="2624137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Conflit d'intérêts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Les Développeurs sont incentivés sur le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changement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(nouvelles features), tandis que les Ops le sont sur la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stabilité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66775" y="372903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Silos Hermétiques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Le code est "jeté par-dessus le mur" aux Ops pour le déploiement.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66775" y="452913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Conséquences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Déploiements risqués, "Finger pointing" en cas de bug, Time-to-market lent.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81025" y="2624137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&gt;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3729037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&gt;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4529137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&gt;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581025"/>
            <a:ext cx="11381422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Le Contexte : Le "Mur de la Confusion"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81025" y="581025"/>
            <a:ext cx="47625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38362"/>
            <a:ext cx="2543175" cy="352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9950" y="2138362"/>
            <a:ext cx="2543175" cy="352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138362"/>
            <a:ext cx="2543175" cy="352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67800" y="2138362"/>
            <a:ext cx="2543175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827484" y="3186112"/>
            <a:ext cx="205025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Culture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76300" y="3652837"/>
            <a:ext cx="19526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Responsabilité partagée. "You build it, you run it". Fin du blâme.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3656409" y="3186112"/>
            <a:ext cx="205025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Automation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3705225" y="3652837"/>
            <a:ext cx="19526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Éliminer le travail manuel répétitif. Tout ce qui peut être scripté doit l'être.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485334" y="3186112"/>
            <a:ext cx="205025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Measurement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534150" y="3652837"/>
            <a:ext cx="195262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Métriques techniques (CPU, RAM) et Business (Taux de conversion).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314259" y="3186112"/>
            <a:ext cx="205025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Sharing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363075" y="3652837"/>
            <a:ext cx="19526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Partage des connaissances, des outils et des succès entre équipes.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66862" y="248126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95787" y="248126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81862" y="24812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139362" y="248126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771525" y="581025"/>
            <a:ext cx="11381422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La Philosophie C.A.M.S.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81025" y="581025"/>
            <a:ext cx="47625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95487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6381750" y="2228850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Une boucle de rétroaction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381750" y="263842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 DevOps n'est pas linéaire. C'est un cycle continu d'amélioration.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667500" y="3781425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 (Gauche)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Plan, Code, Build, Test.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667500" y="4276725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Ops (Droite)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Release, Deploy, Operate, Monitor.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667500" y="477202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Feedback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Le Monitoring en prod informe le Planning du prochain sprint.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381750" y="3781425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&gt;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381750" y="4276725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&gt;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381750" y="4772025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&gt;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71525" y="581025"/>
            <a:ext cx="11381422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Le Cycle de Vie Infini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81025" y="581025"/>
            <a:ext cx="47625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/>
          <p:nvPr/>
        </p:nvSpPr>
        <p:spPr>
          <a:xfrm>
            <a:off x="581025" y="1965126"/>
            <a:ext cx="5372100" cy="1792485"/>
          </a:xfrm>
          <a:prstGeom prst="roundRect">
            <a:avLst>
              <a:gd name="adj" fmla="val 4251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1343025" y="2203251"/>
            <a:ext cx="4371975" cy="131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CI / CD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Intégration et Déploiement Continus. Automatisation du pipeline de la validation du code jusqu'à la production.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6238875" y="1965126"/>
            <a:ext cx="5372100" cy="1792485"/>
          </a:xfrm>
          <a:prstGeom prst="roundRect">
            <a:avLst>
              <a:gd name="adj" fmla="val 4251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7000875" y="2203251"/>
            <a:ext cx="4371975" cy="131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Infrastructure as Code (IaC)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Gérer l'infrastructure (serveurs, réseaux) via des fichiers de configuration versionnés (ex: Terraform, Ansible).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81025" y="4043362"/>
            <a:ext cx="5372100" cy="1792485"/>
          </a:xfrm>
          <a:prstGeom prst="roundRect">
            <a:avLst>
              <a:gd name="adj" fmla="val 4251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1343025" y="4281487"/>
            <a:ext cx="4371975" cy="131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Conteneurisation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Packager l'application avec ses dépendances pour garantir qu'elle tourne partout de la même façon (Docker, K8s).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6238875" y="4043362"/>
            <a:ext cx="5372100" cy="1792485"/>
          </a:xfrm>
          <a:prstGeom prst="roundRect">
            <a:avLst>
              <a:gd name="adj" fmla="val 4251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7000875" y="4281487"/>
            <a:ext cx="4371975" cy="131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Observabilité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Aller au-delà du monitoring simple : Logs centralisés, Tracing distribué et Métriques en temps réel.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581025" y="3748087"/>
            <a:ext cx="53721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238875" y="3748087"/>
            <a:ext cx="53721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81025" y="5826323"/>
            <a:ext cx="53721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6238875" y="5826323"/>
            <a:ext cx="53721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8675" y="220801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86525" y="2208014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8675" y="4286250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86525" y="4286250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771525" y="581025"/>
            <a:ext cx="11381422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Les Piliers Techniques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81025" y="581025"/>
            <a:ext cx="47625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5487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581025" y="2095500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Architecture Microservices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81025" y="250507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Déploiement d'une application "Full Stack" moderne sur le Cloud.</a:t>
            </a:r>
            <a:endParaRPr/>
          </a:p>
        </p:txBody>
      </p:sp>
      <p:pic>
        <p:nvPicPr>
          <p:cNvPr id="172" name="Google Shape;17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05012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1038225" y="3725396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Frontend 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Angular (SPA)</a:t>
            </a:r>
            <a:endParaRPr dirty="0"/>
          </a:p>
        </p:txBody>
      </p:sp>
      <p:sp>
        <p:nvSpPr>
          <p:cNvPr id="174" name="Google Shape;174;p18"/>
          <p:cNvSpPr txBox="1"/>
          <p:nvPr/>
        </p:nvSpPr>
        <p:spPr>
          <a:xfrm>
            <a:off x="1019175" y="4220696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Backend 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Java Spring Boot</a:t>
            </a:r>
            <a:endParaRPr dirty="0"/>
          </a:p>
        </p:txBody>
      </p:sp>
      <p:sp>
        <p:nvSpPr>
          <p:cNvPr id="175" name="Google Shape;175;p18"/>
          <p:cNvSpPr txBox="1"/>
          <p:nvPr/>
        </p:nvSpPr>
        <p:spPr>
          <a:xfrm>
            <a:off x="1038224" y="4706751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Pipeline 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GitLab CI/CD</a:t>
            </a:r>
            <a:endParaRPr dirty="0"/>
          </a:p>
        </p:txBody>
      </p:sp>
      <p:sp>
        <p:nvSpPr>
          <p:cNvPr id="176" name="Google Shape;176;p18"/>
          <p:cNvSpPr txBox="1"/>
          <p:nvPr/>
        </p:nvSpPr>
        <p:spPr>
          <a:xfrm>
            <a:off x="1057275" y="5225303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Orchestrateur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Kubernetes</a:t>
            </a:r>
            <a:endParaRPr dirty="0"/>
          </a:p>
        </p:txBody>
      </p:sp>
      <p:sp>
        <p:nvSpPr>
          <p:cNvPr id="177" name="Google Shape;177;p18"/>
          <p:cNvSpPr txBox="1"/>
          <p:nvPr/>
        </p:nvSpPr>
        <p:spPr>
          <a:xfrm>
            <a:off x="581025" y="3705225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&gt;</a:t>
            </a:r>
            <a:endParaRPr dirty="0"/>
          </a:p>
        </p:txBody>
      </p:sp>
      <p:sp>
        <p:nvSpPr>
          <p:cNvPr id="178" name="Google Shape;178;p18"/>
          <p:cNvSpPr txBox="1"/>
          <p:nvPr/>
        </p:nvSpPr>
        <p:spPr>
          <a:xfrm>
            <a:off x="581025" y="4200525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&gt;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581025" y="4695825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&gt;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581025" y="5191125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&gt;</a:t>
            </a:r>
            <a:endParaRPr/>
          </a:p>
        </p:txBody>
      </p:sp>
      <p:pic>
        <p:nvPicPr>
          <p:cNvPr id="181" name="Google Shape;18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8675" y="382092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8675" y="4316226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8675" y="481152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8675" y="5306826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771525" y="581025"/>
            <a:ext cx="11381422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Cas </a:t>
            </a:r>
            <a:r>
              <a:rPr lang="en-US" sz="3600" b="1" i="0" u="none" strike="noStrike" cap="none" dirty="0" err="1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d’une</a:t>
            </a:r>
            <a:r>
              <a:rPr lang="en-US" sz="360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application full-stack</a:t>
            </a:r>
            <a:endParaRPr dirty="0"/>
          </a:p>
        </p:txBody>
      </p:sp>
      <p:sp>
        <p:nvSpPr>
          <p:cNvPr id="186" name="Google Shape;186;p18"/>
          <p:cNvSpPr/>
          <p:nvPr/>
        </p:nvSpPr>
        <p:spPr>
          <a:xfrm>
            <a:off x="581025" y="581025"/>
            <a:ext cx="47625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3;p18">
            <a:extLst>
              <a:ext uri="{FF2B5EF4-FFF2-40B4-BE49-F238E27FC236}">
                <a16:creationId xmlns:a16="http://schemas.microsoft.com/office/drawing/2014/main" id="{1D72A842-BBE8-E2B8-5D57-C4EA12276930}"/>
              </a:ext>
            </a:extLst>
          </p:cNvPr>
          <p:cNvSpPr txBox="1"/>
          <p:nvPr/>
        </p:nvSpPr>
        <p:spPr>
          <a:xfrm>
            <a:off x="1038225" y="5761364"/>
            <a:ext cx="49434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Monitoring 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Grafana / ELK</a:t>
            </a:r>
            <a:endParaRPr dirty="0"/>
          </a:p>
        </p:txBody>
      </p:sp>
      <p:sp>
        <p:nvSpPr>
          <p:cNvPr id="3" name="Google Shape;177;p18">
            <a:extLst>
              <a:ext uri="{FF2B5EF4-FFF2-40B4-BE49-F238E27FC236}">
                <a16:creationId xmlns:a16="http://schemas.microsoft.com/office/drawing/2014/main" id="{EFF70644-EFA7-C948-386C-C7AA7CE89691}"/>
              </a:ext>
            </a:extLst>
          </p:cNvPr>
          <p:cNvSpPr txBox="1"/>
          <p:nvPr/>
        </p:nvSpPr>
        <p:spPr>
          <a:xfrm>
            <a:off x="581025" y="5741193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&gt;</a:t>
            </a:r>
            <a:endParaRPr dirty="0"/>
          </a:p>
        </p:txBody>
      </p:sp>
      <p:pic>
        <p:nvPicPr>
          <p:cNvPr id="1028" name="Picture 4" descr="Elastic Stack Logo PNG Transparent &amp; SVG Vector - Freebie Supply">
            <a:extLst>
              <a:ext uri="{FF2B5EF4-FFF2-40B4-BE49-F238E27FC236}">
                <a16:creationId xmlns:a16="http://schemas.microsoft.com/office/drawing/2014/main" id="{5E94D627-E850-1B1F-D22A-C4E4FFF72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675" y="5784525"/>
            <a:ext cx="300500" cy="3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962025" y="771525"/>
            <a:ext cx="4590573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Le Pipeline CI (GitLab)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771525" y="771525"/>
            <a:ext cx="47625" cy="11239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771525" y="2466975"/>
            <a:ext cx="4562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Dès qu'un développeur git push, GitLab déclenche le pipeline défini dans .gitlab-ci.yml.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209675" y="3952875"/>
            <a:ext cx="410696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dirty="0"/>
          </a:p>
        </p:txBody>
      </p:sp>
      <p:sp>
        <p:nvSpPr>
          <p:cNvPr id="197" name="Google Shape;197;p19"/>
          <p:cNvSpPr txBox="1"/>
          <p:nvPr/>
        </p:nvSpPr>
        <p:spPr>
          <a:xfrm>
            <a:off x="1255143" y="3855482"/>
            <a:ext cx="469190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Build &amp; Test 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Compilation Java (Maven) et Build Angular (NPM).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Exécution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des tests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unitaires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98" name="Google Shape;198;p19"/>
          <p:cNvSpPr txBox="1"/>
          <p:nvPr/>
        </p:nvSpPr>
        <p:spPr>
          <a:xfrm>
            <a:off x="1171574" y="4867275"/>
            <a:ext cx="321049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dirty="0"/>
          </a:p>
        </p:txBody>
      </p:sp>
      <p:sp>
        <p:nvSpPr>
          <p:cNvPr id="199" name="Google Shape;199;p19"/>
          <p:cNvSpPr txBox="1"/>
          <p:nvPr/>
        </p:nvSpPr>
        <p:spPr>
          <a:xfrm>
            <a:off x="1209675" y="4758116"/>
            <a:ext cx="427000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Security Scan 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Analyse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statique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du code (SAST) pour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détecter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les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failles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00" name="Google Shape;200;p19"/>
          <p:cNvSpPr txBox="1"/>
          <p:nvPr/>
        </p:nvSpPr>
        <p:spPr>
          <a:xfrm>
            <a:off x="1171574" y="5586034"/>
            <a:ext cx="32104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dirty="0"/>
          </a:p>
        </p:txBody>
      </p:sp>
      <p:sp>
        <p:nvSpPr>
          <p:cNvPr id="201" name="Google Shape;201;p19"/>
          <p:cNvSpPr txBox="1"/>
          <p:nvPr/>
        </p:nvSpPr>
        <p:spPr>
          <a:xfrm>
            <a:off x="1216678" y="5479018"/>
            <a:ext cx="459057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Package 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Création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des images Docker (Container Registry).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5487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243262"/>
            <a:ext cx="5229225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581025" y="2252662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GitLab se connecte au cluster Kubernetes pour appliquer les changements (Rolling Update).</a:t>
            </a:r>
            <a:endParaRPr/>
          </a:p>
        </p:txBody>
      </p:sp>
      <p:pic>
        <p:nvPicPr>
          <p:cNvPr id="210" name="Google Shape;21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2005012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1066800" y="4052887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Pods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3 répliques de l'API Java (Haute Dispo).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1066800" y="4548187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Service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Load Balancer interne.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1066800" y="5043487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Ingress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Exposition HTTPS sécurisée.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781050" y="4052887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&gt;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781050" y="4548187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&gt;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781050" y="5043487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&gt;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771525" y="581025"/>
            <a:ext cx="11381422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Déploiement Continu (CD) sur K8s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81025" y="581025"/>
            <a:ext cx="47625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24000"/>
            <a:ext cx="1102995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581025" y="4795837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L'automatisation réduit drastiquement le "Lead Time" et les risques d'erreur humaine.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771525" y="581025"/>
            <a:ext cx="11381422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Impact : Avant vs Après DevOps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581025" y="581025"/>
            <a:ext cx="47625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3730704" y="2266057"/>
            <a:ext cx="4730591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Questions ?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3843337" y="3494782"/>
            <a:ext cx="45053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Merci de votre attention.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3843337" y="4363342"/>
            <a:ext cx="4505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   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contact@atomdashboard.app</a:t>
            </a:r>
            <a:endParaRPr dirty="0"/>
          </a:p>
        </p:txBody>
      </p:sp>
      <p:pic>
        <p:nvPicPr>
          <p:cNvPr id="236" name="Google Shape;23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4875" y="4382392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514</Words>
  <Application>Microsoft Office PowerPoint</Application>
  <PresentationFormat>Grand écran</PresentationFormat>
  <Paragraphs>66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Inter ExtraBold</vt:lpstr>
      <vt:lpstr>Inter</vt:lpstr>
      <vt:lpstr>Inter SemiBold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larbi bougoufa</cp:lastModifiedBy>
  <cp:revision>4</cp:revision>
  <dcterms:modified xsi:type="dcterms:W3CDTF">2026-02-06T12:49:00Z</dcterms:modified>
</cp:coreProperties>
</file>