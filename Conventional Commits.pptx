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9AC0D7E-B250-4DB0-96F3-7B9A4C10C892}">
  <a:tblStyle styleId="{C9AC0D7E-B250-4DB0-96F3-7B9A4C10C8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78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95512" y="2746027"/>
            <a:ext cx="780097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Conventional </a:t>
            </a:r>
            <a:r>
              <a:rPr lang="en-US" sz="5250" b="1" i="0" u="none" strike="noStrike" cap="none">
                <a:solidFill>
                  <a:srgbClr val="56D364"/>
                </a:solidFill>
                <a:latin typeface="Inter"/>
                <a:ea typeface="Inter"/>
                <a:cs typeface="Inter"/>
                <a:sym typeface="Inter"/>
              </a:rPr>
              <a:t>Commits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81250" y="3746152"/>
            <a:ext cx="7429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La norme de commit message du web pour des équipes alignées.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90662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1490662"/>
            <a:ext cx="5276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Avez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-vous déjà vu un                 qui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ressemble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à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ça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?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3776662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Les conséquences 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5919787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solution : Une grammaire commune.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50179" y="1559957"/>
            <a:ext cx="8477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19150" y="422433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Historique illisible et inutile.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19150" y="46720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Impossibilité de savoir rapidement ce qui est en production.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19150" y="54244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Génération de changelog manuelle et douloureuse.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19383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66912"/>
            <a:ext cx="6381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81025" y="23860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414587"/>
            <a:ext cx="952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28336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862262"/>
            <a:ext cx="1476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81025" y="32813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3309937"/>
            <a:ext cx="18954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81025" y="42243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81025" y="46720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81025" y="54244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81025" y="490537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 chaos des logs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81025" y="1100137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81150"/>
            <a:ext cx="34226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581150"/>
            <a:ext cx="34226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1581150"/>
            <a:ext cx="342260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23925" y="2628900"/>
            <a:ext cx="107013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Origine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23925" y="3114675"/>
            <a:ext cx="2736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Fortement inspiré par les conventions établies par l'équipe </a:t>
            </a: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Angular</a:t>
            </a: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pour gérer leurs propres dépôts de code massifs.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727525" y="2628900"/>
            <a:ext cx="143017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Définition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727525" y="3114675"/>
            <a:ext cx="273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C'est une </a:t>
            </a: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spécification légère</a:t>
            </a: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qui s'applique au-dessus des messages de commit classiques pour leur donner une structure prédictible.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531125" y="2628900"/>
            <a:ext cx="117014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Objectif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531125" y="3114675"/>
            <a:ext cx="2736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Rendre l'historique de code lisible à la fois par les </a:t>
            </a: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humains</a:t>
            </a: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(les développeurs) et par les </a:t>
            </a: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machines</a:t>
            </a: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(les outils CI/CD).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19621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27525" y="196215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31125" y="19621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Qu'est-ce que Conventional Commits ?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90662"/>
            <a:ext cx="527685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90662"/>
            <a:ext cx="527685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971550" y="2767012"/>
            <a:ext cx="472059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La Syntaxe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971550" y="3205162"/>
            <a:ext cx="44958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724650" y="1881187"/>
            <a:ext cx="472059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L'Explication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6724650" y="2319337"/>
            <a:ext cx="44958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724650" y="251936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Un message valide est composé :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269527" y="3569493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type</a:t>
            </a:r>
            <a:endParaRPr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3797774" y="3562491"/>
            <a:ext cx="1152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A657"/>
                </a:solidFill>
                <a:latin typeface="Fira Code"/>
                <a:ea typeface="Fira Code"/>
                <a:cs typeface="Fira Code"/>
                <a:sym typeface="Fira Code"/>
              </a:rPr>
              <a:t>description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6962775" y="2967037"/>
            <a:ext cx="4257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D'un </a:t>
            </a:r>
            <a:r>
              <a:rPr lang="en-US" sz="1500" b="1" i="0" u="none" strike="noStrike" cap="none" dirty="0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Type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qui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qualifie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la nature du changement.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6962775" y="371951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D'un </a:t>
            </a: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Scope</a:t>
            </a: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(optionnel) qui indique la zone du code affectée.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962775" y="4471987"/>
            <a:ext cx="4257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D'une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Description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courte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et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claire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6962775" y="4919662"/>
            <a:ext cx="4257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De corps et pieds de page (optionnels) pour plus de contexte ou lier des tickets (ex: Jira, GitHub).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724650" y="29670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724650" y="37195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724650" y="44719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724650" y="49196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81025" y="490537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structure fondamentale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81025" y="1100137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/>
          <p:nvPr/>
        </p:nvSpPr>
        <p:spPr>
          <a:xfrm>
            <a:off x="581025" y="1581150"/>
            <a:ext cx="5324475" cy="1362075"/>
          </a:xfrm>
          <a:prstGeom prst="roundRect">
            <a:avLst>
              <a:gd name="adj" fmla="val 5594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1104900" y="1771650"/>
            <a:ext cx="46101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Obligatoire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Introduction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d'une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nouvelle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fonctionnalité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dans la base de code.</a:t>
            </a:r>
            <a:endParaRPr dirty="0"/>
          </a:p>
        </p:txBody>
      </p:sp>
      <p:sp>
        <p:nvSpPr>
          <p:cNvPr id="164" name="Google Shape;164;p17"/>
          <p:cNvSpPr/>
          <p:nvPr/>
        </p:nvSpPr>
        <p:spPr>
          <a:xfrm>
            <a:off x="6286500" y="1581150"/>
            <a:ext cx="5324475" cy="1362075"/>
          </a:xfrm>
          <a:prstGeom prst="roundRect">
            <a:avLst>
              <a:gd name="adj" fmla="val 5594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810375" y="1771650"/>
            <a:ext cx="4610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Obligatoire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Correction d'un bug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existant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6" name="Google Shape;166;p17"/>
          <p:cNvSpPr/>
          <p:nvPr/>
        </p:nvSpPr>
        <p:spPr>
          <a:xfrm>
            <a:off x="581025" y="3133725"/>
            <a:ext cx="5324475" cy="1362075"/>
          </a:xfrm>
          <a:prstGeom prst="roundRect">
            <a:avLst>
              <a:gd name="adj" fmla="val 5594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938212" y="3644205"/>
            <a:ext cx="4610100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Modifications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concernant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uniquement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la documentation.</a:t>
            </a:r>
            <a:endParaRPr dirty="0"/>
          </a:p>
        </p:txBody>
      </p:sp>
      <p:sp>
        <p:nvSpPr>
          <p:cNvPr id="168" name="Google Shape;168;p17"/>
          <p:cNvSpPr/>
          <p:nvPr/>
        </p:nvSpPr>
        <p:spPr>
          <a:xfrm>
            <a:off x="6286500" y="3133725"/>
            <a:ext cx="5324475" cy="1362075"/>
          </a:xfrm>
          <a:prstGeom prst="roundRect">
            <a:avLst>
              <a:gd name="adj" fmla="val 5594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696075" y="3586518"/>
            <a:ext cx="4610100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Changement du code qui ne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corrige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ni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bug,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ni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n'ajoute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de feature.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81025" y="4686300"/>
            <a:ext cx="5324475" cy="1369665"/>
          </a:xfrm>
          <a:prstGeom prst="roundRect">
            <a:avLst>
              <a:gd name="adj" fmla="val 5563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019175" y="5215945"/>
            <a:ext cx="4610100" cy="98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Ajout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ou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modification de tests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existants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2" name="Google Shape;172;p17"/>
          <p:cNvSpPr/>
          <p:nvPr/>
        </p:nvSpPr>
        <p:spPr>
          <a:xfrm>
            <a:off x="6286500" y="4686300"/>
            <a:ext cx="5324475" cy="1369665"/>
          </a:xfrm>
          <a:prstGeom prst="roundRect">
            <a:avLst>
              <a:gd name="adj" fmla="val 5563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648450" y="4946658"/>
            <a:ext cx="4610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Les Scope 	         , </a:t>
            </a:r>
            <a:r>
              <a:rPr lang="en-US" sz="1500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Cible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une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partie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précise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endParaRPr dirty="0"/>
          </a:p>
        </p:txBody>
      </p:sp>
      <p:sp>
        <p:nvSpPr>
          <p:cNvPr id="174" name="Google Shape;174;p17"/>
          <p:cNvSpPr/>
          <p:nvPr/>
        </p:nvSpPr>
        <p:spPr>
          <a:xfrm>
            <a:off x="581025" y="2933700"/>
            <a:ext cx="53244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286500" y="2933700"/>
            <a:ext cx="53244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81025" y="4486275"/>
            <a:ext cx="53244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286500" y="4486275"/>
            <a:ext cx="53244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81025" y="6046440"/>
            <a:ext cx="53244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286500" y="6046440"/>
            <a:ext cx="53244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1337" y="5372932"/>
            <a:ext cx="4591050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475" y="220182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54013" y="1853580"/>
            <a:ext cx="533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6525" y="22018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48637" y="1876539"/>
            <a:ext cx="4286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050" y="36909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76562" y="3347070"/>
            <a:ext cx="533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86525" y="36909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24875" y="3319818"/>
            <a:ext cx="952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81050" y="52472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976562" y="4872930"/>
            <a:ext cx="533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86512" y="53159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681912" y="5005912"/>
            <a:ext cx="638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415337" y="5000704"/>
            <a:ext cx="5334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Anatomie : Les Types &amp; Scopes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57325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581025" y="1457325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La Description (Le sujet) :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581025" y="3695700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Les Breaking Changes :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581025" y="414337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Comment indiquer qu'une modification casse la compatibilité descendante ?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19150" y="19050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Doit être courte et concise (moins de 50 caractères idéalement).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19150" y="2657475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S'écrit à </a:t>
            </a: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l'impératif</a:t>
            </a: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(ex: "add", pas "added" ou "adds").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19150" y="3105150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Pas de majuscule au début, pas de point final.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819150" y="489585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Ajouter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un      après le type/scope 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209" name="Google Shape;209;p18"/>
          <p:cNvSpPr txBox="1"/>
          <p:nvPr/>
        </p:nvSpPr>
        <p:spPr>
          <a:xfrm>
            <a:off x="819150" y="564832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Ou utiliser un footer 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210" name="Google Shape;21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4668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581025" y="19050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581025" y="26574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581025" y="31051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581025" y="48958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67385" y="489585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5229225"/>
            <a:ext cx="304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581025" y="56483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6D364"/>
                </a:solidFill>
                <a:latin typeface="Fira Code"/>
                <a:ea typeface="Fira Code"/>
                <a:cs typeface="Fira Code"/>
                <a:sym typeface="Fira Code"/>
              </a:rPr>
              <a:t>→</a:t>
            </a:r>
            <a:endParaRPr/>
          </a:p>
        </p:txBody>
      </p:sp>
      <p:pic>
        <p:nvPicPr>
          <p:cNvPr id="218" name="Google Shape;21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5981700"/>
            <a:ext cx="35718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581025" y="457200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Description &amp; Breaking Change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581025" y="1066800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81150"/>
            <a:ext cx="34226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581150"/>
            <a:ext cx="34226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1581150"/>
            <a:ext cx="342260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923925" y="2628900"/>
            <a:ext cx="23102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Communication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923925" y="3114675"/>
            <a:ext cx="2736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On comprend l'intention du développeur </a:t>
            </a: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sans avoir à lire le code</a:t>
            </a: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 C'est un gain de temps énorme lors des revues de code.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4727525" y="2628900"/>
            <a:ext cx="159019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Recherche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4727525" y="3114675"/>
            <a:ext cx="2736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Le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filtrage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l'historique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devient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trivial.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Trouver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tous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les </a:t>
            </a:r>
            <a:r>
              <a:rPr lang="en-US" sz="1500" b="1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correctifs</a:t>
            </a:r>
            <a:r>
              <a:rPr lang="en-US" sz="1500" b="1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récents</a:t>
            </a:r>
            <a:r>
              <a:rPr lang="en-US" sz="1500" b="1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? Git </a:t>
            </a:r>
            <a:r>
              <a:rPr lang="en-US" sz="1500" b="1" i="0" u="none" strike="noStrike" cap="none" dirty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log –grep=“^fix”. </a:t>
            </a:r>
            <a:r>
              <a:rPr lang="en-US" sz="1500" b="1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Facile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33" name="Google Shape;233;p19"/>
          <p:cNvSpPr txBox="1"/>
          <p:nvPr/>
        </p:nvSpPr>
        <p:spPr>
          <a:xfrm>
            <a:off x="8531125" y="2628900"/>
            <a:ext cx="113014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SemVer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8531125" y="3114675"/>
            <a:ext cx="273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Permet l'automatisation du </a:t>
            </a: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Semantic Versioning</a:t>
            </a: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 La version du projet s'incrémente automatiquement selon le type des commits poussés.</a:t>
            </a:r>
            <a:endParaRPr/>
          </a:p>
        </p:txBody>
      </p:sp>
      <p:pic>
        <p:nvPicPr>
          <p:cNvPr id="235" name="Google Shape;23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19621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27525" y="19621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31125" y="19621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Pourquoi s'embêter ? (Les bénéfices)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/>
          <p:nvPr/>
        </p:nvSpPr>
        <p:spPr>
          <a:xfrm>
            <a:off x="585787" y="2266950"/>
            <a:ext cx="2775942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3361729" y="2266950"/>
            <a:ext cx="241056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772298" y="2266950"/>
            <a:ext cx="389498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9667279" y="2266950"/>
            <a:ext cx="1938932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85787" y="3267075"/>
            <a:ext cx="2775942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3361729" y="3267075"/>
            <a:ext cx="241056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772298" y="3267075"/>
            <a:ext cx="389498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9667279" y="3267075"/>
            <a:ext cx="1938932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585787" y="4267200"/>
            <a:ext cx="2775942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3361729" y="4267200"/>
            <a:ext cx="241056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5772298" y="4267200"/>
            <a:ext cx="389498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9667279" y="4267200"/>
            <a:ext cx="1938932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85787" y="5267325"/>
            <a:ext cx="2775942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3361729" y="5267325"/>
            <a:ext cx="241056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772298" y="5267325"/>
            <a:ext cx="389498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9667279" y="5267325"/>
            <a:ext cx="1938932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5879" y="2500312"/>
            <a:ext cx="638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5879" y="2805112"/>
            <a:ext cx="638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5879" y="3500437"/>
            <a:ext cx="638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95879" y="3805237"/>
            <a:ext cx="638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5879" y="4500562"/>
            <a:ext cx="638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95879" y="4805362"/>
            <a:ext cx="638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5879" y="5500687"/>
            <a:ext cx="638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5879" y="5805487"/>
            <a:ext cx="6381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/>
        </p:nvSpPr>
        <p:spPr>
          <a:xfrm>
            <a:off x="581025" y="576262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Lien direct avec Semantic Versioning</a:t>
            </a:r>
            <a:endParaRPr dirty="0"/>
          </a:p>
        </p:txBody>
      </p:sp>
      <p:sp>
        <p:nvSpPr>
          <p:cNvPr id="277" name="Google Shape;277;p20"/>
          <p:cNvSpPr/>
          <p:nvPr/>
        </p:nvSpPr>
        <p:spPr>
          <a:xfrm>
            <a:off x="581025" y="1185862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20"/>
          <p:cNvGraphicFramePr/>
          <p:nvPr>
            <p:extLst>
              <p:ext uri="{D42A27DB-BD31-4B8C-83A1-F6EECF244321}">
                <p14:modId xmlns:p14="http://schemas.microsoft.com/office/powerpoint/2010/main" val="3165434055"/>
              </p:ext>
            </p:extLst>
          </p:nvPr>
        </p:nvGraphicFramePr>
        <p:xfrm>
          <a:off x="694531" y="1407282"/>
          <a:ext cx="11020425" cy="4705375"/>
        </p:xfrm>
        <a:graphic>
          <a:graphicData uri="http://schemas.openxmlformats.org/drawingml/2006/table">
            <a:tbl>
              <a:tblPr firstRow="1" bandRow="1">
                <a:noFill/>
                <a:tableStyleId>{C9AC0D7E-B250-4DB0-96F3-7B9A4C10C892}</a:tableStyleId>
              </a:tblPr>
              <a:tblGrid>
                <a:gridCol w="27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 de Commit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Format SemVer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 sur la version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Exemple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BREAKING CANGE (</a:t>
                      </a:r>
                      <a:r>
                        <a:rPr lang="en-US" sz="1500" b="0" i="0" u="none" strike="noStrike" cap="none" dirty="0" err="1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</a:t>
                      </a:r>
                      <a:r>
                        <a:rPr lang="en-US" sz="1500" b="0" i="0" u="none" strike="noStrike" cap="none" dirty="0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!)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MAJOR</a:t>
                      </a:r>
                      <a:r>
                        <a:rPr lang="en-US" sz="1500" b="0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(X.y.z)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Casse la </a:t>
                      </a:r>
                      <a:r>
                        <a:rPr lang="en-US" sz="1500" b="0" i="0" u="none" strike="noStrike" cap="none" dirty="0" err="1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compatibilité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MINOR</a:t>
                      </a:r>
                      <a:r>
                        <a:rPr lang="en-US" sz="1500" b="0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(x.Y.z)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Nouvelle fonctionnalité (rétrocompatible)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fix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PATCH</a:t>
                      </a:r>
                      <a:r>
                        <a:rPr lang="en-US" sz="1500" b="0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(x.y.Z)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Correctif de bug (rétrocompatible)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docs, chore, etc.</a:t>
                      </a:r>
                      <a:endParaRPr lang="en-US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Aucun bump par défaut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 d'impact sur le livrable client</a:t>
                      </a:r>
                      <a:endParaRPr lang="fr-FR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71700"/>
            <a:ext cx="34226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171700"/>
            <a:ext cx="34226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2171700"/>
            <a:ext cx="34226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2371725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4650" y="2371725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8250" y="2371725"/>
            <a:ext cx="30225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 txBox="1"/>
          <p:nvPr/>
        </p:nvSpPr>
        <p:spPr>
          <a:xfrm>
            <a:off x="3224212" y="1581150"/>
            <a:ext cx="5743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L'humain fait des erreurs. Confiez la vérification aux machines.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705486" y="4467225"/>
            <a:ext cx="317367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Commitlint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781050" y="4953000"/>
            <a:ext cx="30225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 linter qui bloque les commits ne respectant pas les règles que vous avez définies.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4509086" y="4467225"/>
            <a:ext cx="317367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Husky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4584650" y="4953000"/>
            <a:ext cx="30225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Permet d'utiliser les Git Hooks pour exécuter Commitlint (ou des tests) avant chaque commit.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8312687" y="4467225"/>
            <a:ext cx="317367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Standard Version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8388250" y="4953000"/>
            <a:ext cx="30225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Génère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automatiquement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le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                         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 les tags Git de release.</a:t>
            </a:r>
            <a:endParaRPr dirty="0"/>
          </a:p>
        </p:txBody>
      </p:sp>
      <p:pic>
        <p:nvPicPr>
          <p:cNvPr id="296" name="Google Shape;296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1050" y="2371725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84650" y="2371725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88250" y="2371725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213725" y="5376862"/>
            <a:ext cx="13716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L'écosystème et l'automatisation</a:t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3990" y="1581150"/>
            <a:ext cx="882387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3"/>
          <p:cNvSpPr txBox="1"/>
          <p:nvPr/>
        </p:nvSpPr>
        <p:spPr>
          <a:xfrm>
            <a:off x="2265015" y="2162175"/>
            <a:ext cx="766182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"Oui, taper                       </a:t>
            </a:r>
            <a:r>
              <a:rPr lang="en-US" sz="2700" b="0" i="1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prend</a:t>
            </a: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3 </a:t>
            </a:r>
            <a:r>
              <a:rPr lang="en-US" sz="2700" b="0" i="1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secondes</a:t>
            </a: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plus </a:t>
            </a:r>
            <a:r>
              <a:rPr lang="en-US" sz="2700" b="0" i="1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</a:t>
            </a: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              . Mais </a:t>
            </a:r>
            <a:r>
              <a:rPr lang="en-US" sz="2700" b="0" i="1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combien</a:t>
            </a: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2700" b="0" i="1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d'heures</a:t>
            </a: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2700" b="0" i="1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perdez</a:t>
            </a: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-vous à </a:t>
            </a:r>
            <a:r>
              <a:rPr lang="en-US" sz="2700" b="0" i="1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chercher</a:t>
            </a: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quelle version a </a:t>
            </a:r>
            <a:r>
              <a:rPr lang="en-US" sz="2700" b="0" i="1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cassé</a:t>
            </a:r>
            <a:r>
              <a:rPr lang="en-US" sz="2700" b="0" i="1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la production ?" </a:t>
            </a:r>
            <a:endParaRPr dirty="0"/>
          </a:p>
        </p:txBody>
      </p:sp>
      <p:sp>
        <p:nvSpPr>
          <p:cNvPr id="323" name="Google Shape;323;p23"/>
          <p:cNvSpPr txBox="1"/>
          <p:nvPr/>
        </p:nvSpPr>
        <p:spPr>
          <a:xfrm>
            <a:off x="2265015" y="4600575"/>
            <a:ext cx="766182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On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écrit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des messages de commit pour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notre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650" b="1" i="0" u="none" strike="noStrike" cap="none" dirty="0" err="1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futur</a:t>
            </a:r>
            <a:r>
              <a:rPr lang="en-US" sz="1650" b="1" i="0" u="none" strike="noStrike" cap="none" dirty="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 moi"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qui sera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train de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débugger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à 3h du matin dans 6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mois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Soyez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sympa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avec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lui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324" name="Google Shape;32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7121" y="2324100"/>
            <a:ext cx="19240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95333" y="2905125"/>
            <a:ext cx="1200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 mot de la fin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30860"/>
            <a:ext cx="110299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4"/>
          <p:cNvSpPr txBox="1"/>
          <p:nvPr/>
        </p:nvSpPr>
        <p:spPr>
          <a:xfrm>
            <a:off x="305276" y="1979265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56D364"/>
                </a:solidFill>
                <a:latin typeface="Inter"/>
                <a:ea typeface="Inter"/>
                <a:cs typeface="Inter"/>
                <a:sym typeface="Inter"/>
              </a:rPr>
              <a:t>Questions ?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581025" y="309369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Merci pour votre attention !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4643437" y="4421385"/>
            <a:ext cx="290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www.conventionalcommits.org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4400550" y="4678560"/>
            <a:ext cx="3390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Ibral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647</Words>
  <Application>Microsoft Office PowerPoint</Application>
  <PresentationFormat>Grand écran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Calibri</vt:lpstr>
      <vt:lpstr>Arial</vt:lpstr>
      <vt:lpstr>Fira Code</vt:lpstr>
      <vt:lpstr>Inter</vt:lpstr>
      <vt:lpstr>Inter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larbi bougoufa</cp:lastModifiedBy>
  <cp:revision>9</cp:revision>
  <dcterms:modified xsi:type="dcterms:W3CDTF">2026-04-10T12:00:42Z</dcterms:modified>
</cp:coreProperties>
</file>