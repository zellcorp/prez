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6858000" cx="12192000"/>
  <p:notesSz cx="6858000" cy="9144000"/>
  <p:embeddedFontLst>
    <p:embeddedFont>
      <p:font typeface="Inter SemiBold"/>
      <p:regular r:id="rId22"/>
      <p:bold r:id="rId23"/>
      <p:italic r:id="rId24"/>
      <p:boldItalic r:id="rId25"/>
    </p:embeddedFont>
    <p:embeddedFont>
      <p:font typeface="Inter"/>
      <p:regular r:id="rId26"/>
      <p:bold r:id="rId27"/>
      <p:italic r:id="rId28"/>
      <p:boldItalic r:id="rId29"/>
    </p:embeddedFont>
    <p:embeddedFont>
      <p:font typeface="JetBrains Mono SemiBold"/>
      <p:regular r:id="rId30"/>
      <p:bold r:id="rId31"/>
      <p:italic r:id="rId32"/>
      <p:boldItalic r:id="rId33"/>
    </p:embeddedFont>
    <p:embeddedFont>
      <p:font typeface="JetBrains Mono ExtraBold"/>
      <p:bold r:id="rId34"/>
      <p:boldItalic r:id="rId35"/>
    </p:embeddedFont>
    <p:embeddedFont>
      <p:font typeface="Inter ExtraBold"/>
      <p:bold r:id="rId36"/>
      <p:boldItalic r:id="rId37"/>
    </p:embeddedFont>
    <p:embeddedFont>
      <p:font typeface="JetBrains Mono"/>
      <p:regular r:id="rId38"/>
      <p:bold r:id="rId39"/>
      <p:italic r:id="rId40"/>
      <p:boldItalic r:id="rId41"/>
    </p:embeddedFont>
    <p:embeddedFont>
      <p:font typeface="Inter Black"/>
      <p:bold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AE9542E-AFDD-438C-AC11-B0891BB5E56B}">
  <a:tblStyle styleId="{AAE9542E-AFDD-438C-AC11-B0891BB5E56B}"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JetBrainsMono-italic.fntdata"/><Relationship Id="rId20" Type="http://schemas.openxmlformats.org/officeDocument/2006/relationships/slide" Target="slides/slide14.xml"/><Relationship Id="rId42" Type="http://schemas.openxmlformats.org/officeDocument/2006/relationships/font" Target="fonts/InterBlack-bold.fntdata"/><Relationship Id="rId41" Type="http://schemas.openxmlformats.org/officeDocument/2006/relationships/font" Target="fonts/JetBrainsMono-boldItalic.fntdata"/><Relationship Id="rId22" Type="http://schemas.openxmlformats.org/officeDocument/2006/relationships/font" Target="fonts/InterSemiBold-regular.fntdata"/><Relationship Id="rId21" Type="http://schemas.openxmlformats.org/officeDocument/2006/relationships/slide" Target="slides/slide15.xml"/><Relationship Id="rId43" Type="http://schemas.openxmlformats.org/officeDocument/2006/relationships/font" Target="fonts/InterBlack-boldItalic.fntdata"/><Relationship Id="rId24" Type="http://schemas.openxmlformats.org/officeDocument/2006/relationships/font" Target="fonts/InterSemiBold-italic.fntdata"/><Relationship Id="rId23" Type="http://schemas.openxmlformats.org/officeDocument/2006/relationships/font" Target="fonts/InterSemiBol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regular.fntdata"/><Relationship Id="rId25" Type="http://schemas.openxmlformats.org/officeDocument/2006/relationships/font" Target="fonts/InterSemiBold-boldItalic.fntdata"/><Relationship Id="rId28" Type="http://schemas.openxmlformats.org/officeDocument/2006/relationships/font" Target="fonts/Inter-italic.fntdata"/><Relationship Id="rId27" Type="http://schemas.openxmlformats.org/officeDocument/2006/relationships/font" Target="fonts/Inter-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Inter-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JetBrainsMonoSemiBold-bold.fntdata"/><Relationship Id="rId30" Type="http://schemas.openxmlformats.org/officeDocument/2006/relationships/font" Target="fonts/JetBrainsMonoSemiBold-regular.fntdata"/><Relationship Id="rId11" Type="http://schemas.openxmlformats.org/officeDocument/2006/relationships/slide" Target="slides/slide5.xml"/><Relationship Id="rId33" Type="http://schemas.openxmlformats.org/officeDocument/2006/relationships/font" Target="fonts/JetBrainsMonoSemiBold-boldItalic.fntdata"/><Relationship Id="rId10" Type="http://schemas.openxmlformats.org/officeDocument/2006/relationships/slide" Target="slides/slide4.xml"/><Relationship Id="rId32" Type="http://schemas.openxmlformats.org/officeDocument/2006/relationships/font" Target="fonts/JetBrainsMonoSemiBold-italic.fntdata"/><Relationship Id="rId13" Type="http://schemas.openxmlformats.org/officeDocument/2006/relationships/slide" Target="slides/slide7.xml"/><Relationship Id="rId35" Type="http://schemas.openxmlformats.org/officeDocument/2006/relationships/font" Target="fonts/JetBrainsMonoExtraBold-boldItalic.fntdata"/><Relationship Id="rId12" Type="http://schemas.openxmlformats.org/officeDocument/2006/relationships/slide" Target="slides/slide6.xml"/><Relationship Id="rId34" Type="http://schemas.openxmlformats.org/officeDocument/2006/relationships/font" Target="fonts/JetBrainsMonoExtraBold-bold.fntdata"/><Relationship Id="rId15" Type="http://schemas.openxmlformats.org/officeDocument/2006/relationships/slide" Target="slides/slide9.xml"/><Relationship Id="rId37" Type="http://schemas.openxmlformats.org/officeDocument/2006/relationships/font" Target="fonts/InterExtraBold-boldItalic.fntdata"/><Relationship Id="rId14" Type="http://schemas.openxmlformats.org/officeDocument/2006/relationships/slide" Target="slides/slide8.xml"/><Relationship Id="rId36" Type="http://schemas.openxmlformats.org/officeDocument/2006/relationships/font" Target="fonts/InterExtraBold-bold.fntdata"/><Relationship Id="rId17" Type="http://schemas.openxmlformats.org/officeDocument/2006/relationships/slide" Target="slides/slide11.xml"/><Relationship Id="rId39" Type="http://schemas.openxmlformats.org/officeDocument/2006/relationships/font" Target="fonts/JetBrainsMono-bold.fntdata"/><Relationship Id="rId16" Type="http://schemas.openxmlformats.org/officeDocument/2006/relationships/slide" Target="slides/slide10.xml"/><Relationship Id="rId38" Type="http://schemas.openxmlformats.org/officeDocument/2006/relationships/font" Target="fonts/JetBrainsMono-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Bonjour à tous. Aujourd'hui, on ne va pas juste parler de "faire passer des tests au vert". On va parler de l'Art du Test en Java. En tant que développeurs, nous sommes des artisans. Notre code de test est aussi important que notre code de production. Nous allons voir comment passer d'une corvée à une stratégie qui vous fait gagner du temps et de la sérénité.</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chemeClr val="dk1"/>
                </a:solidFill>
              </a:rPr>
              <a:t>L'Économie du Test</a:t>
            </a:r>
            <a:r>
              <a:rPr lang="en-US">
                <a:solidFill>
                  <a:schemeClr val="dk1"/>
                </a:solidFill>
              </a:rPr>
              <a:t> Pourquoi est-ce qu'on teste ? Ce n'est pas pour faire plaisir au chef de projet. C'est une question d'économie. À gauche : Le coût du bug. Plus on le trouve tard (en prod), plus il coûte cher (image de marque, hotfix dans l'urgence). À droite : La boucle de feedback. Un test unitaire vous répond en 10 millisecondes. Un test manuel prend 10 minutes. Plus cette boucle est courte, plus vous restez dans le "flow" et plus vous êtes productifs.</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chemeClr val="dk1"/>
                </a:solidFill>
              </a:rPr>
              <a:t> Stratégie 1 - La Pyramide Classique</a:t>
            </a:r>
            <a:r>
              <a:rPr lang="en-US">
                <a:solidFill>
                  <a:schemeClr val="dk1"/>
                </a:solidFill>
              </a:rPr>
              <a:t> Parlons stratégie. Vous connaissez sûrement la Pyramide de Mike Cohn. La base : Des tests unitaires massifs. Rapides, stables, précis. Le milieu : L'intégration. Avec des outils modernes comme Testcontainers, cette couche devient cruciale pour vérifier que nos briques (BDD, Kafka) se parlent bien. Le sommet : L'E2E. C'est lent, c'est fragile. On réserve ça aux "Parcours Critiques".</a:t>
            </a:r>
            <a:endParaRPr/>
          </a:p>
        </p:txBody>
      </p:sp>
      <p:sp>
        <p:nvSpPr>
          <p:cNvPr id="109" name="Google Shape;10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chemeClr val="dk1"/>
                </a:solidFill>
              </a:rPr>
              <a:t>Stratégie 2 - Le Testing Trophy</a:t>
            </a:r>
            <a:r>
              <a:rPr lang="en-US">
                <a:solidFill>
                  <a:schemeClr val="dk1"/>
                </a:solidFill>
              </a:rPr>
              <a:t> Mais le monde a changé. Avec les microservices et le Cloud, la pyramide évolue. Voici le "Testing Trophy" (popularisé par Kent C. Dodds). Ici, le "ventre" du trophée est plus gros au niveau de l'Intégration. Pourquoi ? Parce que mocker une base de données complexe est souvent risqué (le mock ment). Avec des outils comme Testcontainers, faire des tests d'intégration est devenu fiable et rapide. On privilégie de tester "que ça marche ensemble" (Intégration) plutôt que chaque détail isolé (Unitaire). "Write tests. Not too many. Mostly integration."</a:t>
            </a:r>
            <a:endParaRPr/>
          </a:p>
        </p:txBody>
      </p:sp>
      <p:sp>
        <p:nvSpPr>
          <p:cNvPr id="123" name="Google Shape;12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Méthodologie TDD</a:t>
            </a:r>
            <a:r>
              <a:rPr lang="en-US">
                <a:solidFill>
                  <a:schemeClr val="dk1"/>
                </a:solidFill>
              </a:rPr>
              <a:t> Le TDD (Test Driven Development) n'est pas une obligation, mais c'est un outil de design puissant. Le cycle Rouge-Vert-Refactor nous force à :</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n-US">
                <a:solidFill>
                  <a:schemeClr val="dk1"/>
                </a:solidFill>
              </a:rPr>
              <a:t>Définir le besoin avant de coder (Rouge).</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Faire marcher le code le plus simplement possible (Vert).</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Nettoyer le code (Refactor) avec la sécurité du test.</a:t>
            </a:r>
            <a:endParaRPr>
              <a:solidFill>
                <a:schemeClr val="dk1"/>
              </a:solidFill>
            </a:endParaRPr>
          </a:p>
          <a:p>
            <a:pPr indent="0" lvl="0" marL="0" rtl="0" algn="l">
              <a:spcBef>
                <a:spcPts val="1200"/>
              </a:spcBef>
              <a:spcAft>
                <a:spcPts val="0"/>
              </a:spcAft>
              <a:buNone/>
            </a:pPr>
            <a:r>
              <a:t/>
            </a:r>
            <a:endParaRPr/>
          </a:p>
        </p:txBody>
      </p:sp>
      <p:sp>
        <p:nvSpPr>
          <p:cNvPr id="141" name="Google Shape;14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Anatomie d'un Bon Test</a:t>
            </a:r>
            <a:r>
              <a:rPr lang="en-US">
                <a:solidFill>
                  <a:schemeClr val="dk1"/>
                </a:solidFill>
              </a:rPr>
              <a:t> Comment reconnaître un "Bon" test ? C'est du Craftsmanship.</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n-US">
                <a:solidFill>
                  <a:schemeClr val="dk1"/>
                </a:solidFill>
              </a:rPr>
              <a:t>Le nommage : Utilisez des phrases : 'should_apply_discount_when_user_is_vip'.</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La structure AAA : Arrange (Préparation), Act (Action), Assert (Vérification). Visuellement, séparez ces blocs par des sauts de ligne.</a:t>
            </a:r>
            <a:endParaRPr>
              <a:solidFill>
                <a:schemeClr val="dk1"/>
              </a:solidFill>
            </a:endParaRPr>
          </a:p>
          <a:p>
            <a:pPr indent="0" lvl="0" marL="0" rtl="0" algn="l">
              <a:spcBef>
                <a:spcPts val="1200"/>
              </a:spcBef>
              <a:spcAft>
                <a:spcPts val="0"/>
              </a:spcAft>
              <a:buNone/>
            </a:pPr>
            <a:r>
              <a:t/>
            </a:r>
            <a:endParaRPr/>
          </a:p>
        </p:txBody>
      </p:sp>
      <p:sp>
        <p:nvSpPr>
          <p:cNvPr id="158" name="Google Shape;15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chemeClr val="dk1"/>
                </a:solidFill>
              </a:rPr>
              <a:t>Lisibilité &amp; Assertions</a:t>
            </a:r>
            <a:r>
              <a:rPr lang="en-US">
                <a:solidFill>
                  <a:schemeClr val="dk1"/>
                </a:solidFill>
              </a:rPr>
              <a:t> Règle d'or : Une seule assertion logique par test. Si vous testez 5 choses différentes dans la même méthode, et que la première échoue, vous ne saurez pas si les 4 autres fonctionnent. Utilisez AssertJ pour que le test se lise comme une phrase en anglais.</a:t>
            </a:r>
            <a:endParaRPr/>
          </a:p>
        </p:txBody>
      </p:sp>
      <p:sp>
        <p:nvSpPr>
          <p:cNvPr id="174" name="Google Shape;17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Les Anti-Patterns (Partie 1)</a:t>
            </a:r>
            <a:r>
              <a:rPr lang="en-US">
                <a:solidFill>
                  <a:schemeClr val="dk1"/>
                </a:solidFill>
              </a:rPr>
              <a:t> Passons aux Anti-patterns.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n-US">
                <a:solidFill>
                  <a:schemeClr val="dk1"/>
                </a:solidFill>
              </a:rPr>
              <a:t>Le Test Miroir : Je copie mon code d'implémentation dans le test. Inutile et fragile.</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L'Excès de Mocking : On finit par tester que Mockito fonctionne, pas notre code.</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La Logique : Pas de IF, pas de FOR dans un test.</a:t>
            </a:r>
            <a:endParaRPr>
              <a:solidFill>
                <a:schemeClr val="dk1"/>
              </a:solidFill>
            </a:endParaRPr>
          </a:p>
          <a:p>
            <a:pPr indent="0" lvl="0" marL="0" rtl="0" algn="l">
              <a:spcBef>
                <a:spcPts val="1200"/>
              </a:spcBef>
              <a:spcAft>
                <a:spcPts val="0"/>
              </a:spcAft>
              <a:buNone/>
            </a:pPr>
            <a:r>
              <a:t/>
            </a:r>
            <a:endParaRPr/>
          </a:p>
        </p:txBody>
      </p:sp>
      <p:sp>
        <p:nvSpPr>
          <p:cNvPr id="183" name="Google Shape;18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chemeClr val="dk1"/>
                </a:solidFill>
              </a:rPr>
              <a:t>Le Cauchemar du "Flaky Test"</a:t>
            </a:r>
            <a:r>
              <a:rPr lang="en-US">
                <a:solidFill>
                  <a:schemeClr val="dk1"/>
                </a:solidFill>
              </a:rPr>
              <a:t> L'ennemi public numéro 1 : Le Test Flaky. C'est le test qui passe le matin et échoue l'après-midi. C'est un poison. Si les développeurs ne font plus confiance au rouge de la CI, ils arrêtent de tester. Règle : Fix it or Delete it.</a:t>
            </a:r>
            <a:endParaRPr/>
          </a:p>
        </p:txBody>
      </p:sp>
      <p:sp>
        <p:nvSpPr>
          <p:cNvPr id="201" name="Google Shape;20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chemeClr val="dk1"/>
                </a:solidFill>
              </a:rPr>
              <a:t>L'Illusion de la Couverture</a:t>
            </a:r>
            <a:r>
              <a:rPr lang="en-US">
                <a:solidFill>
                  <a:schemeClr val="dk1"/>
                </a:solidFill>
              </a:rPr>
              <a:t> On nous demande souvent "C'est quoi le bon % de couverture ?". Attention à l'illusion. 100% de couverture de lignes ne veut pas dire 0 bugs. Visez la "Couverture de Cas" (les scénarios métiers) plutôt que la "Couverture de Code".</a:t>
            </a:r>
            <a:endParaRPr/>
          </a:p>
        </p:txBody>
      </p:sp>
      <p:sp>
        <p:nvSpPr>
          <p:cNvPr id="216" name="Google Shape;21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chemeClr val="dk1"/>
                </a:solidFill>
              </a:rPr>
              <a:t>Tests Paramétrés</a:t>
            </a:r>
            <a:r>
              <a:rPr lang="en-US">
                <a:solidFill>
                  <a:schemeClr val="dk1"/>
                </a:solidFill>
              </a:rPr>
              <a:t> Pour augmenter notre couverture de cas sans dupliquer le code, JUnit 5 nous offre les Tests Paramétrés. Au lieu de copier-coller 10 fois la même méthode pour tester 10 âges différents, on crée une table de données. C'est propre, c'est maintenable.</a:t>
            </a:r>
            <a:endParaRPr/>
          </a:p>
        </p:txBody>
      </p:sp>
      <p:sp>
        <p:nvSpPr>
          <p:cNvPr id="230" name="Google Shape;23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chemeClr val="dk1"/>
                </a:solidFill>
              </a:rPr>
              <a:t>Tests de Mutation</a:t>
            </a:r>
            <a:r>
              <a:rPr lang="en-US">
                <a:solidFill>
                  <a:schemeClr val="dk1"/>
                </a:solidFill>
              </a:rPr>
              <a:t> Les Tests de Mutation (avec Pitest). La question est : "Qui teste vos tests ?". L'outil va modifier votre code compilé (créer des mutants). Si vos tests passent toujours au vert, c'est que le mutant a survécu. C'est mauvais signe ! C'est l'indicateur ultime de la qualité de vos assertions.</a:t>
            </a:r>
            <a:endParaRPr/>
          </a:p>
        </p:txBody>
      </p:sp>
      <p:sp>
        <p:nvSpPr>
          <p:cNvPr id="255" name="Google Shape;25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chemeClr val="dk1"/>
                </a:solidFill>
              </a:rPr>
              <a:t>Property-Based Testing</a:t>
            </a:r>
            <a:r>
              <a:rPr lang="en-US">
                <a:solidFill>
                  <a:schemeClr val="dk1"/>
                </a:solidFill>
              </a:rPr>
              <a:t> Pour aller encore plus loin : Le "Property-Based Testing". Les tests unitaires classiques sont des "tests par l'exemple" (ex: 2 + 2 = 4). Le Property-Based Testing vérifie des "propriétés invariantes" sur des milliers de données générées aléatoirement. Exemple : "Peu importe la liste, si je la reverse deux fois, je dois retomber sur la liste originale". Outil en Java : jqwik. C'est imbattable pour trouver les "Edge cases" que vous n'auriez jamais imaginés (nulls, caractères spéciaux, etc).</a:t>
            </a:r>
            <a:endParaRPr/>
          </a:p>
        </p:txBody>
      </p:sp>
      <p:sp>
        <p:nvSpPr>
          <p:cNvPr id="268" name="Google Shape;26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chemeClr val="dk1"/>
                </a:solidFill>
              </a:rPr>
              <a:t>Conclusion</a:t>
            </a:r>
            <a:r>
              <a:rPr lang="en-US">
                <a:solidFill>
                  <a:schemeClr val="dk1"/>
                </a:solidFill>
              </a:rPr>
              <a:t> En conclusion. Gardez cette checklist. Un test doit être lisible, indépendant, déterministe et rapide. Soyez fiers de vos tests. Merci !</a:t>
            </a:r>
            <a:endParaRPr/>
          </a:p>
        </p:txBody>
      </p:sp>
      <p:sp>
        <p:nvSpPr>
          <p:cNvPr id="289" name="Google Shape;28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9.png"/><Relationship Id="rId9" Type="http://schemas.openxmlformats.org/officeDocument/2006/relationships/image" Target="../media/image18.png"/><Relationship Id="rId5" Type="http://schemas.openxmlformats.org/officeDocument/2006/relationships/image" Target="../media/image13.png"/><Relationship Id="rId6" Type="http://schemas.openxmlformats.org/officeDocument/2006/relationships/image" Target="../media/image5.png"/><Relationship Id="rId7" Type="http://schemas.openxmlformats.org/officeDocument/2006/relationships/image" Target="../media/image23.png"/><Relationship Id="rId8"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16.png"/><Relationship Id="rId7" Type="http://schemas.openxmlformats.org/officeDocument/2006/relationships/image" Target="../media/image45.png"/><Relationship Id="rId8"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5.png"/><Relationship Id="rId4" Type="http://schemas.openxmlformats.org/officeDocument/2006/relationships/image" Target="../media/image14.png"/><Relationship Id="rId5"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3.png"/><Relationship Id="rId4" Type="http://schemas.openxmlformats.org/officeDocument/2006/relationships/image" Target="../media/image8.png"/><Relationship Id="rId5" Type="http://schemas.openxmlformats.org/officeDocument/2006/relationships/image" Target="../media/image32.png"/><Relationship Id="rId6" Type="http://schemas.openxmlformats.org/officeDocument/2006/relationships/image" Target="../media/image20.png"/><Relationship Id="rId7"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30.png"/><Relationship Id="rId5" Type="http://schemas.openxmlformats.org/officeDocument/2006/relationships/image" Target="../media/image17.png"/><Relationship Id="rId6" Type="http://schemas.openxmlformats.org/officeDocument/2006/relationships/image" Target="../media/image19.png"/><Relationship Id="rId7" Type="http://schemas.openxmlformats.org/officeDocument/2006/relationships/image" Target="../media/image29.png"/><Relationship Id="rId8"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46.png"/><Relationship Id="rId5" Type="http://schemas.openxmlformats.org/officeDocument/2006/relationships/image" Target="../media/image37.png"/><Relationship Id="rId6" Type="http://schemas.openxmlformats.org/officeDocument/2006/relationships/image" Target="../media/image3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34.png"/><Relationship Id="rId5" Type="http://schemas.openxmlformats.org/officeDocument/2006/relationships/image" Target="../media/image39.png"/><Relationship Id="rId6" Type="http://schemas.openxmlformats.org/officeDocument/2006/relationships/image" Target="../media/image47.png"/><Relationship Id="rId7" Type="http://schemas.openxmlformats.org/officeDocument/2006/relationships/image" Target="../media/image3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4.png"/><Relationship Id="rId4" Type="http://schemas.openxmlformats.org/officeDocument/2006/relationships/image" Target="../media/image42.png"/><Relationship Id="rId5" Type="http://schemas.openxmlformats.org/officeDocument/2006/relationships/image" Target="../media/image35.png"/><Relationship Id="rId6" Type="http://schemas.openxmlformats.org/officeDocument/2006/relationships/image" Target="../media/image40.png"/><Relationship Id="rId7" Type="http://schemas.openxmlformats.org/officeDocument/2006/relationships/image" Target="../media/image43.png"/><Relationship Id="rId8"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13"/>
          <p:cNvSpPr txBox="1"/>
          <p:nvPr/>
        </p:nvSpPr>
        <p:spPr>
          <a:xfrm>
            <a:off x="2623065" y="2761357"/>
            <a:ext cx="6945868" cy="75426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5400" u="none" cap="none" strike="noStrike">
                <a:solidFill>
                  <a:srgbClr val="111827"/>
                </a:solidFill>
                <a:latin typeface="Inter ExtraBold"/>
                <a:ea typeface="Inter ExtraBold"/>
                <a:cs typeface="Inter ExtraBold"/>
                <a:sym typeface="Inter ExtraBold"/>
              </a:rPr>
              <a:t>L'Art du Test en Java</a:t>
            </a:r>
            <a:endParaRPr/>
          </a:p>
        </p:txBody>
      </p:sp>
      <p:sp>
        <p:nvSpPr>
          <p:cNvPr id="85" name="Google Shape;85;p13"/>
          <p:cNvSpPr txBox="1"/>
          <p:nvPr/>
        </p:nvSpPr>
        <p:spPr>
          <a:xfrm>
            <a:off x="2788443" y="3896617"/>
            <a:ext cx="6615112" cy="2000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350" u="none" cap="none" strike="noStrike">
                <a:solidFill>
                  <a:srgbClr val="64748B"/>
                </a:solidFill>
                <a:latin typeface="Inter"/>
                <a:ea typeface="Inter"/>
                <a:cs typeface="Inter"/>
                <a:sym typeface="Inter"/>
              </a:rPr>
              <a:t>Une approche pragmatique pour les équipes Java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 name="Shape 89"/>
        <p:cNvGrpSpPr/>
        <p:nvPr/>
      </p:nvGrpSpPr>
      <p:grpSpPr>
        <a:xfrm>
          <a:off x="0" y="0"/>
          <a:ext cx="0" cy="0"/>
          <a:chOff x="0" y="0"/>
          <a:chExt cx="0" cy="0"/>
        </a:xfrm>
      </p:grpSpPr>
      <p:pic>
        <p:nvPicPr>
          <p:cNvPr descr="image.png" id="90" name="Google Shape;90;p14"/>
          <p:cNvPicPr preferRelativeResize="0"/>
          <p:nvPr/>
        </p:nvPicPr>
        <p:blipFill rotWithShape="1">
          <a:blip r:embed="rId3">
            <a:alphaModFix/>
          </a:blip>
          <a:srcRect b="0" l="0" r="0" t="0"/>
          <a:stretch/>
        </p:blipFill>
        <p:spPr>
          <a:xfrm>
            <a:off x="581025" y="2409825"/>
            <a:ext cx="5276850" cy="3200400"/>
          </a:xfrm>
          <a:prstGeom prst="rect">
            <a:avLst/>
          </a:prstGeom>
          <a:noFill/>
          <a:ln>
            <a:noFill/>
          </a:ln>
        </p:spPr>
      </p:pic>
      <p:pic>
        <p:nvPicPr>
          <p:cNvPr descr="image.png" id="91" name="Google Shape;91;p14"/>
          <p:cNvPicPr preferRelativeResize="0"/>
          <p:nvPr/>
        </p:nvPicPr>
        <p:blipFill rotWithShape="1">
          <a:blip r:embed="rId4">
            <a:alphaModFix/>
          </a:blip>
          <a:srcRect b="0" l="0" r="0" t="0"/>
          <a:stretch/>
        </p:blipFill>
        <p:spPr>
          <a:xfrm>
            <a:off x="6334125" y="2409825"/>
            <a:ext cx="5276850" cy="3162300"/>
          </a:xfrm>
          <a:prstGeom prst="rect">
            <a:avLst/>
          </a:prstGeom>
          <a:noFill/>
          <a:ln>
            <a:noFill/>
          </a:ln>
        </p:spPr>
      </p:pic>
      <p:sp>
        <p:nvSpPr>
          <p:cNvPr id="92" name="Google Shape;92;p14"/>
          <p:cNvSpPr txBox="1"/>
          <p:nvPr/>
        </p:nvSpPr>
        <p:spPr>
          <a:xfrm>
            <a:off x="581025" y="581025"/>
            <a:ext cx="11581447"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2563EB"/>
                </a:solidFill>
                <a:latin typeface="Inter"/>
                <a:ea typeface="Inter"/>
                <a:cs typeface="Inter"/>
                <a:sym typeface="Inter"/>
              </a:rPr>
              <a:t>L'Économie du Test</a:t>
            </a:r>
            <a:endParaRPr/>
          </a:p>
        </p:txBody>
      </p:sp>
      <p:sp>
        <p:nvSpPr>
          <p:cNvPr id="93" name="Google Shape;93;p14"/>
          <p:cNvSpPr/>
          <p:nvPr/>
        </p:nvSpPr>
        <p:spPr>
          <a:xfrm>
            <a:off x="581025" y="1333500"/>
            <a:ext cx="11029950" cy="2857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4" name="Google Shape;94;p14"/>
          <p:cNvSpPr txBox="1"/>
          <p:nvPr/>
        </p:nvSpPr>
        <p:spPr>
          <a:xfrm>
            <a:off x="971550" y="2800350"/>
            <a:ext cx="4720590" cy="323850"/>
          </a:xfrm>
          <a:prstGeom prst="rect">
            <a:avLst/>
          </a:prstGeom>
          <a:noFill/>
          <a:ln>
            <a:noFill/>
          </a:ln>
        </p:spPr>
        <p:txBody>
          <a:bodyPr anchorCtr="0" anchor="t" bIns="0" lIns="304800" spcFirstLastPara="1" rIns="0" wrap="square" tIns="0">
            <a:spAutoFit/>
          </a:bodyPr>
          <a:lstStyle/>
          <a:p>
            <a:pPr indent="0" lvl="0" marL="0" marR="0" rtl="0" algn="l">
              <a:spcBef>
                <a:spcPts val="0"/>
              </a:spcBef>
              <a:spcAft>
                <a:spcPts val="0"/>
              </a:spcAft>
              <a:buNone/>
            </a:pPr>
            <a:r>
              <a:rPr b="0" i="0" lang="en-US" sz="2100" u="none" cap="none" strike="noStrike">
                <a:solidFill>
                  <a:srgbClr val="475569"/>
                </a:solidFill>
                <a:latin typeface="Inter SemiBold"/>
                <a:ea typeface="Inter SemiBold"/>
                <a:cs typeface="Inter SemiBold"/>
                <a:sym typeface="Inter SemiBold"/>
              </a:rPr>
              <a:t>Le ROI du Test</a:t>
            </a:r>
            <a:endParaRPr/>
          </a:p>
        </p:txBody>
      </p:sp>
      <p:sp>
        <p:nvSpPr>
          <p:cNvPr id="95" name="Google Shape;95;p14"/>
          <p:cNvSpPr txBox="1"/>
          <p:nvPr/>
        </p:nvSpPr>
        <p:spPr>
          <a:xfrm>
            <a:off x="971550" y="3314700"/>
            <a:ext cx="44958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74151"/>
                </a:solidFill>
                <a:latin typeface="Inter"/>
                <a:ea typeface="Inter"/>
                <a:cs typeface="Inter"/>
                <a:sym typeface="Inter"/>
              </a:rPr>
              <a:t>Détecter un bug en production coûte </a:t>
            </a:r>
            <a:r>
              <a:rPr b="1" i="0" lang="en-US" sz="1500" u="none" cap="none" strike="noStrike">
                <a:solidFill>
                  <a:srgbClr val="374151"/>
                </a:solidFill>
                <a:latin typeface="Inter"/>
                <a:ea typeface="Inter"/>
                <a:cs typeface="Inter"/>
                <a:sym typeface="Inter"/>
              </a:rPr>
              <a:t>100x plus cher</a:t>
            </a:r>
            <a:r>
              <a:rPr b="0" i="0" lang="en-US" sz="1500" u="none" cap="none" strike="noStrike">
                <a:solidFill>
                  <a:srgbClr val="374151"/>
                </a:solidFill>
                <a:latin typeface="Inter"/>
                <a:ea typeface="Inter"/>
                <a:cs typeface="Inter"/>
                <a:sym typeface="Inter"/>
              </a:rPr>
              <a:t> qu'en phase de développement.</a:t>
            </a:r>
            <a:endParaRPr/>
          </a:p>
        </p:txBody>
      </p:sp>
      <p:sp>
        <p:nvSpPr>
          <p:cNvPr id="96" name="Google Shape;96;p14"/>
          <p:cNvSpPr txBox="1"/>
          <p:nvPr/>
        </p:nvSpPr>
        <p:spPr>
          <a:xfrm>
            <a:off x="971550" y="4114800"/>
            <a:ext cx="44958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74151"/>
                </a:solidFill>
                <a:latin typeface="Inter"/>
                <a:ea typeface="Inter"/>
                <a:cs typeface="Inter"/>
                <a:sym typeface="Inter"/>
              </a:rPr>
              <a:t>Le test est un investissement : il réduit drastiquement la dette technique et le coût de maintenance.</a:t>
            </a:r>
            <a:endParaRPr/>
          </a:p>
        </p:txBody>
      </p:sp>
      <p:sp>
        <p:nvSpPr>
          <p:cNvPr id="97" name="Google Shape;97;p14"/>
          <p:cNvSpPr txBox="1"/>
          <p:nvPr/>
        </p:nvSpPr>
        <p:spPr>
          <a:xfrm>
            <a:off x="6724650" y="2800350"/>
            <a:ext cx="4720590" cy="323850"/>
          </a:xfrm>
          <a:prstGeom prst="rect">
            <a:avLst/>
          </a:prstGeom>
          <a:noFill/>
          <a:ln>
            <a:noFill/>
          </a:ln>
        </p:spPr>
        <p:txBody>
          <a:bodyPr anchorCtr="0" anchor="t" bIns="0" lIns="266700" spcFirstLastPara="1" rIns="0" wrap="square" tIns="0">
            <a:spAutoFit/>
          </a:bodyPr>
          <a:lstStyle/>
          <a:p>
            <a:pPr indent="0" lvl="0" marL="0" marR="0" rtl="0" algn="l">
              <a:spcBef>
                <a:spcPts val="0"/>
              </a:spcBef>
              <a:spcAft>
                <a:spcPts val="0"/>
              </a:spcAft>
              <a:buNone/>
            </a:pPr>
            <a:r>
              <a:rPr b="0" i="0" lang="en-US" sz="2100" u="none" cap="none" strike="noStrike">
                <a:solidFill>
                  <a:srgbClr val="475569"/>
                </a:solidFill>
                <a:latin typeface="Inter SemiBold"/>
                <a:ea typeface="Inter SemiBold"/>
                <a:cs typeface="Inter SemiBold"/>
                <a:sym typeface="Inter SemiBold"/>
              </a:rPr>
              <a:t>La Boucle de Feedback</a:t>
            </a:r>
            <a:endParaRPr/>
          </a:p>
        </p:txBody>
      </p:sp>
      <p:sp>
        <p:nvSpPr>
          <p:cNvPr id="98" name="Google Shape;98;p14"/>
          <p:cNvSpPr txBox="1"/>
          <p:nvPr/>
        </p:nvSpPr>
        <p:spPr>
          <a:xfrm>
            <a:off x="6724650" y="3314700"/>
            <a:ext cx="44958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74151"/>
                </a:solidFill>
                <a:latin typeface="Inter"/>
                <a:ea typeface="Inter"/>
                <a:cs typeface="Inter"/>
                <a:sym typeface="Inter"/>
              </a:rPr>
              <a:t>La productivité dépend de la vitesse du feedback.</a:t>
            </a:r>
            <a:endParaRPr/>
          </a:p>
        </p:txBody>
      </p:sp>
      <p:pic>
        <p:nvPicPr>
          <p:cNvPr descr="image.png" id="99" name="Google Shape;99;p14"/>
          <p:cNvPicPr preferRelativeResize="0"/>
          <p:nvPr/>
        </p:nvPicPr>
        <p:blipFill rotWithShape="1">
          <a:blip r:embed="rId5">
            <a:alphaModFix/>
          </a:blip>
          <a:srcRect b="0" l="0" r="0" t="0"/>
          <a:stretch/>
        </p:blipFill>
        <p:spPr>
          <a:xfrm>
            <a:off x="971550" y="2828925"/>
            <a:ext cx="304800" cy="266700"/>
          </a:xfrm>
          <a:prstGeom prst="rect">
            <a:avLst/>
          </a:prstGeom>
          <a:noFill/>
          <a:ln>
            <a:noFill/>
          </a:ln>
        </p:spPr>
      </p:pic>
      <p:pic>
        <p:nvPicPr>
          <p:cNvPr descr="image.png" id="100" name="Google Shape;100;p14"/>
          <p:cNvPicPr preferRelativeResize="0"/>
          <p:nvPr/>
        </p:nvPicPr>
        <p:blipFill rotWithShape="1">
          <a:blip r:embed="rId6">
            <a:alphaModFix/>
          </a:blip>
          <a:srcRect b="0" l="0" r="0" t="0"/>
          <a:stretch/>
        </p:blipFill>
        <p:spPr>
          <a:xfrm>
            <a:off x="6724650" y="2828925"/>
            <a:ext cx="266700" cy="266700"/>
          </a:xfrm>
          <a:prstGeom prst="rect">
            <a:avLst/>
          </a:prstGeom>
          <a:noFill/>
          <a:ln>
            <a:noFill/>
          </a:ln>
        </p:spPr>
      </p:pic>
      <p:sp>
        <p:nvSpPr>
          <p:cNvPr id="101" name="Google Shape;101;p14"/>
          <p:cNvSpPr txBox="1"/>
          <p:nvPr/>
        </p:nvSpPr>
        <p:spPr>
          <a:xfrm>
            <a:off x="6724650" y="4114800"/>
            <a:ext cx="44958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74151"/>
                </a:solidFill>
                <a:latin typeface="Inter"/>
                <a:ea typeface="Inter"/>
                <a:cs typeface="Inter"/>
                <a:sym typeface="Inter"/>
              </a:rPr>
              <a:t>: ms (Immédiat)</a:t>
            </a:r>
            <a:endParaRPr/>
          </a:p>
        </p:txBody>
      </p:sp>
      <p:sp>
        <p:nvSpPr>
          <p:cNvPr id="102" name="Google Shape;102;p14"/>
          <p:cNvSpPr txBox="1"/>
          <p:nvPr/>
        </p:nvSpPr>
        <p:spPr>
          <a:xfrm>
            <a:off x="6724650" y="4419600"/>
            <a:ext cx="44958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74151"/>
                </a:solidFill>
                <a:latin typeface="Inter"/>
                <a:ea typeface="Inter"/>
                <a:cs typeface="Inter"/>
                <a:sym typeface="Inter"/>
              </a:rPr>
              <a:t>: min (Attente)</a:t>
            </a:r>
            <a:endParaRPr/>
          </a:p>
        </p:txBody>
      </p:sp>
      <p:sp>
        <p:nvSpPr>
          <p:cNvPr id="103" name="Google Shape;103;p14"/>
          <p:cNvSpPr txBox="1"/>
          <p:nvPr/>
        </p:nvSpPr>
        <p:spPr>
          <a:xfrm>
            <a:off x="6724650" y="4724400"/>
            <a:ext cx="44958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74151"/>
                </a:solidFill>
                <a:latin typeface="Inter"/>
                <a:ea typeface="Inter"/>
                <a:cs typeface="Inter"/>
                <a:sym typeface="Inter"/>
              </a:rPr>
              <a:t>: jours (Trop tard)</a:t>
            </a:r>
            <a:endParaRPr/>
          </a:p>
        </p:txBody>
      </p:sp>
      <p:pic>
        <p:nvPicPr>
          <p:cNvPr descr="image.png" id="104" name="Google Shape;104;p14"/>
          <p:cNvPicPr preferRelativeResize="0"/>
          <p:nvPr/>
        </p:nvPicPr>
        <p:blipFill rotWithShape="1">
          <a:blip r:embed="rId7">
            <a:alphaModFix/>
          </a:blip>
          <a:srcRect b="0" l="0" r="0" t="0"/>
          <a:stretch/>
        </p:blipFill>
        <p:spPr>
          <a:xfrm>
            <a:off x="6724650" y="4143375"/>
            <a:ext cx="1057275" cy="257175"/>
          </a:xfrm>
          <a:prstGeom prst="rect">
            <a:avLst/>
          </a:prstGeom>
          <a:noFill/>
          <a:ln>
            <a:noFill/>
          </a:ln>
        </p:spPr>
      </p:pic>
      <p:pic>
        <p:nvPicPr>
          <p:cNvPr descr="image.png" id="105" name="Google Shape;105;p14"/>
          <p:cNvPicPr preferRelativeResize="0"/>
          <p:nvPr/>
        </p:nvPicPr>
        <p:blipFill rotWithShape="1">
          <a:blip r:embed="rId8">
            <a:alphaModFix/>
          </a:blip>
          <a:srcRect b="0" l="0" r="0" t="0"/>
          <a:stretch/>
        </p:blipFill>
        <p:spPr>
          <a:xfrm>
            <a:off x="6724650" y="4448175"/>
            <a:ext cx="1266825" cy="257175"/>
          </a:xfrm>
          <a:prstGeom prst="rect">
            <a:avLst/>
          </a:prstGeom>
          <a:noFill/>
          <a:ln>
            <a:noFill/>
          </a:ln>
        </p:spPr>
      </p:pic>
      <p:pic>
        <p:nvPicPr>
          <p:cNvPr descr="image.png" id="106" name="Google Shape;106;p14"/>
          <p:cNvPicPr preferRelativeResize="0"/>
          <p:nvPr/>
        </p:nvPicPr>
        <p:blipFill rotWithShape="1">
          <a:blip r:embed="rId9">
            <a:alphaModFix/>
          </a:blip>
          <a:srcRect b="0" l="0" r="0" t="0"/>
          <a:stretch/>
        </p:blipFill>
        <p:spPr>
          <a:xfrm>
            <a:off x="6724650" y="4752975"/>
            <a:ext cx="1057275" cy="257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 name="Shape 110"/>
        <p:cNvGrpSpPr/>
        <p:nvPr/>
      </p:nvGrpSpPr>
      <p:grpSpPr>
        <a:xfrm>
          <a:off x="0" y="0"/>
          <a:ext cx="0" cy="0"/>
          <a:chOff x="0" y="0"/>
          <a:chExt cx="0" cy="0"/>
        </a:xfrm>
      </p:grpSpPr>
      <p:pic>
        <p:nvPicPr>
          <p:cNvPr descr="image.png" id="111" name="Google Shape;111;p15"/>
          <p:cNvPicPr preferRelativeResize="0"/>
          <p:nvPr/>
        </p:nvPicPr>
        <p:blipFill rotWithShape="1">
          <a:blip r:embed="rId3">
            <a:alphaModFix/>
          </a:blip>
          <a:srcRect b="0" l="0" r="0" t="0"/>
          <a:stretch/>
        </p:blipFill>
        <p:spPr>
          <a:xfrm>
            <a:off x="6334125" y="2105025"/>
            <a:ext cx="5276850" cy="3810000"/>
          </a:xfrm>
          <a:prstGeom prst="rect">
            <a:avLst/>
          </a:prstGeom>
          <a:noFill/>
          <a:ln>
            <a:noFill/>
          </a:ln>
        </p:spPr>
      </p:pic>
      <p:sp>
        <p:nvSpPr>
          <p:cNvPr id="112" name="Google Shape;112;p15"/>
          <p:cNvSpPr txBox="1"/>
          <p:nvPr/>
        </p:nvSpPr>
        <p:spPr>
          <a:xfrm>
            <a:off x="581025" y="581025"/>
            <a:ext cx="11581447"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2563EB"/>
                </a:solidFill>
                <a:latin typeface="Inter"/>
                <a:ea typeface="Inter"/>
                <a:cs typeface="Inter"/>
                <a:sym typeface="Inter"/>
              </a:rPr>
              <a:t>Stratégie 1 : La Pyramide Classique</a:t>
            </a:r>
            <a:endParaRPr/>
          </a:p>
        </p:txBody>
      </p:sp>
      <p:sp>
        <p:nvSpPr>
          <p:cNvPr id="113" name="Google Shape;113;p15"/>
          <p:cNvSpPr/>
          <p:nvPr/>
        </p:nvSpPr>
        <p:spPr>
          <a:xfrm>
            <a:off x="581025" y="1333500"/>
            <a:ext cx="11029950" cy="2857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14" name="Google Shape;114;p15"/>
          <p:cNvPicPr preferRelativeResize="0"/>
          <p:nvPr/>
        </p:nvPicPr>
        <p:blipFill rotWithShape="1">
          <a:blip r:embed="rId4">
            <a:alphaModFix/>
          </a:blip>
          <a:srcRect b="0" l="0" r="0" t="0"/>
          <a:stretch/>
        </p:blipFill>
        <p:spPr>
          <a:xfrm>
            <a:off x="6534150" y="2638425"/>
            <a:ext cx="4876800" cy="2743200"/>
          </a:xfrm>
          <a:prstGeom prst="rect">
            <a:avLst/>
          </a:prstGeom>
          <a:noFill/>
          <a:ln>
            <a:noFill/>
          </a:ln>
        </p:spPr>
      </p:pic>
      <p:sp>
        <p:nvSpPr>
          <p:cNvPr id="115" name="Google Shape;115;p15"/>
          <p:cNvSpPr txBox="1"/>
          <p:nvPr/>
        </p:nvSpPr>
        <p:spPr>
          <a:xfrm>
            <a:off x="857250" y="2295525"/>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74151"/>
                </a:solidFill>
                <a:latin typeface="Inter"/>
                <a:ea typeface="Inter"/>
                <a:cs typeface="Inter"/>
                <a:sym typeface="Inter"/>
              </a:rPr>
              <a:t>•</a:t>
            </a:r>
            <a:endParaRPr/>
          </a:p>
        </p:txBody>
      </p:sp>
      <p:sp>
        <p:nvSpPr>
          <p:cNvPr id="116" name="Google Shape;116;p15"/>
          <p:cNvSpPr txBox="1"/>
          <p:nvPr/>
        </p:nvSpPr>
        <p:spPr>
          <a:xfrm>
            <a:off x="962025" y="2295525"/>
            <a:ext cx="4895850" cy="609600"/>
          </a:xfrm>
          <a:prstGeom prst="rect">
            <a:avLst/>
          </a:prstGeom>
          <a:noFill/>
          <a:ln>
            <a:noFill/>
          </a:ln>
        </p:spPr>
        <p:txBody>
          <a:bodyPr anchorCtr="0" anchor="t" bIns="0" lIns="104775" spcFirstLastPara="1" rIns="0" wrap="square" tIns="0">
            <a:spAutoFit/>
          </a:bodyPr>
          <a:lstStyle/>
          <a:p>
            <a:pPr indent="0" lvl="0" marL="0" marR="0" rtl="0" algn="l">
              <a:lnSpc>
                <a:spcPct val="133333"/>
              </a:lnSpc>
              <a:spcBef>
                <a:spcPts val="0"/>
              </a:spcBef>
              <a:spcAft>
                <a:spcPts val="0"/>
              </a:spcAft>
              <a:buNone/>
            </a:pPr>
            <a:r>
              <a:rPr b="1" i="0" lang="en-US" sz="1500" u="none" cap="none" strike="noStrike">
                <a:solidFill>
                  <a:schemeClr val="dk1"/>
                </a:solidFill>
                <a:latin typeface="Inter"/>
                <a:ea typeface="Inter"/>
                <a:cs typeface="Inter"/>
                <a:sym typeface="Inter"/>
              </a:rPr>
              <a:t>Sommet (E2E) :</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374151"/>
                </a:solidFill>
                <a:latin typeface="Inter"/>
                <a:ea typeface="Inter"/>
                <a:cs typeface="Inter"/>
                <a:sym typeface="Inter"/>
              </a:rPr>
              <a:t> Parcours critiques uniquement. Coûteux et lents.</a:t>
            </a:r>
            <a:endParaRPr/>
          </a:p>
        </p:txBody>
      </p:sp>
      <p:sp>
        <p:nvSpPr>
          <p:cNvPr id="117" name="Google Shape;117;p15"/>
          <p:cNvSpPr txBox="1"/>
          <p:nvPr/>
        </p:nvSpPr>
        <p:spPr>
          <a:xfrm>
            <a:off x="857250" y="3190875"/>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74151"/>
                </a:solidFill>
                <a:latin typeface="Inter"/>
                <a:ea typeface="Inter"/>
                <a:cs typeface="Inter"/>
                <a:sym typeface="Inter"/>
              </a:rPr>
              <a:t>•</a:t>
            </a:r>
            <a:endParaRPr/>
          </a:p>
        </p:txBody>
      </p:sp>
      <p:sp>
        <p:nvSpPr>
          <p:cNvPr id="118" name="Google Shape;118;p15"/>
          <p:cNvSpPr txBox="1"/>
          <p:nvPr/>
        </p:nvSpPr>
        <p:spPr>
          <a:xfrm>
            <a:off x="962025" y="3190875"/>
            <a:ext cx="4895850" cy="609600"/>
          </a:xfrm>
          <a:prstGeom prst="rect">
            <a:avLst/>
          </a:prstGeom>
          <a:noFill/>
          <a:ln>
            <a:noFill/>
          </a:ln>
        </p:spPr>
        <p:txBody>
          <a:bodyPr anchorCtr="0" anchor="t" bIns="0" lIns="104775" spcFirstLastPara="1" rIns="0" wrap="square" tIns="0">
            <a:spAutoFit/>
          </a:bodyPr>
          <a:lstStyle/>
          <a:p>
            <a:pPr indent="0" lvl="0" marL="0" marR="0" rtl="0" algn="l">
              <a:lnSpc>
                <a:spcPct val="133333"/>
              </a:lnSpc>
              <a:spcBef>
                <a:spcPts val="0"/>
              </a:spcBef>
              <a:spcAft>
                <a:spcPts val="0"/>
              </a:spcAft>
              <a:buNone/>
            </a:pPr>
            <a:r>
              <a:rPr b="1" i="0" lang="en-US" sz="1500" u="none" cap="none" strike="noStrike">
                <a:solidFill>
                  <a:schemeClr val="dk1"/>
                </a:solidFill>
                <a:latin typeface="Inter"/>
                <a:ea typeface="Inter"/>
                <a:cs typeface="Inter"/>
                <a:sym typeface="Inter"/>
              </a:rPr>
              <a:t>Milieu (Intégration) :</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374151"/>
                </a:solidFill>
                <a:latin typeface="Inter"/>
                <a:ea typeface="Inter"/>
                <a:cs typeface="Inter"/>
                <a:sym typeface="Inter"/>
              </a:rPr>
              <a:t> Collaboration des composants.</a:t>
            </a:r>
            <a:endParaRPr/>
          </a:p>
        </p:txBody>
      </p:sp>
      <p:sp>
        <p:nvSpPr>
          <p:cNvPr id="119" name="Google Shape;119;p15"/>
          <p:cNvSpPr txBox="1"/>
          <p:nvPr/>
        </p:nvSpPr>
        <p:spPr>
          <a:xfrm>
            <a:off x="857250" y="4086225"/>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74151"/>
                </a:solidFill>
                <a:latin typeface="Inter"/>
                <a:ea typeface="Inter"/>
                <a:cs typeface="Inter"/>
                <a:sym typeface="Inter"/>
              </a:rPr>
              <a:t>•</a:t>
            </a:r>
            <a:endParaRPr/>
          </a:p>
        </p:txBody>
      </p:sp>
      <p:sp>
        <p:nvSpPr>
          <p:cNvPr id="120" name="Google Shape;120;p15"/>
          <p:cNvSpPr txBox="1"/>
          <p:nvPr/>
        </p:nvSpPr>
        <p:spPr>
          <a:xfrm>
            <a:off x="962025" y="4086225"/>
            <a:ext cx="4895850" cy="609600"/>
          </a:xfrm>
          <a:prstGeom prst="rect">
            <a:avLst/>
          </a:prstGeom>
          <a:noFill/>
          <a:ln>
            <a:noFill/>
          </a:ln>
        </p:spPr>
        <p:txBody>
          <a:bodyPr anchorCtr="0" anchor="t" bIns="0" lIns="104775" spcFirstLastPara="1" rIns="0" wrap="square" tIns="0">
            <a:spAutoFit/>
          </a:bodyPr>
          <a:lstStyle/>
          <a:p>
            <a:pPr indent="0" lvl="0" marL="0" marR="0" rtl="0" algn="l">
              <a:lnSpc>
                <a:spcPct val="133333"/>
              </a:lnSpc>
              <a:spcBef>
                <a:spcPts val="0"/>
              </a:spcBef>
              <a:spcAft>
                <a:spcPts val="0"/>
              </a:spcAft>
              <a:buNone/>
            </a:pPr>
            <a:r>
              <a:rPr b="1" i="0" lang="en-US" sz="1500" u="none" cap="none" strike="noStrike">
                <a:solidFill>
                  <a:schemeClr val="dk1"/>
                </a:solidFill>
                <a:latin typeface="Inter"/>
                <a:ea typeface="Inter"/>
                <a:cs typeface="Inter"/>
                <a:sym typeface="Inter"/>
              </a:rPr>
              <a:t>Base (Unitaire) :</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374151"/>
                </a:solidFill>
                <a:latin typeface="Inter"/>
                <a:ea typeface="Inter"/>
                <a:cs typeface="Inter"/>
                <a:sym typeface="Inter"/>
              </a:rPr>
              <a:t> La fondation. Rapides, isolés, nombreux.</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 name="Shape 124"/>
        <p:cNvGrpSpPr/>
        <p:nvPr/>
      </p:nvGrpSpPr>
      <p:grpSpPr>
        <a:xfrm>
          <a:off x="0" y="0"/>
          <a:ext cx="0" cy="0"/>
          <a:chOff x="0" y="0"/>
          <a:chExt cx="0" cy="0"/>
        </a:xfrm>
      </p:grpSpPr>
      <p:pic>
        <p:nvPicPr>
          <p:cNvPr descr="image.png" id="125" name="Google Shape;125;p16"/>
          <p:cNvPicPr preferRelativeResize="0"/>
          <p:nvPr/>
        </p:nvPicPr>
        <p:blipFill rotWithShape="1">
          <a:blip r:embed="rId3">
            <a:alphaModFix/>
          </a:blip>
          <a:srcRect b="0" l="0" r="0" t="0"/>
          <a:stretch/>
        </p:blipFill>
        <p:spPr>
          <a:xfrm>
            <a:off x="581025" y="2105025"/>
            <a:ext cx="5276850" cy="3810000"/>
          </a:xfrm>
          <a:prstGeom prst="rect">
            <a:avLst/>
          </a:prstGeom>
          <a:noFill/>
          <a:ln>
            <a:noFill/>
          </a:ln>
        </p:spPr>
      </p:pic>
      <p:sp>
        <p:nvSpPr>
          <p:cNvPr id="126" name="Google Shape;126;p16"/>
          <p:cNvSpPr txBox="1"/>
          <p:nvPr/>
        </p:nvSpPr>
        <p:spPr>
          <a:xfrm>
            <a:off x="581025" y="581025"/>
            <a:ext cx="11581447"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2563EB"/>
                </a:solidFill>
                <a:latin typeface="Inter"/>
                <a:ea typeface="Inter"/>
                <a:cs typeface="Inter"/>
                <a:sym typeface="Inter"/>
              </a:rPr>
              <a:t>Stratégie 2 : Le "Testing Trophy"</a:t>
            </a:r>
            <a:endParaRPr/>
          </a:p>
        </p:txBody>
      </p:sp>
      <p:sp>
        <p:nvSpPr>
          <p:cNvPr id="127" name="Google Shape;127;p16"/>
          <p:cNvSpPr/>
          <p:nvPr/>
        </p:nvSpPr>
        <p:spPr>
          <a:xfrm>
            <a:off x="581025" y="1333500"/>
            <a:ext cx="11029950" cy="2857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28" name="Google Shape;128;p16"/>
          <p:cNvPicPr preferRelativeResize="0"/>
          <p:nvPr/>
        </p:nvPicPr>
        <p:blipFill rotWithShape="1">
          <a:blip r:embed="rId4">
            <a:alphaModFix/>
          </a:blip>
          <a:srcRect b="0" l="0" r="0" t="0"/>
          <a:stretch/>
        </p:blipFill>
        <p:spPr>
          <a:xfrm>
            <a:off x="808583" y="2305050"/>
            <a:ext cx="4821733" cy="3409801"/>
          </a:xfrm>
          <a:prstGeom prst="rect">
            <a:avLst/>
          </a:prstGeom>
          <a:noFill/>
          <a:ln>
            <a:noFill/>
          </a:ln>
        </p:spPr>
      </p:pic>
      <p:sp>
        <p:nvSpPr>
          <p:cNvPr id="129" name="Google Shape;129;p16"/>
          <p:cNvSpPr txBox="1"/>
          <p:nvPr/>
        </p:nvSpPr>
        <p:spPr>
          <a:xfrm>
            <a:off x="6334125" y="2105025"/>
            <a:ext cx="5540692"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475569"/>
                </a:solidFill>
                <a:latin typeface="Inter SemiBold"/>
                <a:ea typeface="Inter SemiBold"/>
                <a:cs typeface="Inter SemiBold"/>
                <a:sym typeface="Inter SemiBold"/>
              </a:rPr>
              <a:t>L'Approche Moderne</a:t>
            </a:r>
            <a:endParaRPr/>
          </a:p>
        </p:txBody>
      </p:sp>
      <p:sp>
        <p:nvSpPr>
          <p:cNvPr id="130" name="Google Shape;130;p16"/>
          <p:cNvSpPr txBox="1"/>
          <p:nvPr/>
        </p:nvSpPr>
        <p:spPr>
          <a:xfrm>
            <a:off x="6334125" y="2619375"/>
            <a:ext cx="52768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74151"/>
                </a:solidFill>
                <a:latin typeface="Inter"/>
                <a:ea typeface="Inter"/>
                <a:cs typeface="Inter"/>
                <a:sym typeface="Inter"/>
              </a:rPr>
              <a:t>Pour les architectures modernes (Spring Boot, Microservices), l'intégration devient centrale.</a:t>
            </a:r>
            <a:endParaRPr/>
          </a:p>
        </p:txBody>
      </p:sp>
      <p:sp>
        <p:nvSpPr>
          <p:cNvPr id="131" name="Google Shape;131;p16"/>
          <p:cNvSpPr txBox="1"/>
          <p:nvPr/>
        </p:nvSpPr>
        <p:spPr>
          <a:xfrm>
            <a:off x="6715125" y="3419475"/>
            <a:ext cx="4895850" cy="304800"/>
          </a:xfrm>
          <a:prstGeom prst="rect">
            <a:avLst/>
          </a:prstGeom>
          <a:noFill/>
          <a:ln>
            <a:noFill/>
          </a:ln>
        </p:spPr>
        <p:txBody>
          <a:bodyPr anchorCtr="0" anchor="t" bIns="0" lIns="2190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74151"/>
                </a:solidFill>
                <a:latin typeface="Inter"/>
                <a:ea typeface="Inter"/>
                <a:cs typeface="Inter"/>
                <a:sym typeface="Inter"/>
              </a:rPr>
              <a:t>Static :</a:t>
            </a:r>
            <a:r>
              <a:rPr b="0" i="0" lang="en-US" sz="1500" u="none" cap="none" strike="noStrike">
                <a:solidFill>
                  <a:srgbClr val="374151"/>
                </a:solidFill>
                <a:latin typeface="Inter"/>
                <a:ea typeface="Inter"/>
                <a:cs typeface="Inter"/>
                <a:sym typeface="Inter"/>
              </a:rPr>
              <a:t> Typage (Java), Linting.</a:t>
            </a:r>
            <a:endParaRPr/>
          </a:p>
        </p:txBody>
      </p:sp>
      <p:sp>
        <p:nvSpPr>
          <p:cNvPr id="132" name="Google Shape;132;p16"/>
          <p:cNvSpPr txBox="1"/>
          <p:nvPr/>
        </p:nvSpPr>
        <p:spPr>
          <a:xfrm>
            <a:off x="6715125" y="3867150"/>
            <a:ext cx="4895850" cy="304800"/>
          </a:xfrm>
          <a:prstGeom prst="rect">
            <a:avLst/>
          </a:prstGeom>
          <a:noFill/>
          <a:ln>
            <a:noFill/>
          </a:ln>
        </p:spPr>
        <p:txBody>
          <a:bodyPr anchorCtr="0" anchor="t" bIns="0" lIns="19050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74151"/>
                </a:solidFill>
                <a:latin typeface="Inter"/>
                <a:ea typeface="Inter"/>
                <a:cs typeface="Inter"/>
                <a:sym typeface="Inter"/>
              </a:rPr>
              <a:t>Unit :</a:t>
            </a:r>
            <a:r>
              <a:rPr b="0" i="0" lang="en-US" sz="1500" u="none" cap="none" strike="noStrike">
                <a:solidFill>
                  <a:srgbClr val="374151"/>
                </a:solidFill>
                <a:latin typeface="Inter"/>
                <a:ea typeface="Inter"/>
                <a:cs typeface="Inter"/>
                <a:sym typeface="Inter"/>
              </a:rPr>
              <a:t> Pour la logique pure.</a:t>
            </a:r>
            <a:endParaRPr/>
          </a:p>
        </p:txBody>
      </p:sp>
      <p:sp>
        <p:nvSpPr>
          <p:cNvPr id="133" name="Google Shape;133;p16"/>
          <p:cNvSpPr txBox="1"/>
          <p:nvPr/>
        </p:nvSpPr>
        <p:spPr>
          <a:xfrm>
            <a:off x="6715125" y="4314825"/>
            <a:ext cx="4895850" cy="609600"/>
          </a:xfrm>
          <a:prstGeom prst="rect">
            <a:avLst/>
          </a:prstGeom>
          <a:noFill/>
          <a:ln>
            <a:noFill/>
          </a:ln>
        </p:spPr>
        <p:txBody>
          <a:bodyPr anchorCtr="0" anchor="t" bIns="0" lIns="2190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563EB"/>
                </a:solidFill>
                <a:latin typeface="Inter Black"/>
                <a:ea typeface="Inter Black"/>
                <a:cs typeface="Inter Black"/>
                <a:sym typeface="Inter Black"/>
              </a:rPr>
              <a:t>Integration :</a:t>
            </a:r>
            <a:r>
              <a:rPr b="1" i="0" lang="en-US" sz="1500" u="none" cap="none" strike="noStrike">
                <a:solidFill>
                  <a:srgbClr val="2563EB"/>
                </a:solidFill>
                <a:latin typeface="Inter"/>
                <a:ea typeface="Inter"/>
                <a:cs typeface="Inter"/>
                <a:sym typeface="Inter"/>
              </a:rPr>
              <a:t> Le gros morceau. Tester la réalité (Testcontainers).</a:t>
            </a:r>
            <a:endParaRPr/>
          </a:p>
        </p:txBody>
      </p:sp>
      <p:sp>
        <p:nvSpPr>
          <p:cNvPr id="134" name="Google Shape;134;p16"/>
          <p:cNvSpPr txBox="1"/>
          <p:nvPr/>
        </p:nvSpPr>
        <p:spPr>
          <a:xfrm>
            <a:off x="6715125" y="5067300"/>
            <a:ext cx="4895850" cy="304800"/>
          </a:xfrm>
          <a:prstGeom prst="rect">
            <a:avLst/>
          </a:prstGeom>
          <a:noFill/>
          <a:ln>
            <a:noFill/>
          </a:ln>
        </p:spPr>
        <p:txBody>
          <a:bodyPr anchorCtr="0" anchor="t" bIns="0" lIns="23812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74151"/>
                </a:solidFill>
                <a:latin typeface="Inter"/>
                <a:ea typeface="Inter"/>
                <a:cs typeface="Inter"/>
                <a:sym typeface="Inter"/>
              </a:rPr>
              <a:t>E2E :</a:t>
            </a:r>
            <a:r>
              <a:rPr b="0" i="0" lang="en-US" sz="1500" u="none" cap="none" strike="noStrike">
                <a:solidFill>
                  <a:srgbClr val="374151"/>
                </a:solidFill>
                <a:latin typeface="Inter"/>
                <a:ea typeface="Inter"/>
                <a:cs typeface="Inter"/>
                <a:sym typeface="Inter"/>
              </a:rPr>
              <a:t> Toujours minimaliste.</a:t>
            </a:r>
            <a:endParaRPr/>
          </a:p>
        </p:txBody>
      </p:sp>
      <p:pic>
        <p:nvPicPr>
          <p:cNvPr descr="image.png" id="135" name="Google Shape;135;p16"/>
          <p:cNvPicPr preferRelativeResize="0"/>
          <p:nvPr/>
        </p:nvPicPr>
        <p:blipFill rotWithShape="1">
          <a:blip r:embed="rId5">
            <a:alphaModFix/>
          </a:blip>
          <a:srcRect b="0" l="0" r="0" t="0"/>
          <a:stretch/>
        </p:blipFill>
        <p:spPr>
          <a:xfrm>
            <a:off x="6715125" y="3471862"/>
            <a:ext cx="219075" cy="200025"/>
          </a:xfrm>
          <a:prstGeom prst="rect">
            <a:avLst/>
          </a:prstGeom>
          <a:noFill/>
          <a:ln>
            <a:noFill/>
          </a:ln>
        </p:spPr>
      </p:pic>
      <p:pic>
        <p:nvPicPr>
          <p:cNvPr descr="image.png" id="136" name="Google Shape;136;p16"/>
          <p:cNvPicPr preferRelativeResize="0"/>
          <p:nvPr/>
        </p:nvPicPr>
        <p:blipFill rotWithShape="1">
          <a:blip r:embed="rId6">
            <a:alphaModFix/>
          </a:blip>
          <a:srcRect b="0" l="0" r="0" t="0"/>
          <a:stretch/>
        </p:blipFill>
        <p:spPr>
          <a:xfrm>
            <a:off x="6715125" y="3919537"/>
            <a:ext cx="190500" cy="200025"/>
          </a:xfrm>
          <a:prstGeom prst="rect">
            <a:avLst/>
          </a:prstGeom>
          <a:noFill/>
          <a:ln>
            <a:noFill/>
          </a:ln>
        </p:spPr>
      </p:pic>
      <p:pic>
        <p:nvPicPr>
          <p:cNvPr descr="image.png" id="137" name="Google Shape;137;p16"/>
          <p:cNvPicPr preferRelativeResize="0"/>
          <p:nvPr/>
        </p:nvPicPr>
        <p:blipFill rotWithShape="1">
          <a:blip r:embed="rId7">
            <a:alphaModFix/>
          </a:blip>
          <a:srcRect b="0" l="0" r="0" t="0"/>
          <a:stretch/>
        </p:blipFill>
        <p:spPr>
          <a:xfrm>
            <a:off x="6715125" y="4367212"/>
            <a:ext cx="219075" cy="200025"/>
          </a:xfrm>
          <a:prstGeom prst="rect">
            <a:avLst/>
          </a:prstGeom>
          <a:noFill/>
          <a:ln>
            <a:noFill/>
          </a:ln>
        </p:spPr>
      </p:pic>
      <p:pic>
        <p:nvPicPr>
          <p:cNvPr descr="image.png" id="138" name="Google Shape;138;p16"/>
          <p:cNvPicPr preferRelativeResize="0"/>
          <p:nvPr/>
        </p:nvPicPr>
        <p:blipFill rotWithShape="1">
          <a:blip r:embed="rId8">
            <a:alphaModFix/>
          </a:blip>
          <a:srcRect b="0" l="0" r="0" t="0"/>
          <a:stretch/>
        </p:blipFill>
        <p:spPr>
          <a:xfrm>
            <a:off x="6715125" y="5119687"/>
            <a:ext cx="238125" cy="2000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 name="Shape 142"/>
        <p:cNvGrpSpPr/>
        <p:nvPr/>
      </p:nvGrpSpPr>
      <p:grpSpPr>
        <a:xfrm>
          <a:off x="0" y="0"/>
          <a:ext cx="0" cy="0"/>
          <a:chOff x="0" y="0"/>
          <a:chExt cx="0" cy="0"/>
        </a:xfrm>
      </p:grpSpPr>
      <p:pic>
        <p:nvPicPr>
          <p:cNvPr descr="image.png" id="143" name="Google Shape;143;p17"/>
          <p:cNvPicPr preferRelativeResize="0"/>
          <p:nvPr/>
        </p:nvPicPr>
        <p:blipFill rotWithShape="1">
          <a:blip r:embed="rId3">
            <a:alphaModFix/>
          </a:blip>
          <a:srcRect b="0" l="0" r="0" t="0"/>
          <a:stretch/>
        </p:blipFill>
        <p:spPr>
          <a:xfrm>
            <a:off x="581025" y="2262187"/>
            <a:ext cx="5276850" cy="3333750"/>
          </a:xfrm>
          <a:prstGeom prst="rect">
            <a:avLst/>
          </a:prstGeom>
          <a:noFill/>
          <a:ln>
            <a:noFill/>
          </a:ln>
        </p:spPr>
      </p:pic>
      <p:pic>
        <p:nvPicPr>
          <p:cNvPr descr="image.png" id="144" name="Google Shape;144;p17"/>
          <p:cNvPicPr preferRelativeResize="0"/>
          <p:nvPr/>
        </p:nvPicPr>
        <p:blipFill rotWithShape="1">
          <a:blip r:embed="rId4">
            <a:alphaModFix/>
          </a:blip>
          <a:srcRect b="0" l="0" r="0" t="0"/>
          <a:stretch/>
        </p:blipFill>
        <p:spPr>
          <a:xfrm>
            <a:off x="6334125" y="2262187"/>
            <a:ext cx="5276850" cy="3495675"/>
          </a:xfrm>
          <a:prstGeom prst="rect">
            <a:avLst/>
          </a:prstGeom>
          <a:noFill/>
          <a:ln>
            <a:noFill/>
          </a:ln>
        </p:spPr>
      </p:pic>
      <p:sp>
        <p:nvSpPr>
          <p:cNvPr id="145" name="Google Shape;145;p17"/>
          <p:cNvSpPr txBox="1"/>
          <p:nvPr/>
        </p:nvSpPr>
        <p:spPr>
          <a:xfrm>
            <a:off x="581025" y="581025"/>
            <a:ext cx="11581447"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2563EB"/>
                </a:solidFill>
                <a:latin typeface="Inter"/>
                <a:ea typeface="Inter"/>
                <a:cs typeface="Inter"/>
                <a:sym typeface="Inter"/>
              </a:rPr>
              <a:t>Méthodologie : TDD</a:t>
            </a:r>
            <a:endParaRPr/>
          </a:p>
        </p:txBody>
      </p:sp>
      <p:sp>
        <p:nvSpPr>
          <p:cNvPr id="146" name="Google Shape;146;p17"/>
          <p:cNvSpPr/>
          <p:nvPr/>
        </p:nvSpPr>
        <p:spPr>
          <a:xfrm>
            <a:off x="581025" y="1333500"/>
            <a:ext cx="11029950" cy="2857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47" name="Google Shape;147;p17"/>
          <p:cNvPicPr preferRelativeResize="0"/>
          <p:nvPr/>
        </p:nvPicPr>
        <p:blipFill rotWithShape="1">
          <a:blip r:embed="rId5">
            <a:alphaModFix/>
          </a:blip>
          <a:srcRect b="0" l="0" r="0" t="0"/>
          <a:stretch/>
        </p:blipFill>
        <p:spPr>
          <a:xfrm>
            <a:off x="1297185" y="2652712"/>
            <a:ext cx="3844379" cy="2552551"/>
          </a:xfrm>
          <a:prstGeom prst="rect">
            <a:avLst/>
          </a:prstGeom>
          <a:noFill/>
          <a:ln>
            <a:noFill/>
          </a:ln>
        </p:spPr>
      </p:pic>
      <p:sp>
        <p:nvSpPr>
          <p:cNvPr id="148" name="Google Shape;148;p17"/>
          <p:cNvSpPr txBox="1"/>
          <p:nvPr/>
        </p:nvSpPr>
        <p:spPr>
          <a:xfrm>
            <a:off x="6724650" y="2652712"/>
            <a:ext cx="4720590"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chemeClr val="dk1"/>
                </a:solidFill>
                <a:latin typeface="Inter SemiBold"/>
                <a:ea typeface="Inter SemiBold"/>
                <a:cs typeface="Inter SemiBold"/>
                <a:sym typeface="Inter SemiBold"/>
              </a:rPr>
              <a:t>RED</a:t>
            </a:r>
            <a:r>
              <a:rPr b="0" i="0" lang="en-US" sz="2100" u="none" cap="none" strike="noStrike">
                <a:solidFill>
                  <a:srgbClr val="475569"/>
                </a:solidFill>
                <a:latin typeface="Inter SemiBold"/>
                <a:ea typeface="Inter SemiBold"/>
                <a:cs typeface="Inter SemiBold"/>
                <a:sym typeface="Inter SemiBold"/>
              </a:rPr>
              <a:t> - </a:t>
            </a:r>
            <a:r>
              <a:rPr b="0" i="0" lang="en-US" sz="2100" u="none" cap="none" strike="noStrike">
                <a:solidFill>
                  <a:schemeClr val="dk1"/>
                </a:solidFill>
                <a:latin typeface="Inter SemiBold"/>
                <a:ea typeface="Inter SemiBold"/>
                <a:cs typeface="Inter SemiBold"/>
                <a:sym typeface="Inter SemiBold"/>
              </a:rPr>
              <a:t>GREEN</a:t>
            </a:r>
            <a:r>
              <a:rPr b="0" i="0" lang="en-US" sz="2100" u="none" cap="none" strike="noStrike">
                <a:solidFill>
                  <a:srgbClr val="475569"/>
                </a:solidFill>
                <a:latin typeface="Inter SemiBold"/>
                <a:ea typeface="Inter SemiBold"/>
                <a:cs typeface="Inter SemiBold"/>
                <a:sym typeface="Inter SemiBold"/>
              </a:rPr>
              <a:t> - </a:t>
            </a:r>
            <a:r>
              <a:rPr b="0" i="0" lang="en-US" sz="2100" u="none" cap="none" strike="noStrike">
                <a:solidFill>
                  <a:schemeClr val="dk1"/>
                </a:solidFill>
                <a:latin typeface="Inter SemiBold"/>
                <a:ea typeface="Inter SemiBold"/>
                <a:cs typeface="Inter SemiBold"/>
                <a:sym typeface="Inter SemiBold"/>
              </a:rPr>
              <a:t>REFACTOR</a:t>
            </a:r>
            <a:endParaRPr/>
          </a:p>
        </p:txBody>
      </p:sp>
      <p:sp>
        <p:nvSpPr>
          <p:cNvPr id="149" name="Google Shape;149;p17"/>
          <p:cNvSpPr txBox="1"/>
          <p:nvPr/>
        </p:nvSpPr>
        <p:spPr>
          <a:xfrm>
            <a:off x="6724650" y="3309937"/>
            <a:ext cx="44958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74151"/>
                </a:solidFill>
                <a:latin typeface="Inter"/>
                <a:ea typeface="Inter"/>
                <a:cs typeface="Inter"/>
                <a:sym typeface="Inter"/>
              </a:rPr>
              <a:t>Le TDD n'est pas juste une technique de test, c'est une technique de </a:t>
            </a:r>
            <a:r>
              <a:rPr b="1" i="0" lang="en-US" sz="1500" u="none" cap="none" strike="noStrike">
                <a:solidFill>
                  <a:srgbClr val="374151"/>
                </a:solidFill>
                <a:latin typeface="Inter"/>
                <a:ea typeface="Inter"/>
                <a:cs typeface="Inter"/>
                <a:sym typeface="Inter"/>
              </a:rPr>
              <a:t>conception</a:t>
            </a:r>
            <a:r>
              <a:rPr b="0" i="0" lang="en-US" sz="1500" u="none" cap="none" strike="noStrike">
                <a:solidFill>
                  <a:srgbClr val="374151"/>
                </a:solidFill>
                <a:latin typeface="Inter"/>
                <a:ea typeface="Inter"/>
                <a:cs typeface="Inter"/>
                <a:sym typeface="Inter"/>
              </a:rPr>
              <a:t> (Design).</a:t>
            </a:r>
            <a:endParaRPr/>
          </a:p>
        </p:txBody>
      </p:sp>
      <p:sp>
        <p:nvSpPr>
          <p:cNvPr id="150" name="Google Shape;150;p17"/>
          <p:cNvSpPr txBox="1"/>
          <p:nvPr/>
        </p:nvSpPr>
        <p:spPr>
          <a:xfrm>
            <a:off x="7000875" y="4300537"/>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74151"/>
                </a:solidFill>
                <a:latin typeface="Inter"/>
                <a:ea typeface="Inter"/>
                <a:cs typeface="Inter"/>
                <a:sym typeface="Inter"/>
              </a:rPr>
              <a:t>•</a:t>
            </a:r>
            <a:endParaRPr/>
          </a:p>
        </p:txBody>
      </p:sp>
      <p:sp>
        <p:nvSpPr>
          <p:cNvPr id="151" name="Google Shape;151;p17"/>
          <p:cNvSpPr txBox="1"/>
          <p:nvPr/>
        </p:nvSpPr>
        <p:spPr>
          <a:xfrm>
            <a:off x="7105650" y="4300537"/>
            <a:ext cx="4114800" cy="3048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74151"/>
                </a:solidFill>
                <a:latin typeface="Inter"/>
                <a:ea typeface="Inter"/>
                <a:cs typeface="Inter"/>
                <a:sym typeface="Inter"/>
              </a:rPr>
              <a:t>On écrit le test </a:t>
            </a:r>
            <a:r>
              <a:rPr b="0" i="1" lang="en-US" sz="1500" u="none" cap="none" strike="noStrike">
                <a:solidFill>
                  <a:srgbClr val="374151"/>
                </a:solidFill>
                <a:latin typeface="Inter"/>
                <a:ea typeface="Inter"/>
                <a:cs typeface="Inter"/>
                <a:sym typeface="Inter"/>
              </a:rPr>
              <a:t>avant</a:t>
            </a:r>
            <a:r>
              <a:rPr b="0" i="0" lang="en-US" sz="1500" u="none" cap="none" strike="noStrike">
                <a:solidFill>
                  <a:srgbClr val="374151"/>
                </a:solidFill>
                <a:latin typeface="Inter"/>
                <a:ea typeface="Inter"/>
                <a:cs typeface="Inter"/>
                <a:sym typeface="Inter"/>
              </a:rPr>
              <a:t> le code.</a:t>
            </a:r>
            <a:endParaRPr/>
          </a:p>
        </p:txBody>
      </p:sp>
      <p:sp>
        <p:nvSpPr>
          <p:cNvPr id="152" name="Google Shape;152;p17"/>
          <p:cNvSpPr txBox="1"/>
          <p:nvPr/>
        </p:nvSpPr>
        <p:spPr>
          <a:xfrm>
            <a:off x="7000875" y="4605337"/>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74151"/>
                </a:solidFill>
                <a:latin typeface="Inter"/>
                <a:ea typeface="Inter"/>
                <a:cs typeface="Inter"/>
                <a:sym typeface="Inter"/>
              </a:rPr>
              <a:t>•</a:t>
            </a:r>
            <a:endParaRPr/>
          </a:p>
        </p:txBody>
      </p:sp>
      <p:sp>
        <p:nvSpPr>
          <p:cNvPr id="153" name="Google Shape;153;p17"/>
          <p:cNvSpPr txBox="1"/>
          <p:nvPr/>
        </p:nvSpPr>
        <p:spPr>
          <a:xfrm>
            <a:off x="7105650" y="4605337"/>
            <a:ext cx="4114800" cy="3048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74151"/>
                </a:solidFill>
                <a:latin typeface="Inter"/>
                <a:ea typeface="Inter"/>
                <a:cs typeface="Inter"/>
                <a:sym typeface="Inter"/>
              </a:rPr>
              <a:t>On conçoit l'interface par son usage.</a:t>
            </a:r>
            <a:endParaRPr/>
          </a:p>
        </p:txBody>
      </p:sp>
      <p:sp>
        <p:nvSpPr>
          <p:cNvPr id="154" name="Google Shape;154;p17"/>
          <p:cNvSpPr txBox="1"/>
          <p:nvPr/>
        </p:nvSpPr>
        <p:spPr>
          <a:xfrm>
            <a:off x="7000875" y="4910137"/>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74151"/>
                </a:solidFill>
                <a:latin typeface="Inter"/>
                <a:ea typeface="Inter"/>
                <a:cs typeface="Inter"/>
                <a:sym typeface="Inter"/>
              </a:rPr>
              <a:t>•</a:t>
            </a:r>
            <a:endParaRPr/>
          </a:p>
        </p:txBody>
      </p:sp>
      <p:sp>
        <p:nvSpPr>
          <p:cNvPr id="155" name="Google Shape;155;p17"/>
          <p:cNvSpPr txBox="1"/>
          <p:nvPr/>
        </p:nvSpPr>
        <p:spPr>
          <a:xfrm>
            <a:off x="7105650" y="4910137"/>
            <a:ext cx="4114800" cy="3048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74151"/>
                </a:solidFill>
                <a:latin typeface="Inter"/>
                <a:ea typeface="Inter"/>
                <a:cs typeface="Inter"/>
                <a:sym typeface="Inter"/>
              </a:rPr>
              <a:t>Le refactoring devient une étape naturelle.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 name="Shape 159"/>
        <p:cNvGrpSpPr/>
        <p:nvPr/>
      </p:nvGrpSpPr>
      <p:grpSpPr>
        <a:xfrm>
          <a:off x="0" y="0"/>
          <a:ext cx="0" cy="0"/>
          <a:chOff x="0" y="0"/>
          <a:chExt cx="0" cy="0"/>
        </a:xfrm>
      </p:grpSpPr>
      <p:pic>
        <p:nvPicPr>
          <p:cNvPr descr="image.png" id="160" name="Google Shape;160;p18"/>
          <p:cNvPicPr preferRelativeResize="0"/>
          <p:nvPr/>
        </p:nvPicPr>
        <p:blipFill rotWithShape="1">
          <a:blip r:embed="rId3">
            <a:alphaModFix/>
          </a:blip>
          <a:srcRect b="0" l="0" r="0" t="0"/>
          <a:stretch/>
        </p:blipFill>
        <p:spPr>
          <a:xfrm>
            <a:off x="6334125" y="3024187"/>
            <a:ext cx="5276850" cy="2438400"/>
          </a:xfrm>
          <a:prstGeom prst="rect">
            <a:avLst/>
          </a:prstGeom>
          <a:noFill/>
          <a:ln>
            <a:noFill/>
          </a:ln>
        </p:spPr>
      </p:pic>
      <p:sp>
        <p:nvSpPr>
          <p:cNvPr id="161" name="Google Shape;161;p18"/>
          <p:cNvSpPr txBox="1"/>
          <p:nvPr/>
        </p:nvSpPr>
        <p:spPr>
          <a:xfrm>
            <a:off x="581025" y="581025"/>
            <a:ext cx="11581447"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2563EB"/>
                </a:solidFill>
                <a:latin typeface="Inter"/>
                <a:ea typeface="Inter"/>
                <a:cs typeface="Inter"/>
                <a:sym typeface="Inter"/>
              </a:rPr>
              <a:t>Anatomie d'un Bon Test</a:t>
            </a:r>
            <a:endParaRPr/>
          </a:p>
        </p:txBody>
      </p:sp>
      <p:sp>
        <p:nvSpPr>
          <p:cNvPr id="162" name="Google Shape;162;p18"/>
          <p:cNvSpPr/>
          <p:nvPr/>
        </p:nvSpPr>
        <p:spPr>
          <a:xfrm>
            <a:off x="581025" y="1333500"/>
            <a:ext cx="11029950" cy="2857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18"/>
          <p:cNvSpPr txBox="1"/>
          <p:nvPr/>
        </p:nvSpPr>
        <p:spPr>
          <a:xfrm>
            <a:off x="581025" y="2557462"/>
            <a:ext cx="5540692" cy="323850"/>
          </a:xfrm>
          <a:prstGeom prst="rect">
            <a:avLst/>
          </a:prstGeom>
          <a:noFill/>
          <a:ln>
            <a:noFill/>
          </a:ln>
        </p:spPr>
        <p:txBody>
          <a:bodyPr anchorCtr="0" anchor="t" bIns="0" lIns="333375" spcFirstLastPara="1" rIns="0" wrap="square" tIns="0">
            <a:spAutoFit/>
          </a:bodyPr>
          <a:lstStyle/>
          <a:p>
            <a:pPr indent="0" lvl="0" marL="0" marR="0" rtl="0" algn="l">
              <a:spcBef>
                <a:spcPts val="0"/>
              </a:spcBef>
              <a:spcAft>
                <a:spcPts val="0"/>
              </a:spcAft>
              <a:buNone/>
            </a:pPr>
            <a:r>
              <a:rPr b="0" i="0" lang="en-US" sz="2100" u="none" cap="none" strike="noStrike">
                <a:solidFill>
                  <a:srgbClr val="475569"/>
                </a:solidFill>
                <a:latin typeface="Inter SemiBold"/>
                <a:ea typeface="Inter SemiBold"/>
                <a:cs typeface="Inter SemiBold"/>
                <a:sym typeface="Inter SemiBold"/>
              </a:rPr>
              <a:t>Nommage Expressif</a:t>
            </a:r>
            <a:endParaRPr/>
          </a:p>
        </p:txBody>
      </p:sp>
      <p:sp>
        <p:nvSpPr>
          <p:cNvPr id="164" name="Google Shape;164;p18"/>
          <p:cNvSpPr txBox="1"/>
          <p:nvPr/>
        </p:nvSpPr>
        <p:spPr>
          <a:xfrm>
            <a:off x="581025" y="3071812"/>
            <a:ext cx="52768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74151"/>
                </a:solidFill>
                <a:latin typeface="Inter"/>
                <a:ea typeface="Inter"/>
                <a:cs typeface="Inter"/>
                <a:sym typeface="Inter"/>
              </a:rPr>
              <a:t>Le nom du test doit décrire un comportement métier, pas une méthode technique.</a:t>
            </a:r>
            <a:endParaRPr/>
          </a:p>
        </p:txBody>
      </p:sp>
      <p:sp>
        <p:nvSpPr>
          <p:cNvPr id="165" name="Google Shape;165;p18"/>
          <p:cNvSpPr txBox="1"/>
          <p:nvPr/>
        </p:nvSpPr>
        <p:spPr>
          <a:xfrm>
            <a:off x="581025" y="3871912"/>
            <a:ext cx="5276850" cy="314325"/>
          </a:xfrm>
          <a:prstGeom prst="rect">
            <a:avLst/>
          </a:prstGeom>
          <a:noFill/>
          <a:ln>
            <a:noFill/>
          </a:ln>
        </p:spPr>
        <p:txBody>
          <a:bodyPr anchorCtr="0" anchor="t" bIns="0" lIns="1428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testCalculate()</a:t>
            </a:r>
            <a:endParaRPr/>
          </a:p>
        </p:txBody>
      </p:sp>
      <p:sp>
        <p:nvSpPr>
          <p:cNvPr id="166" name="Google Shape;166;p18"/>
          <p:cNvSpPr txBox="1"/>
          <p:nvPr/>
        </p:nvSpPr>
        <p:spPr>
          <a:xfrm>
            <a:off x="581025" y="4376737"/>
            <a:ext cx="5276850" cy="314325"/>
          </a:xfrm>
          <a:prstGeom prst="rect">
            <a:avLst/>
          </a:prstGeom>
          <a:noFill/>
          <a:ln>
            <a:noFill/>
          </a:ln>
        </p:spPr>
        <p:txBody>
          <a:bodyPr anchorCtr="0" anchor="t" bIns="0" lIns="17145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16A34A"/>
                </a:solidFill>
                <a:latin typeface="Inter"/>
                <a:ea typeface="Inter"/>
                <a:cs typeface="Inter"/>
                <a:sym typeface="Inter"/>
              </a:rPr>
              <a:t>should_apply_tax_on_standard_product()</a:t>
            </a:r>
            <a:endParaRPr/>
          </a:p>
        </p:txBody>
      </p:sp>
      <p:sp>
        <p:nvSpPr>
          <p:cNvPr id="167" name="Google Shape;167;p18"/>
          <p:cNvSpPr txBox="1"/>
          <p:nvPr/>
        </p:nvSpPr>
        <p:spPr>
          <a:xfrm>
            <a:off x="6334125" y="2557462"/>
            <a:ext cx="5540692" cy="323850"/>
          </a:xfrm>
          <a:prstGeom prst="rect">
            <a:avLst/>
          </a:prstGeom>
          <a:noFill/>
          <a:ln>
            <a:noFill/>
          </a:ln>
        </p:spPr>
        <p:txBody>
          <a:bodyPr anchorCtr="0" anchor="t" bIns="0" lIns="304800" spcFirstLastPara="1" rIns="0" wrap="square" tIns="0">
            <a:spAutoFit/>
          </a:bodyPr>
          <a:lstStyle/>
          <a:p>
            <a:pPr indent="0" lvl="0" marL="0" marR="0" rtl="0" algn="l">
              <a:spcBef>
                <a:spcPts val="0"/>
              </a:spcBef>
              <a:spcAft>
                <a:spcPts val="0"/>
              </a:spcAft>
              <a:buNone/>
            </a:pPr>
            <a:r>
              <a:rPr b="0" i="0" lang="en-US" sz="2100" u="none" cap="none" strike="noStrike">
                <a:solidFill>
                  <a:srgbClr val="475569"/>
                </a:solidFill>
                <a:latin typeface="Inter SemiBold"/>
                <a:ea typeface="Inter SemiBold"/>
                <a:cs typeface="Inter SemiBold"/>
                <a:sym typeface="Inter SemiBold"/>
              </a:rPr>
              <a:t>Pattern AAA</a:t>
            </a:r>
            <a:endParaRPr/>
          </a:p>
        </p:txBody>
      </p:sp>
      <p:pic>
        <p:nvPicPr>
          <p:cNvPr descr="image.png" id="168" name="Google Shape;168;p18"/>
          <p:cNvPicPr preferRelativeResize="0"/>
          <p:nvPr/>
        </p:nvPicPr>
        <p:blipFill rotWithShape="1">
          <a:blip r:embed="rId4">
            <a:alphaModFix/>
          </a:blip>
          <a:srcRect b="0" l="0" r="0" t="0"/>
          <a:stretch/>
        </p:blipFill>
        <p:spPr>
          <a:xfrm>
            <a:off x="581025" y="2586037"/>
            <a:ext cx="333375" cy="266700"/>
          </a:xfrm>
          <a:prstGeom prst="rect">
            <a:avLst/>
          </a:prstGeom>
          <a:noFill/>
          <a:ln>
            <a:noFill/>
          </a:ln>
        </p:spPr>
      </p:pic>
      <p:pic>
        <p:nvPicPr>
          <p:cNvPr descr="image.png" id="169" name="Google Shape;169;p18"/>
          <p:cNvPicPr preferRelativeResize="0"/>
          <p:nvPr/>
        </p:nvPicPr>
        <p:blipFill rotWithShape="1">
          <a:blip r:embed="rId5">
            <a:alphaModFix/>
          </a:blip>
          <a:srcRect b="0" l="0" r="0" t="0"/>
          <a:stretch/>
        </p:blipFill>
        <p:spPr>
          <a:xfrm>
            <a:off x="581025" y="3929062"/>
            <a:ext cx="142875" cy="190500"/>
          </a:xfrm>
          <a:prstGeom prst="rect">
            <a:avLst/>
          </a:prstGeom>
          <a:noFill/>
          <a:ln>
            <a:noFill/>
          </a:ln>
        </p:spPr>
      </p:pic>
      <p:pic>
        <p:nvPicPr>
          <p:cNvPr descr="image.png" id="170" name="Google Shape;170;p18"/>
          <p:cNvPicPr preferRelativeResize="0"/>
          <p:nvPr/>
        </p:nvPicPr>
        <p:blipFill rotWithShape="1">
          <a:blip r:embed="rId6">
            <a:alphaModFix/>
          </a:blip>
          <a:srcRect b="0" l="0" r="0" t="0"/>
          <a:stretch/>
        </p:blipFill>
        <p:spPr>
          <a:xfrm>
            <a:off x="581025" y="4433887"/>
            <a:ext cx="171450" cy="190500"/>
          </a:xfrm>
          <a:prstGeom prst="rect">
            <a:avLst/>
          </a:prstGeom>
          <a:noFill/>
          <a:ln>
            <a:noFill/>
          </a:ln>
        </p:spPr>
      </p:pic>
      <p:pic>
        <p:nvPicPr>
          <p:cNvPr descr="image.png" id="171" name="Google Shape;171;p18"/>
          <p:cNvPicPr preferRelativeResize="0"/>
          <p:nvPr/>
        </p:nvPicPr>
        <p:blipFill rotWithShape="1">
          <a:blip r:embed="rId7">
            <a:alphaModFix/>
          </a:blip>
          <a:srcRect b="0" l="0" r="0" t="0"/>
          <a:stretch/>
        </p:blipFill>
        <p:spPr>
          <a:xfrm>
            <a:off x="6334125" y="2586037"/>
            <a:ext cx="304800" cy="266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 name="Shape 175"/>
        <p:cNvGrpSpPr/>
        <p:nvPr/>
      </p:nvGrpSpPr>
      <p:grpSpPr>
        <a:xfrm>
          <a:off x="0" y="0"/>
          <a:ext cx="0" cy="0"/>
          <a:chOff x="0" y="0"/>
          <a:chExt cx="0" cy="0"/>
        </a:xfrm>
      </p:grpSpPr>
      <p:sp>
        <p:nvSpPr>
          <p:cNvPr id="176" name="Google Shape;176;p19"/>
          <p:cNvSpPr txBox="1"/>
          <p:nvPr/>
        </p:nvSpPr>
        <p:spPr>
          <a:xfrm>
            <a:off x="581025" y="581025"/>
            <a:ext cx="11581447"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2563EB"/>
                </a:solidFill>
                <a:latin typeface="Inter"/>
                <a:ea typeface="Inter"/>
                <a:cs typeface="Inter"/>
                <a:sym typeface="Inter"/>
              </a:rPr>
              <a:t>Lisibilité &amp; Assertions</a:t>
            </a:r>
            <a:endParaRPr/>
          </a:p>
        </p:txBody>
      </p:sp>
      <p:sp>
        <p:nvSpPr>
          <p:cNvPr id="177" name="Google Shape;177;p19"/>
          <p:cNvSpPr/>
          <p:nvPr/>
        </p:nvSpPr>
        <p:spPr>
          <a:xfrm>
            <a:off x="581025" y="1333500"/>
            <a:ext cx="11029950" cy="2857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19"/>
          <p:cNvSpPr txBox="1"/>
          <p:nvPr/>
        </p:nvSpPr>
        <p:spPr>
          <a:xfrm>
            <a:off x="1343025" y="2733675"/>
            <a:ext cx="9505950" cy="1600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3150" u="none" cap="none" strike="noStrike">
                <a:solidFill>
                  <a:srgbClr val="2563EB"/>
                </a:solidFill>
                <a:latin typeface="JetBrains Mono SemiBold"/>
                <a:ea typeface="JetBrains Mono SemiBold"/>
                <a:cs typeface="JetBrains Mono SemiBold"/>
                <a:sym typeface="JetBrains Mono SemiBold"/>
              </a:rPr>
              <a:t>"Testez un seul concept par méthode de test. Limitez-vous à 1 assertion logique."</a:t>
            </a:r>
            <a:endParaRPr/>
          </a:p>
        </p:txBody>
      </p:sp>
      <p:sp>
        <p:nvSpPr>
          <p:cNvPr id="179" name="Google Shape;179;p19"/>
          <p:cNvSpPr txBox="1"/>
          <p:nvPr/>
        </p:nvSpPr>
        <p:spPr>
          <a:xfrm>
            <a:off x="581025" y="4733925"/>
            <a:ext cx="11029950"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64748B"/>
                </a:solidFill>
                <a:latin typeface="Inter"/>
                <a:ea typeface="Inter"/>
                <a:cs typeface="Inter"/>
                <a:sym typeface="Inter"/>
              </a:rPr>
              <a:t>Utilisez </a:t>
            </a:r>
            <a:r>
              <a:rPr b="1" i="0" lang="en-US" sz="1800" u="none" cap="none" strike="noStrike">
                <a:solidFill>
                  <a:srgbClr val="64748B"/>
                </a:solidFill>
                <a:latin typeface="Inter"/>
                <a:ea typeface="Inter"/>
                <a:cs typeface="Inter"/>
                <a:sym typeface="Inter"/>
              </a:rPr>
              <a:t>AssertJ</a:t>
            </a:r>
            <a:r>
              <a:rPr b="0" i="0" lang="en-US" sz="1800" u="none" cap="none" strike="noStrike">
                <a:solidFill>
                  <a:srgbClr val="64748B"/>
                </a:solidFill>
                <a:latin typeface="Inter"/>
                <a:ea typeface="Inter"/>
                <a:cs typeface="Inter"/>
                <a:sym typeface="Inter"/>
              </a:rPr>
              <a:t> pour des assertions fluides.</a:t>
            </a:r>
            <a:endParaRPr/>
          </a:p>
        </p:txBody>
      </p:sp>
      <p:sp>
        <p:nvSpPr>
          <p:cNvPr id="180" name="Google Shape;180;p19"/>
          <p:cNvSpPr txBox="1"/>
          <p:nvPr/>
        </p:nvSpPr>
        <p:spPr>
          <a:xfrm>
            <a:off x="581025" y="5391150"/>
            <a:ext cx="11029950"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6A34A"/>
                </a:solidFill>
                <a:latin typeface="JetBrains Mono"/>
                <a:ea typeface="JetBrains Mono"/>
                <a:cs typeface="JetBrains Mono"/>
                <a:sym typeface="JetBrains Mono"/>
              </a:rPr>
              <a:t>assertThat(user.getStatus()).isEqualTo(ACTIVE);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4" name="Shape 184"/>
        <p:cNvGrpSpPr/>
        <p:nvPr/>
      </p:nvGrpSpPr>
      <p:grpSpPr>
        <a:xfrm>
          <a:off x="0" y="0"/>
          <a:ext cx="0" cy="0"/>
          <a:chOff x="0" y="0"/>
          <a:chExt cx="0" cy="0"/>
        </a:xfrm>
      </p:grpSpPr>
      <p:pic>
        <p:nvPicPr>
          <p:cNvPr descr="image.png" id="185" name="Google Shape;185;p20"/>
          <p:cNvPicPr preferRelativeResize="0"/>
          <p:nvPr/>
        </p:nvPicPr>
        <p:blipFill rotWithShape="1">
          <a:blip r:embed="rId3">
            <a:alphaModFix/>
          </a:blip>
          <a:srcRect b="0" l="0" r="0" t="0"/>
          <a:stretch/>
        </p:blipFill>
        <p:spPr>
          <a:xfrm>
            <a:off x="581025" y="2300287"/>
            <a:ext cx="3486150" cy="3419475"/>
          </a:xfrm>
          <a:prstGeom prst="rect">
            <a:avLst/>
          </a:prstGeom>
          <a:noFill/>
          <a:ln>
            <a:noFill/>
          </a:ln>
        </p:spPr>
      </p:pic>
      <p:pic>
        <p:nvPicPr>
          <p:cNvPr descr="image.png" id="186" name="Google Shape;186;p20"/>
          <p:cNvPicPr preferRelativeResize="0"/>
          <p:nvPr/>
        </p:nvPicPr>
        <p:blipFill rotWithShape="1">
          <a:blip r:embed="rId4">
            <a:alphaModFix/>
          </a:blip>
          <a:srcRect b="0" l="0" r="0" t="0"/>
          <a:stretch/>
        </p:blipFill>
        <p:spPr>
          <a:xfrm>
            <a:off x="4352925" y="2300287"/>
            <a:ext cx="3486150" cy="3419475"/>
          </a:xfrm>
          <a:prstGeom prst="rect">
            <a:avLst/>
          </a:prstGeom>
          <a:noFill/>
          <a:ln>
            <a:noFill/>
          </a:ln>
        </p:spPr>
      </p:pic>
      <p:pic>
        <p:nvPicPr>
          <p:cNvPr descr="image.png" id="187" name="Google Shape;187;p20"/>
          <p:cNvPicPr preferRelativeResize="0"/>
          <p:nvPr/>
        </p:nvPicPr>
        <p:blipFill rotWithShape="1">
          <a:blip r:embed="rId5">
            <a:alphaModFix/>
          </a:blip>
          <a:srcRect b="0" l="0" r="0" t="0"/>
          <a:stretch/>
        </p:blipFill>
        <p:spPr>
          <a:xfrm>
            <a:off x="8124825" y="2300287"/>
            <a:ext cx="3486150" cy="3419475"/>
          </a:xfrm>
          <a:prstGeom prst="rect">
            <a:avLst/>
          </a:prstGeom>
          <a:noFill/>
          <a:ln>
            <a:noFill/>
          </a:ln>
        </p:spPr>
      </p:pic>
      <p:sp>
        <p:nvSpPr>
          <p:cNvPr id="188" name="Google Shape;188;p20"/>
          <p:cNvSpPr txBox="1"/>
          <p:nvPr/>
        </p:nvSpPr>
        <p:spPr>
          <a:xfrm>
            <a:off x="581025" y="581025"/>
            <a:ext cx="11581447"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2563EB"/>
                </a:solidFill>
                <a:latin typeface="Inter"/>
                <a:ea typeface="Inter"/>
                <a:cs typeface="Inter"/>
                <a:sym typeface="Inter"/>
              </a:rPr>
              <a:t>Les Anti-Patterns (Part 1)</a:t>
            </a:r>
            <a:endParaRPr/>
          </a:p>
        </p:txBody>
      </p:sp>
      <p:sp>
        <p:nvSpPr>
          <p:cNvPr id="189" name="Google Shape;189;p20"/>
          <p:cNvSpPr/>
          <p:nvPr/>
        </p:nvSpPr>
        <p:spPr>
          <a:xfrm>
            <a:off x="581025" y="1333500"/>
            <a:ext cx="11029950" cy="2857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0" name="Google Shape;190;p20"/>
          <p:cNvSpPr txBox="1"/>
          <p:nvPr/>
        </p:nvSpPr>
        <p:spPr>
          <a:xfrm>
            <a:off x="1408985" y="3357562"/>
            <a:ext cx="1830228"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475569"/>
                </a:solidFill>
                <a:latin typeface="Inter SemiBold"/>
                <a:ea typeface="Inter SemiBold"/>
                <a:cs typeface="Inter SemiBold"/>
                <a:sym typeface="Inter SemiBold"/>
              </a:rPr>
              <a:t>Le Test Miroir</a:t>
            </a:r>
            <a:endParaRPr/>
          </a:p>
        </p:txBody>
      </p:sp>
      <p:sp>
        <p:nvSpPr>
          <p:cNvPr id="191" name="Google Shape;191;p20"/>
          <p:cNvSpPr txBox="1"/>
          <p:nvPr/>
        </p:nvSpPr>
        <p:spPr>
          <a:xfrm>
            <a:off x="876300" y="4014787"/>
            <a:ext cx="2895600" cy="1219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374151"/>
                </a:solidFill>
                <a:latin typeface="Inter"/>
                <a:ea typeface="Inter"/>
                <a:cs typeface="Inter"/>
                <a:sym typeface="Inter"/>
              </a:rPr>
              <a:t>Recopie l'implémentation. Fragile au refactoring, n'apporte aucune valeur ajoutée.</a:t>
            </a:r>
            <a:endParaRPr/>
          </a:p>
        </p:txBody>
      </p:sp>
      <p:sp>
        <p:nvSpPr>
          <p:cNvPr id="192" name="Google Shape;192;p20"/>
          <p:cNvSpPr txBox="1"/>
          <p:nvPr/>
        </p:nvSpPr>
        <p:spPr>
          <a:xfrm>
            <a:off x="4760833" y="3357562"/>
            <a:ext cx="2670333"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475569"/>
                </a:solidFill>
                <a:latin typeface="Inter SemiBold"/>
                <a:ea typeface="Inter SemiBold"/>
                <a:cs typeface="Inter SemiBold"/>
                <a:sym typeface="Inter SemiBold"/>
              </a:rPr>
              <a:t>L'Excès de Mocking</a:t>
            </a:r>
            <a:endParaRPr/>
          </a:p>
        </p:txBody>
      </p:sp>
      <p:sp>
        <p:nvSpPr>
          <p:cNvPr id="193" name="Google Shape;193;p20"/>
          <p:cNvSpPr txBox="1"/>
          <p:nvPr/>
        </p:nvSpPr>
        <p:spPr>
          <a:xfrm>
            <a:off x="4648200" y="4014787"/>
            <a:ext cx="2895600" cy="9144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374151"/>
                </a:solidFill>
                <a:latin typeface="Inter"/>
                <a:ea typeface="Inter"/>
                <a:cs typeface="Inter"/>
                <a:sym typeface="Inter"/>
              </a:rPr>
              <a:t>Tester les interactions internes plutôt que le résultat final. Rend le test illisible.</a:t>
            </a:r>
            <a:endParaRPr/>
          </a:p>
        </p:txBody>
      </p:sp>
      <p:sp>
        <p:nvSpPr>
          <p:cNvPr id="194" name="Google Shape;194;p20"/>
          <p:cNvSpPr txBox="1"/>
          <p:nvPr/>
        </p:nvSpPr>
        <p:spPr>
          <a:xfrm>
            <a:off x="9127807" y="3357562"/>
            <a:ext cx="1480185"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475569"/>
                </a:solidFill>
                <a:latin typeface="Inter SemiBold"/>
                <a:ea typeface="Inter SemiBold"/>
                <a:cs typeface="Inter SemiBold"/>
                <a:sym typeface="Inter SemiBold"/>
              </a:rPr>
              <a:t>La Logique</a:t>
            </a:r>
            <a:endParaRPr/>
          </a:p>
        </p:txBody>
      </p:sp>
      <p:sp>
        <p:nvSpPr>
          <p:cNvPr id="195" name="Google Shape;195;p20"/>
          <p:cNvSpPr txBox="1"/>
          <p:nvPr/>
        </p:nvSpPr>
        <p:spPr>
          <a:xfrm>
            <a:off x="8420100" y="4014787"/>
            <a:ext cx="2895600" cy="619125"/>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374151"/>
                </a:solidFill>
                <a:latin typeface="Inter"/>
                <a:ea typeface="Inter"/>
                <a:cs typeface="Inter"/>
                <a:sym typeface="Inter"/>
              </a:rPr>
              <a:t>Jamais de if ou de for dans un test. Un test doit être linéaire.</a:t>
            </a:r>
            <a:endParaRPr/>
          </a:p>
        </p:txBody>
      </p:sp>
      <p:pic>
        <p:nvPicPr>
          <p:cNvPr descr="image.png" id="196" name="Google Shape;196;p20"/>
          <p:cNvPicPr preferRelativeResize="0"/>
          <p:nvPr/>
        </p:nvPicPr>
        <p:blipFill rotWithShape="1">
          <a:blip r:embed="rId6">
            <a:alphaModFix/>
          </a:blip>
          <a:srcRect b="0" l="0" r="0" t="0"/>
          <a:stretch/>
        </p:blipFill>
        <p:spPr>
          <a:xfrm>
            <a:off x="2085975" y="2633662"/>
            <a:ext cx="476250" cy="476250"/>
          </a:xfrm>
          <a:prstGeom prst="rect">
            <a:avLst/>
          </a:prstGeom>
          <a:noFill/>
          <a:ln>
            <a:noFill/>
          </a:ln>
        </p:spPr>
      </p:pic>
      <p:pic>
        <p:nvPicPr>
          <p:cNvPr descr="image.png" id="197" name="Google Shape;197;p20"/>
          <p:cNvPicPr preferRelativeResize="0"/>
          <p:nvPr/>
        </p:nvPicPr>
        <p:blipFill rotWithShape="1">
          <a:blip r:embed="rId7">
            <a:alphaModFix/>
          </a:blip>
          <a:srcRect b="0" l="0" r="0" t="0"/>
          <a:stretch/>
        </p:blipFill>
        <p:spPr>
          <a:xfrm>
            <a:off x="5795962" y="2633662"/>
            <a:ext cx="600075" cy="476250"/>
          </a:xfrm>
          <a:prstGeom prst="rect">
            <a:avLst/>
          </a:prstGeom>
          <a:noFill/>
          <a:ln>
            <a:noFill/>
          </a:ln>
        </p:spPr>
      </p:pic>
      <p:pic>
        <p:nvPicPr>
          <p:cNvPr descr="image.png" id="198" name="Google Shape;198;p20"/>
          <p:cNvPicPr preferRelativeResize="0"/>
          <p:nvPr/>
        </p:nvPicPr>
        <p:blipFill rotWithShape="1">
          <a:blip r:embed="rId8">
            <a:alphaModFix/>
          </a:blip>
          <a:srcRect b="0" l="0" r="0" t="0"/>
          <a:stretch/>
        </p:blipFill>
        <p:spPr>
          <a:xfrm>
            <a:off x="9658350" y="2633662"/>
            <a:ext cx="419100" cy="4762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 name="Shape 202"/>
        <p:cNvGrpSpPr/>
        <p:nvPr/>
      </p:nvGrpSpPr>
      <p:grpSpPr>
        <a:xfrm>
          <a:off x="0" y="0"/>
          <a:ext cx="0" cy="0"/>
          <a:chOff x="0" y="0"/>
          <a:chExt cx="0" cy="0"/>
        </a:xfrm>
      </p:grpSpPr>
      <p:sp>
        <p:nvSpPr>
          <p:cNvPr id="203" name="Google Shape;203;p21"/>
          <p:cNvSpPr txBox="1"/>
          <p:nvPr/>
        </p:nvSpPr>
        <p:spPr>
          <a:xfrm>
            <a:off x="581025" y="581025"/>
            <a:ext cx="5190648" cy="1123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2563EB"/>
                </a:solidFill>
                <a:latin typeface="Inter"/>
                <a:ea typeface="Inter"/>
                <a:cs typeface="Inter"/>
                <a:sym typeface="Inter"/>
              </a:rPr>
              <a:t>Le Cauchemar du "Flaky Test"</a:t>
            </a:r>
            <a:endParaRPr/>
          </a:p>
        </p:txBody>
      </p:sp>
      <p:pic>
        <p:nvPicPr>
          <p:cNvPr descr="image.png" id="204" name="Google Shape;204;p21"/>
          <p:cNvPicPr preferRelativeResize="0"/>
          <p:nvPr/>
        </p:nvPicPr>
        <p:blipFill rotWithShape="1">
          <a:blip r:embed="rId3">
            <a:alphaModFix/>
          </a:blip>
          <a:srcRect b="0" l="0" r="0" t="0"/>
          <a:stretch/>
        </p:blipFill>
        <p:spPr>
          <a:xfrm>
            <a:off x="6096000" y="9525"/>
            <a:ext cx="6086475" cy="6858000"/>
          </a:xfrm>
          <a:prstGeom prst="rect">
            <a:avLst/>
          </a:prstGeom>
          <a:noFill/>
          <a:ln>
            <a:noFill/>
          </a:ln>
        </p:spPr>
      </p:pic>
      <p:sp>
        <p:nvSpPr>
          <p:cNvPr id="205" name="Google Shape;205;p21"/>
          <p:cNvSpPr txBox="1"/>
          <p:nvPr/>
        </p:nvSpPr>
        <p:spPr>
          <a:xfrm>
            <a:off x="581025" y="2671762"/>
            <a:ext cx="5190648"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DC2626"/>
                </a:solidFill>
                <a:latin typeface="Inter SemiBold"/>
                <a:ea typeface="Inter SemiBold"/>
                <a:cs typeface="Inter SemiBold"/>
                <a:sym typeface="Inter SemiBold"/>
              </a:rPr>
              <a:t>Le Poison de la CI</a:t>
            </a:r>
            <a:endParaRPr/>
          </a:p>
        </p:txBody>
      </p:sp>
      <p:sp>
        <p:nvSpPr>
          <p:cNvPr id="206" name="Google Shape;206;p21"/>
          <p:cNvSpPr txBox="1"/>
          <p:nvPr/>
        </p:nvSpPr>
        <p:spPr>
          <a:xfrm>
            <a:off x="581025" y="3186112"/>
            <a:ext cx="49434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74151"/>
                </a:solidFill>
                <a:latin typeface="Inter"/>
                <a:ea typeface="Inter"/>
                <a:cs typeface="Inter"/>
                <a:sym typeface="Inter"/>
              </a:rPr>
              <a:t>Un test qui échoue de manière aléatoire détruit la confiance de l'équipe.</a:t>
            </a:r>
            <a:endParaRPr/>
          </a:p>
        </p:txBody>
      </p:sp>
      <p:sp>
        <p:nvSpPr>
          <p:cNvPr id="207" name="Google Shape;207;p21"/>
          <p:cNvSpPr txBox="1"/>
          <p:nvPr/>
        </p:nvSpPr>
        <p:spPr>
          <a:xfrm>
            <a:off x="581025" y="5405437"/>
            <a:ext cx="49434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74151"/>
                </a:solidFill>
                <a:latin typeface="Inter"/>
                <a:ea typeface="Inter"/>
                <a:cs typeface="Inter"/>
                <a:sym typeface="Inter"/>
              </a:rPr>
              <a:t>Règle : Fix it or Delete it.</a:t>
            </a:r>
            <a:endParaRPr/>
          </a:p>
        </p:txBody>
      </p:sp>
      <p:sp>
        <p:nvSpPr>
          <p:cNvPr id="208" name="Google Shape;208;p21"/>
          <p:cNvSpPr txBox="1"/>
          <p:nvPr/>
        </p:nvSpPr>
        <p:spPr>
          <a:xfrm>
            <a:off x="857250" y="3986212"/>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74151"/>
                </a:solidFill>
                <a:latin typeface="Inter"/>
                <a:ea typeface="Inter"/>
                <a:cs typeface="Inter"/>
                <a:sym typeface="Inter"/>
              </a:rPr>
              <a:t>•</a:t>
            </a:r>
            <a:endParaRPr/>
          </a:p>
        </p:txBody>
      </p:sp>
      <p:sp>
        <p:nvSpPr>
          <p:cNvPr id="209" name="Google Shape;209;p21"/>
          <p:cNvSpPr txBox="1"/>
          <p:nvPr/>
        </p:nvSpPr>
        <p:spPr>
          <a:xfrm>
            <a:off x="962025" y="3986212"/>
            <a:ext cx="4562475" cy="3048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74151"/>
                </a:solidFill>
                <a:latin typeface="Inter"/>
                <a:ea typeface="Inter"/>
                <a:cs typeface="Inter"/>
                <a:sym typeface="Inter"/>
              </a:rPr>
              <a:t>Dépendances à l'ordre d'exécution.</a:t>
            </a:r>
            <a:endParaRPr/>
          </a:p>
        </p:txBody>
      </p:sp>
      <p:sp>
        <p:nvSpPr>
          <p:cNvPr id="210" name="Google Shape;210;p21"/>
          <p:cNvSpPr txBox="1"/>
          <p:nvPr/>
        </p:nvSpPr>
        <p:spPr>
          <a:xfrm>
            <a:off x="857250" y="4291012"/>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74151"/>
                </a:solidFill>
                <a:latin typeface="Inter"/>
                <a:ea typeface="Inter"/>
                <a:cs typeface="Inter"/>
                <a:sym typeface="Inter"/>
              </a:rPr>
              <a:t>•</a:t>
            </a:r>
            <a:endParaRPr/>
          </a:p>
        </p:txBody>
      </p:sp>
      <p:sp>
        <p:nvSpPr>
          <p:cNvPr id="211" name="Google Shape;211;p21"/>
          <p:cNvSpPr txBox="1"/>
          <p:nvPr/>
        </p:nvSpPr>
        <p:spPr>
          <a:xfrm>
            <a:off x="962025" y="4291012"/>
            <a:ext cx="4562475" cy="619125"/>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74151"/>
                </a:solidFill>
                <a:latin typeface="Inter"/>
                <a:ea typeface="Inter"/>
                <a:cs typeface="Inter"/>
                <a:sym typeface="Inter"/>
              </a:rPr>
              <a:t>Utilisation du temps système (new Date()) sans horloge fixe.</a:t>
            </a:r>
            <a:endParaRPr/>
          </a:p>
        </p:txBody>
      </p:sp>
      <p:sp>
        <p:nvSpPr>
          <p:cNvPr id="212" name="Google Shape;212;p21"/>
          <p:cNvSpPr txBox="1"/>
          <p:nvPr/>
        </p:nvSpPr>
        <p:spPr>
          <a:xfrm>
            <a:off x="857250" y="4910137"/>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74151"/>
                </a:solidFill>
                <a:latin typeface="Inter"/>
                <a:ea typeface="Inter"/>
                <a:cs typeface="Inter"/>
                <a:sym typeface="Inter"/>
              </a:rPr>
              <a:t>•</a:t>
            </a:r>
            <a:endParaRPr/>
          </a:p>
        </p:txBody>
      </p:sp>
      <p:sp>
        <p:nvSpPr>
          <p:cNvPr id="213" name="Google Shape;213;p21"/>
          <p:cNvSpPr txBox="1"/>
          <p:nvPr/>
        </p:nvSpPr>
        <p:spPr>
          <a:xfrm>
            <a:off x="962025" y="4910137"/>
            <a:ext cx="4562475" cy="3048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74151"/>
                </a:solidFill>
                <a:latin typeface="Inter"/>
                <a:ea typeface="Inter"/>
                <a:cs typeface="Inter"/>
                <a:sym typeface="Inter"/>
              </a:rPr>
              <a:t>Ressources partagées mal nettoyées.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 name="Shape 217"/>
        <p:cNvGrpSpPr/>
        <p:nvPr/>
      </p:nvGrpSpPr>
      <p:grpSpPr>
        <a:xfrm>
          <a:off x="0" y="0"/>
          <a:ext cx="0" cy="0"/>
          <a:chOff x="0" y="0"/>
          <a:chExt cx="0" cy="0"/>
        </a:xfrm>
      </p:grpSpPr>
      <p:sp>
        <p:nvSpPr>
          <p:cNvPr id="218" name="Google Shape;218;p22"/>
          <p:cNvSpPr txBox="1"/>
          <p:nvPr/>
        </p:nvSpPr>
        <p:spPr>
          <a:xfrm>
            <a:off x="581025" y="581025"/>
            <a:ext cx="11581447"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2563EB"/>
                </a:solidFill>
                <a:latin typeface="Inter"/>
                <a:ea typeface="Inter"/>
                <a:cs typeface="Inter"/>
                <a:sym typeface="Inter"/>
              </a:rPr>
              <a:t>L'Illusion de la Couverture</a:t>
            </a:r>
            <a:endParaRPr/>
          </a:p>
        </p:txBody>
      </p:sp>
      <p:sp>
        <p:nvSpPr>
          <p:cNvPr id="219" name="Google Shape;219;p22"/>
          <p:cNvSpPr/>
          <p:nvPr/>
        </p:nvSpPr>
        <p:spPr>
          <a:xfrm>
            <a:off x="581025" y="1333500"/>
            <a:ext cx="11029950" cy="2857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0" name="Google Shape;220;p22"/>
          <p:cNvSpPr txBox="1"/>
          <p:nvPr/>
        </p:nvSpPr>
        <p:spPr>
          <a:xfrm>
            <a:off x="2286000" y="4712940"/>
            <a:ext cx="7620000" cy="6096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374151"/>
                </a:solidFill>
                <a:latin typeface="Inter"/>
                <a:ea typeface="Inter"/>
                <a:cs typeface="Inter"/>
                <a:sym typeface="Inter"/>
              </a:rPr>
              <a:t>Une métrique utile pour repérer le code non testé, mais un mauvais objectif managérial. Visez la </a:t>
            </a:r>
            <a:r>
              <a:rPr b="1" i="0" lang="en-US" sz="1500" u="none" cap="none" strike="noStrike">
                <a:solidFill>
                  <a:srgbClr val="374151"/>
                </a:solidFill>
                <a:latin typeface="Inter"/>
                <a:ea typeface="Inter"/>
                <a:cs typeface="Inter"/>
                <a:sym typeface="Inter"/>
              </a:rPr>
              <a:t>couverture de cas métier</a:t>
            </a:r>
            <a:r>
              <a:rPr b="0" i="0" lang="en-US" sz="1500" u="none" cap="none" strike="noStrike">
                <a:solidFill>
                  <a:srgbClr val="374151"/>
                </a:solidFill>
                <a:latin typeface="Inter"/>
                <a:ea typeface="Inter"/>
                <a:cs typeface="Inter"/>
                <a:sym typeface="Inter"/>
              </a:rPr>
              <a:t>.</a:t>
            </a:r>
            <a:endParaRPr/>
          </a:p>
        </p:txBody>
      </p:sp>
      <p:sp>
        <p:nvSpPr>
          <p:cNvPr id="221" name="Google Shape;221;p22"/>
          <p:cNvSpPr txBox="1"/>
          <p:nvPr/>
        </p:nvSpPr>
        <p:spPr>
          <a:xfrm>
            <a:off x="581025" y="2507009"/>
            <a:ext cx="3676650" cy="952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7500" u="none" cap="none" strike="noStrike">
                <a:solidFill>
                  <a:srgbClr val="2563EB"/>
                </a:solidFill>
                <a:latin typeface="JetBrains Mono ExtraBold"/>
                <a:ea typeface="JetBrains Mono ExtraBold"/>
                <a:cs typeface="JetBrains Mono ExtraBold"/>
                <a:sym typeface="JetBrains Mono ExtraBold"/>
              </a:rPr>
              <a:t>100%</a:t>
            </a:r>
            <a:endParaRPr/>
          </a:p>
        </p:txBody>
      </p:sp>
      <p:sp>
        <p:nvSpPr>
          <p:cNvPr id="222" name="Google Shape;222;p22"/>
          <p:cNvSpPr txBox="1"/>
          <p:nvPr/>
        </p:nvSpPr>
        <p:spPr>
          <a:xfrm>
            <a:off x="581025" y="3554759"/>
            <a:ext cx="3676650" cy="19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u="none" cap="none" strike="noStrike">
                <a:solidFill>
                  <a:srgbClr val="1F2937"/>
                </a:solidFill>
                <a:latin typeface="Inter"/>
                <a:ea typeface="Inter"/>
                <a:cs typeface="Inter"/>
                <a:sym typeface="Inter"/>
              </a:rPr>
              <a:t>Code Coverage</a:t>
            </a:r>
            <a:endParaRPr/>
          </a:p>
        </p:txBody>
      </p:sp>
      <p:sp>
        <p:nvSpPr>
          <p:cNvPr id="223" name="Google Shape;223;p22"/>
          <p:cNvSpPr txBox="1"/>
          <p:nvPr/>
        </p:nvSpPr>
        <p:spPr>
          <a:xfrm>
            <a:off x="581025" y="3840509"/>
            <a:ext cx="367665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374151"/>
                </a:solidFill>
                <a:latin typeface="Inter"/>
                <a:ea typeface="Inter"/>
                <a:cs typeface="Inter"/>
                <a:sym typeface="Inter"/>
              </a:rPr>
              <a:t>Indicateur de quantité</a:t>
            </a:r>
            <a:endParaRPr/>
          </a:p>
        </p:txBody>
      </p:sp>
      <p:pic>
        <p:nvPicPr>
          <p:cNvPr descr="image.png" id="224" name="Google Shape;224;p22"/>
          <p:cNvPicPr preferRelativeResize="0"/>
          <p:nvPr/>
        </p:nvPicPr>
        <p:blipFill rotWithShape="1">
          <a:blip r:embed="rId3">
            <a:alphaModFix/>
          </a:blip>
          <a:srcRect b="0" l="0" r="0" t="0"/>
          <a:stretch/>
        </p:blipFill>
        <p:spPr>
          <a:xfrm>
            <a:off x="4257675" y="3133725"/>
            <a:ext cx="419100" cy="476250"/>
          </a:xfrm>
          <a:prstGeom prst="rect">
            <a:avLst/>
          </a:prstGeom>
          <a:noFill/>
          <a:ln>
            <a:noFill/>
          </a:ln>
        </p:spPr>
      </p:pic>
      <p:sp>
        <p:nvSpPr>
          <p:cNvPr id="225" name="Google Shape;225;p22"/>
          <p:cNvSpPr txBox="1"/>
          <p:nvPr/>
        </p:nvSpPr>
        <p:spPr>
          <a:xfrm>
            <a:off x="7934325" y="2507009"/>
            <a:ext cx="3676650" cy="952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7500" u="none" cap="none" strike="noStrike">
                <a:solidFill>
                  <a:srgbClr val="16A34A"/>
                </a:solidFill>
                <a:latin typeface="JetBrains Mono ExtraBold"/>
                <a:ea typeface="JetBrains Mono ExtraBold"/>
                <a:cs typeface="JetBrains Mono ExtraBold"/>
                <a:sym typeface="JetBrains Mono ExtraBold"/>
              </a:rPr>
              <a:t>0</a:t>
            </a:r>
            <a:endParaRPr/>
          </a:p>
        </p:txBody>
      </p:sp>
      <p:sp>
        <p:nvSpPr>
          <p:cNvPr id="226" name="Google Shape;226;p22"/>
          <p:cNvSpPr txBox="1"/>
          <p:nvPr/>
        </p:nvSpPr>
        <p:spPr>
          <a:xfrm>
            <a:off x="7934325" y="3554759"/>
            <a:ext cx="3676650" cy="19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u="none" cap="none" strike="noStrike">
                <a:solidFill>
                  <a:srgbClr val="1F2937"/>
                </a:solidFill>
                <a:latin typeface="Inter"/>
                <a:ea typeface="Inter"/>
                <a:cs typeface="Inter"/>
                <a:sym typeface="Inter"/>
              </a:rPr>
              <a:t>Bugs</a:t>
            </a:r>
            <a:endParaRPr/>
          </a:p>
        </p:txBody>
      </p:sp>
      <p:sp>
        <p:nvSpPr>
          <p:cNvPr id="227" name="Google Shape;227;p22"/>
          <p:cNvSpPr txBox="1"/>
          <p:nvPr/>
        </p:nvSpPr>
        <p:spPr>
          <a:xfrm>
            <a:off x="7934325" y="3840509"/>
            <a:ext cx="367665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374151"/>
                </a:solidFill>
                <a:latin typeface="Inter"/>
                <a:ea typeface="Inter"/>
                <a:cs typeface="Inter"/>
                <a:sym typeface="Inter"/>
              </a:rPr>
              <a:t>Indicateur de qualité</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1" name="Shape 231"/>
        <p:cNvGrpSpPr/>
        <p:nvPr/>
      </p:nvGrpSpPr>
      <p:grpSpPr>
        <a:xfrm>
          <a:off x="0" y="0"/>
          <a:ext cx="0" cy="0"/>
          <a:chOff x="0" y="0"/>
          <a:chExt cx="0" cy="0"/>
        </a:xfrm>
      </p:grpSpPr>
      <p:sp>
        <p:nvSpPr>
          <p:cNvPr id="232" name="Google Shape;232;p23"/>
          <p:cNvSpPr txBox="1"/>
          <p:nvPr/>
        </p:nvSpPr>
        <p:spPr>
          <a:xfrm>
            <a:off x="581025" y="485775"/>
            <a:ext cx="11581447"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2563EB"/>
                </a:solidFill>
                <a:latin typeface="Inter"/>
                <a:ea typeface="Inter"/>
                <a:cs typeface="Inter"/>
                <a:sym typeface="Inter"/>
              </a:rPr>
              <a:t>Tests Paramétrés (JUnit 5)</a:t>
            </a:r>
            <a:endParaRPr/>
          </a:p>
        </p:txBody>
      </p:sp>
      <p:sp>
        <p:nvSpPr>
          <p:cNvPr id="233" name="Google Shape;233;p23"/>
          <p:cNvSpPr/>
          <p:nvPr/>
        </p:nvSpPr>
        <p:spPr>
          <a:xfrm>
            <a:off x="581025" y="1238250"/>
            <a:ext cx="11029950" cy="2857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4" name="Google Shape;234;p23"/>
          <p:cNvSpPr txBox="1"/>
          <p:nvPr/>
        </p:nvSpPr>
        <p:spPr>
          <a:xfrm>
            <a:off x="581025" y="1838325"/>
            <a:ext cx="1102995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74151"/>
                </a:solidFill>
                <a:latin typeface="Inter"/>
                <a:ea typeface="Inter"/>
                <a:cs typeface="Inter"/>
                <a:sym typeface="Inter"/>
              </a:rPr>
              <a:t>Gérer la combinatoire des cas métiers sans duplication de code.</a:t>
            </a:r>
            <a:endParaRPr/>
          </a:p>
        </p:txBody>
      </p:sp>
      <p:pic>
        <p:nvPicPr>
          <p:cNvPr descr="image.png" id="235" name="Google Shape;235;p23"/>
          <p:cNvPicPr preferRelativeResize="0"/>
          <p:nvPr/>
        </p:nvPicPr>
        <p:blipFill rotWithShape="1">
          <a:blip r:embed="rId3">
            <a:alphaModFix/>
          </a:blip>
          <a:srcRect b="0" l="0" r="0" t="0"/>
          <a:stretch/>
        </p:blipFill>
        <p:spPr>
          <a:xfrm>
            <a:off x="581025" y="2524125"/>
            <a:ext cx="11029950" cy="647700"/>
          </a:xfrm>
          <a:prstGeom prst="rect">
            <a:avLst/>
          </a:prstGeom>
          <a:noFill/>
          <a:ln>
            <a:noFill/>
          </a:ln>
        </p:spPr>
      </p:pic>
      <p:graphicFrame>
        <p:nvGraphicFramePr>
          <p:cNvPr id="236" name="Google Shape;236;p23"/>
          <p:cNvGraphicFramePr/>
          <p:nvPr/>
        </p:nvGraphicFramePr>
        <p:xfrm>
          <a:off x="581025" y="3362325"/>
          <a:ext cx="3000000" cy="3000000"/>
        </p:xfrm>
        <a:graphic>
          <a:graphicData uri="http://schemas.openxmlformats.org/drawingml/2006/table">
            <a:tbl>
              <a:tblPr bandRow="1" firstRow="1">
                <a:noFill/>
                <a:tableStyleId>{AAE9542E-AFDD-438C-AC11-B0891BB5E56B}</a:tableStyleId>
              </a:tblPr>
              <a:tblGrid>
                <a:gridCol w="3545225"/>
                <a:gridCol w="2127200"/>
                <a:gridCol w="2599875"/>
                <a:gridCol w="2757625"/>
              </a:tblGrid>
              <a:tr h="601975">
                <a:tc>
                  <a:txBody>
                    <a:bodyPr/>
                    <a:lstStyle/>
                    <a:p>
                      <a:pPr indent="0" lvl="0" marL="0" marR="0" rtl="0" algn="l">
                        <a:spcBef>
                          <a:spcPts val="0"/>
                        </a:spcBef>
                        <a:spcAft>
                          <a:spcPts val="0"/>
                        </a:spcAft>
                        <a:buNone/>
                      </a:pPr>
                      <a:r>
                        <a:rPr b="1" i="0" lang="en-US" sz="1500" u="none" cap="none" strike="noStrike">
                          <a:solidFill>
                            <a:srgbClr val="2563EB"/>
                          </a:solidFill>
                          <a:latin typeface="JetBrains Mono"/>
                          <a:ea typeface="JetBrains Mono"/>
                          <a:cs typeface="JetBrains Mono"/>
                          <a:sym typeface="JetBrains Mono"/>
                        </a:rPr>
                        <a:t>Scénario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1500" u="none" cap="none" strike="noStrike">
                          <a:solidFill>
                            <a:srgbClr val="2563EB"/>
                          </a:solidFill>
                          <a:latin typeface="JetBrains Mono"/>
                          <a:ea typeface="JetBrains Mono"/>
                          <a:cs typeface="JetBrains Mono"/>
                          <a:sym typeface="JetBrains Mono"/>
                        </a:rPr>
                        <a:t>Input (Âge)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1500" u="none" cap="none" strike="noStrike">
                          <a:solidFill>
                            <a:srgbClr val="2563EB"/>
                          </a:solidFill>
                          <a:latin typeface="JetBrains Mono"/>
                          <a:ea typeface="JetBrains Mono"/>
                          <a:cs typeface="JetBrains Mono"/>
                          <a:sym typeface="JetBrains Mono"/>
                        </a:rPr>
                        <a:t>Input (Revenu)</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1500" u="none" cap="none" strike="noStrike">
                          <a:solidFill>
                            <a:srgbClr val="2563EB"/>
                          </a:solidFill>
                          <a:latin typeface="JetBrains Mono"/>
                          <a:ea typeface="JetBrains Mono"/>
                          <a:cs typeface="JetBrains Mono"/>
                          <a:sym typeface="JetBrains Mono"/>
                        </a:rPr>
                        <a:t>Expected (Taxe)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601975">
                <a:tc>
                  <a:txBody>
                    <a:bodyPr/>
                    <a:lstStyle/>
                    <a:p>
                      <a:pPr indent="0" lvl="0" marL="0" marR="0" rtl="0" algn="l">
                        <a:spcBef>
                          <a:spcPts val="0"/>
                        </a:spcBef>
                        <a:spcAft>
                          <a:spcPts val="0"/>
                        </a:spcAft>
                        <a:buNone/>
                      </a:pPr>
                      <a:r>
                        <a:rPr b="0" i="0" lang="en-US" sz="1500" u="none" cap="none" strike="noStrike">
                          <a:solidFill>
                            <a:srgbClr val="334155"/>
                          </a:solidFill>
                          <a:latin typeface="JetBrains Mono"/>
                          <a:ea typeface="JetBrains Mono"/>
                          <a:cs typeface="JetBrains Mono"/>
                          <a:sym typeface="JetBrains Mono"/>
                        </a:rPr>
                        <a:t>Mineur sans revenu</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JetBrains Mono"/>
                          <a:ea typeface="JetBrains Mono"/>
                          <a:cs typeface="JetBrains Mono"/>
                          <a:sym typeface="JetBrains Mono"/>
                        </a:rPr>
                        <a:t>16</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JetBrains Mono"/>
                          <a:ea typeface="JetBrains Mono"/>
                          <a:cs typeface="JetBrains Mono"/>
                          <a:sym typeface="JetBrains Mono"/>
                        </a:rPr>
                        <a:t>0 €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JetBrains Mono"/>
                          <a:ea typeface="JetBrains Mono"/>
                          <a:cs typeface="JetBrains Mono"/>
                          <a:sym typeface="JetBrains Mono"/>
                        </a:rPr>
                        <a:t>0 %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01975">
                <a:tc>
                  <a:txBody>
                    <a:bodyPr/>
                    <a:lstStyle/>
                    <a:p>
                      <a:pPr indent="0" lvl="0" marL="0" marR="0" rtl="0" algn="l">
                        <a:spcBef>
                          <a:spcPts val="0"/>
                        </a:spcBef>
                        <a:spcAft>
                          <a:spcPts val="0"/>
                        </a:spcAft>
                        <a:buNone/>
                      </a:pPr>
                      <a:r>
                        <a:rPr b="0" i="0" lang="en-US" sz="1500" u="none" cap="none" strike="noStrike">
                          <a:solidFill>
                            <a:srgbClr val="334155"/>
                          </a:solidFill>
                          <a:latin typeface="JetBrains Mono"/>
                          <a:ea typeface="JetBrains Mono"/>
                          <a:cs typeface="JetBrains Mono"/>
                          <a:sym typeface="JetBrains Mono"/>
                        </a:rPr>
                        <a:t>Adulte faible revenu</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JetBrains Mono"/>
                          <a:ea typeface="JetBrains Mono"/>
                          <a:cs typeface="JetBrains Mono"/>
                          <a:sym typeface="JetBrains Mono"/>
                        </a:rPr>
                        <a:t>25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JetBrains Mono"/>
                          <a:ea typeface="JetBrains Mono"/>
                          <a:cs typeface="JetBrains Mono"/>
                          <a:sym typeface="JetBrains Mono"/>
                        </a:rPr>
                        <a:t>15k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JetBrains Mono"/>
                          <a:ea typeface="JetBrains Mono"/>
                          <a:cs typeface="JetBrains Mono"/>
                          <a:sym typeface="JetBrains Mono"/>
                        </a:rPr>
                        <a:t>10 %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01975">
                <a:tc>
                  <a:txBody>
                    <a:bodyPr/>
                    <a:lstStyle/>
                    <a:p>
                      <a:pPr indent="0" lvl="0" marL="0" marR="0" rtl="0" algn="l">
                        <a:spcBef>
                          <a:spcPts val="0"/>
                        </a:spcBef>
                        <a:spcAft>
                          <a:spcPts val="0"/>
                        </a:spcAft>
                        <a:buNone/>
                      </a:pPr>
                      <a:r>
                        <a:rPr b="0" i="0" lang="en-US" sz="1500" u="none" cap="none" strike="noStrike">
                          <a:solidFill>
                            <a:srgbClr val="334155"/>
                          </a:solidFill>
                          <a:latin typeface="JetBrains Mono"/>
                          <a:ea typeface="JetBrains Mono"/>
                          <a:cs typeface="JetBrains Mono"/>
                          <a:sym typeface="JetBrains Mono"/>
                        </a:rPr>
                        <a:t>Adulte haut revenu</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JetBrains Mono"/>
                          <a:ea typeface="JetBrains Mono"/>
                          <a:cs typeface="JetBrains Mono"/>
                          <a:sym typeface="JetBrains Mono"/>
                        </a:rPr>
                        <a:t>40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JetBrains Mono"/>
                          <a:ea typeface="JetBrains Mono"/>
                          <a:cs typeface="JetBrains Mono"/>
                          <a:sym typeface="JetBrains Mono"/>
                        </a:rPr>
                        <a:t>60k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JetBrains Mono"/>
                          <a:ea typeface="JetBrains Mono"/>
                          <a:cs typeface="JetBrains Mono"/>
                          <a:sym typeface="JetBrains Mono"/>
                        </a:rPr>
                        <a:t>30 %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01975">
                <a:tc>
                  <a:txBody>
                    <a:bodyPr/>
                    <a:lstStyle/>
                    <a:p>
                      <a:pPr indent="0" lvl="0" marL="0" marR="0" rtl="0" algn="l">
                        <a:spcBef>
                          <a:spcPts val="0"/>
                        </a:spcBef>
                        <a:spcAft>
                          <a:spcPts val="0"/>
                        </a:spcAft>
                        <a:buNone/>
                      </a:pPr>
                      <a:r>
                        <a:rPr b="0" i="0" lang="en-US" sz="1500" u="none" cap="none" strike="noStrike">
                          <a:solidFill>
                            <a:srgbClr val="334155"/>
                          </a:solidFill>
                          <a:latin typeface="JetBrains Mono"/>
                          <a:ea typeface="JetBrains Mono"/>
                          <a:cs typeface="JetBrains Mono"/>
                          <a:sym typeface="JetBrains Mono"/>
                        </a:rPr>
                        <a:t>Cas limite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JetBrains Mono"/>
                          <a:ea typeface="JetBrains Mono"/>
                          <a:cs typeface="JetBrains Mono"/>
                          <a:sym typeface="JetBrains Mono"/>
                        </a:rPr>
                        <a:t>18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JetBrains Mono"/>
                          <a:ea typeface="JetBrains Mono"/>
                          <a:cs typeface="JetBrains Mono"/>
                          <a:sym typeface="JetBrains Mono"/>
                        </a:rPr>
                        <a:t>100k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JetBrains Mono"/>
                          <a:ea typeface="JetBrains Mono"/>
                          <a:cs typeface="JetBrains Mono"/>
                          <a:sym typeface="JetBrains Mono"/>
                        </a:rPr>
                        <a:t>30 %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37" name="Google Shape;237;p23"/>
          <p:cNvSpPr/>
          <p:nvPr/>
        </p:nvSpPr>
        <p:spPr>
          <a:xfrm>
            <a:off x="581025" y="3938587"/>
            <a:ext cx="3545234" cy="28575"/>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8" name="Google Shape;238;p23"/>
          <p:cNvSpPr/>
          <p:nvPr/>
        </p:nvSpPr>
        <p:spPr>
          <a:xfrm>
            <a:off x="4126259" y="3938587"/>
            <a:ext cx="2127200" cy="28575"/>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9" name="Google Shape;239;p23"/>
          <p:cNvSpPr/>
          <p:nvPr/>
        </p:nvSpPr>
        <p:spPr>
          <a:xfrm>
            <a:off x="6253460" y="3938587"/>
            <a:ext cx="2599878" cy="28575"/>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0" name="Google Shape;240;p23"/>
          <p:cNvSpPr/>
          <p:nvPr/>
        </p:nvSpPr>
        <p:spPr>
          <a:xfrm>
            <a:off x="8853338" y="3938587"/>
            <a:ext cx="2757636" cy="28575"/>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1" name="Google Shape;241;p23"/>
          <p:cNvSpPr/>
          <p:nvPr/>
        </p:nvSpPr>
        <p:spPr>
          <a:xfrm>
            <a:off x="581025" y="4567237"/>
            <a:ext cx="354523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2" name="Google Shape;242;p23"/>
          <p:cNvSpPr/>
          <p:nvPr/>
        </p:nvSpPr>
        <p:spPr>
          <a:xfrm>
            <a:off x="4126259" y="4567237"/>
            <a:ext cx="21272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3" name="Google Shape;243;p23"/>
          <p:cNvSpPr/>
          <p:nvPr/>
        </p:nvSpPr>
        <p:spPr>
          <a:xfrm>
            <a:off x="6253460" y="4567237"/>
            <a:ext cx="259987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4" name="Google Shape;244;p23"/>
          <p:cNvSpPr/>
          <p:nvPr/>
        </p:nvSpPr>
        <p:spPr>
          <a:xfrm>
            <a:off x="8853338" y="4567237"/>
            <a:ext cx="275763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5" name="Google Shape;245;p23"/>
          <p:cNvSpPr/>
          <p:nvPr/>
        </p:nvSpPr>
        <p:spPr>
          <a:xfrm>
            <a:off x="581025" y="5167312"/>
            <a:ext cx="354523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6" name="Google Shape;246;p23"/>
          <p:cNvSpPr/>
          <p:nvPr/>
        </p:nvSpPr>
        <p:spPr>
          <a:xfrm>
            <a:off x="4126259" y="5167312"/>
            <a:ext cx="21272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7" name="Google Shape;247;p23"/>
          <p:cNvSpPr/>
          <p:nvPr/>
        </p:nvSpPr>
        <p:spPr>
          <a:xfrm>
            <a:off x="6253460" y="5167312"/>
            <a:ext cx="259987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8" name="Google Shape;248;p23"/>
          <p:cNvSpPr/>
          <p:nvPr/>
        </p:nvSpPr>
        <p:spPr>
          <a:xfrm>
            <a:off x="8853338" y="5167312"/>
            <a:ext cx="275763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9" name="Google Shape;249;p23"/>
          <p:cNvSpPr/>
          <p:nvPr/>
        </p:nvSpPr>
        <p:spPr>
          <a:xfrm>
            <a:off x="581025" y="5767387"/>
            <a:ext cx="354523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0" name="Google Shape;250;p23"/>
          <p:cNvSpPr/>
          <p:nvPr/>
        </p:nvSpPr>
        <p:spPr>
          <a:xfrm>
            <a:off x="4126259" y="5767387"/>
            <a:ext cx="21272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1" name="Google Shape;251;p23"/>
          <p:cNvSpPr/>
          <p:nvPr/>
        </p:nvSpPr>
        <p:spPr>
          <a:xfrm>
            <a:off x="6253460" y="5767387"/>
            <a:ext cx="259987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2" name="Google Shape;252;p23"/>
          <p:cNvSpPr/>
          <p:nvPr/>
        </p:nvSpPr>
        <p:spPr>
          <a:xfrm>
            <a:off x="8853338" y="5767387"/>
            <a:ext cx="275763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6" name="Shape 256"/>
        <p:cNvGrpSpPr/>
        <p:nvPr/>
      </p:nvGrpSpPr>
      <p:grpSpPr>
        <a:xfrm>
          <a:off x="0" y="0"/>
          <a:ext cx="0" cy="0"/>
          <a:chOff x="0" y="0"/>
          <a:chExt cx="0" cy="0"/>
        </a:xfrm>
      </p:grpSpPr>
      <p:pic>
        <p:nvPicPr>
          <p:cNvPr descr="image.png" id="257" name="Google Shape;257;p24"/>
          <p:cNvPicPr preferRelativeResize="0"/>
          <p:nvPr/>
        </p:nvPicPr>
        <p:blipFill rotWithShape="1">
          <a:blip r:embed="rId3">
            <a:alphaModFix/>
          </a:blip>
          <a:srcRect b="0" l="0" r="0" t="0"/>
          <a:stretch/>
        </p:blipFill>
        <p:spPr>
          <a:xfrm>
            <a:off x="581025" y="2105025"/>
            <a:ext cx="5276850" cy="3810000"/>
          </a:xfrm>
          <a:prstGeom prst="rect">
            <a:avLst/>
          </a:prstGeom>
          <a:noFill/>
          <a:ln>
            <a:noFill/>
          </a:ln>
        </p:spPr>
      </p:pic>
      <p:pic>
        <p:nvPicPr>
          <p:cNvPr descr="image.png" id="258" name="Google Shape;258;p24"/>
          <p:cNvPicPr preferRelativeResize="0"/>
          <p:nvPr/>
        </p:nvPicPr>
        <p:blipFill rotWithShape="1">
          <a:blip r:embed="rId4">
            <a:alphaModFix/>
          </a:blip>
          <a:srcRect b="0" l="0" r="0" t="0"/>
          <a:stretch/>
        </p:blipFill>
        <p:spPr>
          <a:xfrm>
            <a:off x="6334125" y="3419475"/>
            <a:ext cx="5276850" cy="838200"/>
          </a:xfrm>
          <a:prstGeom prst="rect">
            <a:avLst/>
          </a:prstGeom>
          <a:noFill/>
          <a:ln>
            <a:noFill/>
          </a:ln>
        </p:spPr>
      </p:pic>
      <p:sp>
        <p:nvSpPr>
          <p:cNvPr id="259" name="Google Shape;259;p24"/>
          <p:cNvSpPr txBox="1"/>
          <p:nvPr/>
        </p:nvSpPr>
        <p:spPr>
          <a:xfrm>
            <a:off x="581025" y="581025"/>
            <a:ext cx="11581447"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2563EB"/>
                </a:solidFill>
                <a:latin typeface="Inter"/>
                <a:ea typeface="Inter"/>
                <a:cs typeface="Inter"/>
                <a:sym typeface="Inter"/>
              </a:rPr>
              <a:t>Tests de Mutation (Pitest)</a:t>
            </a:r>
            <a:endParaRPr/>
          </a:p>
        </p:txBody>
      </p:sp>
      <p:sp>
        <p:nvSpPr>
          <p:cNvPr id="260" name="Google Shape;260;p24"/>
          <p:cNvSpPr/>
          <p:nvPr/>
        </p:nvSpPr>
        <p:spPr>
          <a:xfrm>
            <a:off x="581025" y="1333500"/>
            <a:ext cx="11029950" cy="2857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61" name="Google Shape;261;p24"/>
          <p:cNvPicPr preferRelativeResize="0"/>
          <p:nvPr/>
        </p:nvPicPr>
        <p:blipFill rotWithShape="1">
          <a:blip r:embed="rId5">
            <a:alphaModFix/>
          </a:blip>
          <a:srcRect b="0" l="0" r="0" t="0"/>
          <a:stretch/>
        </p:blipFill>
        <p:spPr>
          <a:xfrm>
            <a:off x="781050" y="2638425"/>
            <a:ext cx="4876800" cy="2743200"/>
          </a:xfrm>
          <a:prstGeom prst="rect">
            <a:avLst/>
          </a:prstGeom>
          <a:noFill/>
          <a:ln>
            <a:noFill/>
          </a:ln>
        </p:spPr>
      </p:pic>
      <p:sp>
        <p:nvSpPr>
          <p:cNvPr id="262" name="Google Shape;262;p24"/>
          <p:cNvSpPr txBox="1"/>
          <p:nvPr/>
        </p:nvSpPr>
        <p:spPr>
          <a:xfrm>
            <a:off x="6334125" y="2105025"/>
            <a:ext cx="5540692" cy="323850"/>
          </a:xfrm>
          <a:prstGeom prst="rect">
            <a:avLst/>
          </a:prstGeom>
          <a:noFill/>
          <a:ln>
            <a:noFill/>
          </a:ln>
        </p:spPr>
        <p:txBody>
          <a:bodyPr anchorCtr="0" anchor="t" bIns="0" lIns="266700" spcFirstLastPara="1" rIns="0" wrap="square" tIns="0">
            <a:spAutoFit/>
          </a:bodyPr>
          <a:lstStyle/>
          <a:p>
            <a:pPr indent="0" lvl="0" marL="0" marR="0" rtl="0" algn="l">
              <a:spcBef>
                <a:spcPts val="0"/>
              </a:spcBef>
              <a:spcAft>
                <a:spcPts val="0"/>
              </a:spcAft>
              <a:buNone/>
            </a:pPr>
            <a:r>
              <a:rPr b="0" i="0" lang="en-US" sz="2100" u="none" cap="none" strike="noStrike">
                <a:solidFill>
                  <a:srgbClr val="475569"/>
                </a:solidFill>
                <a:latin typeface="Inter SemiBold"/>
                <a:ea typeface="Inter SemiBold"/>
                <a:cs typeface="Inter SemiBold"/>
                <a:sym typeface="Inter SemiBold"/>
              </a:rPr>
              <a:t>Qui teste vos tests ?</a:t>
            </a:r>
            <a:endParaRPr/>
          </a:p>
        </p:txBody>
      </p:sp>
      <p:sp>
        <p:nvSpPr>
          <p:cNvPr id="263" name="Google Shape;263;p24"/>
          <p:cNvSpPr txBox="1"/>
          <p:nvPr/>
        </p:nvSpPr>
        <p:spPr>
          <a:xfrm>
            <a:off x="6334125" y="2619375"/>
            <a:ext cx="52768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74151"/>
                </a:solidFill>
                <a:latin typeface="Inter"/>
                <a:ea typeface="Inter"/>
                <a:cs typeface="Inter"/>
                <a:sym typeface="Inter"/>
              </a:rPr>
              <a:t>Le test de mutation injecte des fautes (mutants) dans votre code pour vérifier si vos tests les détectent.</a:t>
            </a:r>
            <a:endParaRPr/>
          </a:p>
        </p:txBody>
      </p:sp>
      <p:sp>
        <p:nvSpPr>
          <p:cNvPr id="264" name="Google Shape;264;p24"/>
          <p:cNvSpPr txBox="1"/>
          <p:nvPr/>
        </p:nvSpPr>
        <p:spPr>
          <a:xfrm>
            <a:off x="6334125" y="4448175"/>
            <a:ext cx="5276850" cy="609600"/>
          </a:xfrm>
          <a:prstGeom prst="rect">
            <a:avLst/>
          </a:prstGeom>
          <a:noFill/>
          <a:ln>
            <a:noFill/>
          </a:ln>
        </p:spPr>
        <p:txBody>
          <a:bodyPr anchorCtr="0" anchor="t" bIns="0" lIns="0" spcFirstLastPara="1" rIns="0" wrap="square" tIns="0">
            <a:spAutoFit/>
          </a:bodyPr>
          <a:lstStyle/>
          <a:p>
            <a:pPr indent="0" lvl="0" marL="0" marR="0" rtl="0" algn="l">
              <a:lnSpc>
                <a:spcPct val="133333"/>
              </a:lnSpc>
              <a:spcBef>
                <a:spcPts val="0"/>
              </a:spcBef>
              <a:spcAft>
                <a:spcPts val="0"/>
              </a:spcAft>
              <a:buNone/>
            </a:pPr>
            <a:r>
              <a:rPr b="0" i="0" lang="en-US" sz="1500" u="none" cap="none" strike="noStrike">
                <a:solidFill>
                  <a:schemeClr val="dk1"/>
                </a:solidFill>
                <a:latin typeface="Inter"/>
                <a:ea typeface="Inter"/>
                <a:cs typeface="Inter"/>
                <a:sym typeface="Inter"/>
              </a:rPr>
              <a:t>Mutant Survit</a:t>
            </a:r>
            <a:r>
              <a:rPr b="0" i="0" lang="en-US" sz="1500" u="none" cap="none" strike="noStrike">
                <a:solidFill>
                  <a:srgbClr val="374151"/>
                </a:solidFill>
                <a:latin typeface="Inter"/>
                <a:ea typeface="Inter"/>
                <a:cs typeface="Inter"/>
                <a:sym typeface="Inter"/>
              </a:rPr>
              <a:t> = Test incomplet.</a:t>
            </a:r>
            <a:br>
              <a:rPr b="0" i="0" lang="en-US" sz="1800" u="none" cap="none" strike="noStrike">
                <a:solidFill>
                  <a:schemeClr val="dk1"/>
                </a:solidFill>
                <a:latin typeface="Calibri"/>
                <a:ea typeface="Calibri"/>
                <a:cs typeface="Calibri"/>
                <a:sym typeface="Calibri"/>
              </a:rPr>
            </a:br>
            <a:r>
              <a:rPr b="0" i="0" lang="en-US" sz="1500" u="none" cap="none" strike="noStrike">
                <a:solidFill>
                  <a:schemeClr val="dk1"/>
                </a:solidFill>
                <a:latin typeface="Inter"/>
                <a:ea typeface="Inter"/>
                <a:cs typeface="Inter"/>
                <a:sym typeface="Inter"/>
              </a:rPr>
              <a:t>Mutant Tué</a:t>
            </a:r>
            <a:r>
              <a:rPr b="0" i="0" lang="en-US" sz="1500" u="none" cap="none" strike="noStrike">
                <a:solidFill>
                  <a:srgbClr val="374151"/>
                </a:solidFill>
                <a:latin typeface="Inter"/>
                <a:ea typeface="Inter"/>
                <a:cs typeface="Inter"/>
                <a:sym typeface="Inter"/>
              </a:rPr>
              <a:t> = Test robuste.</a:t>
            </a:r>
            <a:endParaRPr/>
          </a:p>
        </p:txBody>
      </p:sp>
      <p:pic>
        <p:nvPicPr>
          <p:cNvPr descr="image.png" id="265" name="Google Shape;265;p24"/>
          <p:cNvPicPr preferRelativeResize="0"/>
          <p:nvPr/>
        </p:nvPicPr>
        <p:blipFill rotWithShape="1">
          <a:blip r:embed="rId6">
            <a:alphaModFix/>
          </a:blip>
          <a:srcRect b="0" l="0" r="0" t="0"/>
          <a:stretch/>
        </p:blipFill>
        <p:spPr>
          <a:xfrm>
            <a:off x="6334125" y="2133600"/>
            <a:ext cx="266700" cy="266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 name="Shape 269"/>
        <p:cNvGrpSpPr/>
        <p:nvPr/>
      </p:nvGrpSpPr>
      <p:grpSpPr>
        <a:xfrm>
          <a:off x="0" y="0"/>
          <a:ext cx="0" cy="0"/>
          <a:chOff x="0" y="0"/>
          <a:chExt cx="0" cy="0"/>
        </a:xfrm>
      </p:grpSpPr>
      <p:pic>
        <p:nvPicPr>
          <p:cNvPr descr="image.png" id="270" name="Google Shape;270;p25"/>
          <p:cNvPicPr preferRelativeResize="0"/>
          <p:nvPr/>
        </p:nvPicPr>
        <p:blipFill rotWithShape="1">
          <a:blip r:embed="rId3">
            <a:alphaModFix/>
          </a:blip>
          <a:srcRect b="0" l="0" r="0" t="0"/>
          <a:stretch/>
        </p:blipFill>
        <p:spPr>
          <a:xfrm>
            <a:off x="6334125" y="2105025"/>
            <a:ext cx="5276850" cy="3810000"/>
          </a:xfrm>
          <a:prstGeom prst="rect">
            <a:avLst/>
          </a:prstGeom>
          <a:noFill/>
          <a:ln>
            <a:noFill/>
          </a:ln>
        </p:spPr>
      </p:pic>
      <p:pic>
        <p:nvPicPr>
          <p:cNvPr descr="image.png" id="271" name="Google Shape;271;p25"/>
          <p:cNvPicPr preferRelativeResize="0"/>
          <p:nvPr/>
        </p:nvPicPr>
        <p:blipFill rotWithShape="1">
          <a:blip r:embed="rId4">
            <a:alphaModFix/>
          </a:blip>
          <a:srcRect b="0" l="0" r="0" t="0"/>
          <a:stretch/>
        </p:blipFill>
        <p:spPr>
          <a:xfrm>
            <a:off x="6534150" y="2632174"/>
            <a:ext cx="4876800" cy="1181100"/>
          </a:xfrm>
          <a:prstGeom prst="rect">
            <a:avLst/>
          </a:prstGeom>
          <a:noFill/>
          <a:ln>
            <a:noFill/>
          </a:ln>
        </p:spPr>
      </p:pic>
      <p:sp>
        <p:nvSpPr>
          <p:cNvPr id="272" name="Google Shape;272;p25"/>
          <p:cNvSpPr txBox="1"/>
          <p:nvPr/>
        </p:nvSpPr>
        <p:spPr>
          <a:xfrm>
            <a:off x="581025" y="581025"/>
            <a:ext cx="11581447"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2563EB"/>
                </a:solidFill>
                <a:latin typeface="Inter"/>
                <a:ea typeface="Inter"/>
                <a:cs typeface="Inter"/>
                <a:sym typeface="Inter"/>
              </a:rPr>
              <a:t>Property-Based Testing</a:t>
            </a:r>
            <a:endParaRPr/>
          </a:p>
        </p:txBody>
      </p:sp>
      <p:sp>
        <p:nvSpPr>
          <p:cNvPr id="273" name="Google Shape;273;p25"/>
          <p:cNvSpPr/>
          <p:nvPr/>
        </p:nvSpPr>
        <p:spPr>
          <a:xfrm>
            <a:off x="581025" y="1333500"/>
            <a:ext cx="11029950" cy="2857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4" name="Google Shape;274;p25"/>
          <p:cNvSpPr txBox="1"/>
          <p:nvPr/>
        </p:nvSpPr>
        <p:spPr>
          <a:xfrm>
            <a:off x="581025" y="2105025"/>
            <a:ext cx="5540692" cy="323850"/>
          </a:xfrm>
          <a:prstGeom prst="rect">
            <a:avLst/>
          </a:prstGeom>
          <a:noFill/>
          <a:ln>
            <a:noFill/>
          </a:ln>
        </p:spPr>
        <p:txBody>
          <a:bodyPr anchorCtr="0" anchor="t" bIns="0" lIns="333375" spcFirstLastPara="1" rIns="0" wrap="square" tIns="0">
            <a:spAutoFit/>
          </a:bodyPr>
          <a:lstStyle/>
          <a:p>
            <a:pPr indent="0" lvl="0" marL="0" marR="0" rtl="0" algn="l">
              <a:spcBef>
                <a:spcPts val="0"/>
              </a:spcBef>
              <a:spcAft>
                <a:spcPts val="0"/>
              </a:spcAft>
              <a:buNone/>
            </a:pPr>
            <a:r>
              <a:rPr b="0" i="0" lang="en-US" sz="2100" u="none" cap="none" strike="noStrike">
                <a:solidFill>
                  <a:srgbClr val="475569"/>
                </a:solidFill>
                <a:latin typeface="Inter SemiBold"/>
                <a:ea typeface="Inter SemiBold"/>
                <a:cs typeface="Inter SemiBold"/>
                <a:sym typeface="Inter SemiBold"/>
              </a:rPr>
              <a:t>Au-delà de l'exemple</a:t>
            </a:r>
            <a:endParaRPr/>
          </a:p>
        </p:txBody>
      </p:sp>
      <p:sp>
        <p:nvSpPr>
          <p:cNvPr id="275" name="Google Shape;275;p25"/>
          <p:cNvSpPr txBox="1"/>
          <p:nvPr/>
        </p:nvSpPr>
        <p:spPr>
          <a:xfrm>
            <a:off x="581025" y="2619375"/>
            <a:ext cx="52768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74151"/>
                </a:solidFill>
                <a:latin typeface="Inter"/>
                <a:ea typeface="Inter"/>
                <a:cs typeface="Inter"/>
                <a:sym typeface="Inter"/>
              </a:rPr>
              <a:t>Au lieu de tester des valeurs spécifiques (Example-Based), on teste des </a:t>
            </a:r>
            <a:r>
              <a:rPr b="1" i="0" lang="en-US" sz="1500" u="none" cap="none" strike="noStrike">
                <a:solidFill>
                  <a:srgbClr val="374151"/>
                </a:solidFill>
                <a:latin typeface="Inter"/>
                <a:ea typeface="Inter"/>
                <a:cs typeface="Inter"/>
                <a:sym typeface="Inter"/>
              </a:rPr>
              <a:t>propriétés</a:t>
            </a:r>
            <a:r>
              <a:rPr b="0" i="0" lang="en-US" sz="1500" u="none" cap="none" strike="noStrike">
                <a:solidFill>
                  <a:srgbClr val="374151"/>
                </a:solidFill>
                <a:latin typeface="Inter"/>
                <a:ea typeface="Inter"/>
                <a:cs typeface="Inter"/>
                <a:sym typeface="Inter"/>
              </a:rPr>
              <a:t> qui doivent toujours être vraies.</a:t>
            </a:r>
            <a:endParaRPr/>
          </a:p>
        </p:txBody>
      </p:sp>
      <p:sp>
        <p:nvSpPr>
          <p:cNvPr id="276" name="Google Shape;276;p25"/>
          <p:cNvSpPr txBox="1"/>
          <p:nvPr/>
        </p:nvSpPr>
        <p:spPr>
          <a:xfrm>
            <a:off x="6534150" y="2143869"/>
            <a:ext cx="1560195" cy="19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111111"/>
                </a:solidFill>
                <a:latin typeface="Inter"/>
                <a:ea typeface="Inter"/>
                <a:cs typeface="Inter"/>
                <a:sym typeface="Inter"/>
              </a:rPr>
              <a:t>Exemple : Inversion</a:t>
            </a:r>
            <a:endParaRPr/>
          </a:p>
        </p:txBody>
      </p:sp>
      <p:sp>
        <p:nvSpPr>
          <p:cNvPr id="277" name="Google Shape;277;p25"/>
          <p:cNvSpPr txBox="1"/>
          <p:nvPr/>
        </p:nvSpPr>
        <p:spPr>
          <a:xfrm>
            <a:off x="6534150" y="3956149"/>
            <a:ext cx="2457450" cy="243780"/>
          </a:xfrm>
          <a:prstGeom prst="rect">
            <a:avLst/>
          </a:prstGeom>
          <a:noFill/>
          <a:ln>
            <a:noFill/>
          </a:ln>
        </p:spPr>
        <p:txBody>
          <a:bodyPr anchorCtr="0" anchor="t" bIns="0" lIns="13335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64748B"/>
                </a:solidFill>
                <a:latin typeface="Inter"/>
                <a:ea typeface="Inter"/>
                <a:cs typeface="Inter"/>
                <a:sym typeface="Inter"/>
              </a:rPr>
              <a:t>Teste avec [], [null], ["a", "b"]...</a:t>
            </a:r>
            <a:endParaRPr/>
          </a:p>
        </p:txBody>
      </p:sp>
      <p:pic>
        <p:nvPicPr>
          <p:cNvPr descr="image.png" id="278" name="Google Shape;278;p25"/>
          <p:cNvPicPr preferRelativeResize="0"/>
          <p:nvPr/>
        </p:nvPicPr>
        <p:blipFill rotWithShape="1">
          <a:blip r:embed="rId5">
            <a:alphaModFix/>
          </a:blip>
          <a:srcRect b="0" l="0" r="0" t="0"/>
          <a:stretch/>
        </p:blipFill>
        <p:spPr>
          <a:xfrm>
            <a:off x="7532340" y="4447579"/>
            <a:ext cx="2880419" cy="1428750"/>
          </a:xfrm>
          <a:prstGeom prst="rect">
            <a:avLst/>
          </a:prstGeom>
          <a:noFill/>
          <a:ln>
            <a:noFill/>
          </a:ln>
        </p:spPr>
      </p:pic>
      <p:pic>
        <p:nvPicPr>
          <p:cNvPr descr="image.png" id="279" name="Google Shape;279;p25"/>
          <p:cNvPicPr preferRelativeResize="0"/>
          <p:nvPr/>
        </p:nvPicPr>
        <p:blipFill rotWithShape="1">
          <a:blip r:embed="rId6">
            <a:alphaModFix/>
          </a:blip>
          <a:srcRect b="0" l="0" r="0" t="0"/>
          <a:stretch/>
        </p:blipFill>
        <p:spPr>
          <a:xfrm>
            <a:off x="581025" y="2133600"/>
            <a:ext cx="333375" cy="266700"/>
          </a:xfrm>
          <a:prstGeom prst="rect">
            <a:avLst/>
          </a:prstGeom>
          <a:noFill/>
          <a:ln>
            <a:noFill/>
          </a:ln>
        </p:spPr>
      </p:pic>
      <p:sp>
        <p:nvSpPr>
          <p:cNvPr id="280" name="Google Shape;280;p25"/>
          <p:cNvSpPr txBox="1"/>
          <p:nvPr/>
        </p:nvSpPr>
        <p:spPr>
          <a:xfrm>
            <a:off x="857250" y="3724275"/>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74151"/>
                </a:solidFill>
                <a:latin typeface="Inter"/>
                <a:ea typeface="Inter"/>
                <a:cs typeface="Inter"/>
                <a:sym typeface="Inter"/>
              </a:rPr>
              <a:t>•</a:t>
            </a:r>
            <a:endParaRPr/>
          </a:p>
        </p:txBody>
      </p:sp>
      <p:sp>
        <p:nvSpPr>
          <p:cNvPr id="281" name="Google Shape;281;p25"/>
          <p:cNvSpPr txBox="1"/>
          <p:nvPr/>
        </p:nvSpPr>
        <p:spPr>
          <a:xfrm>
            <a:off x="962025" y="3724275"/>
            <a:ext cx="4895850" cy="3048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74151"/>
                </a:solidFill>
                <a:latin typeface="Inter"/>
                <a:ea typeface="Inter"/>
                <a:cs typeface="Inter"/>
                <a:sym typeface="Inter"/>
              </a:rPr>
              <a:t>Génération automatique de 1000+ cas.</a:t>
            </a:r>
            <a:endParaRPr/>
          </a:p>
        </p:txBody>
      </p:sp>
      <p:sp>
        <p:nvSpPr>
          <p:cNvPr id="282" name="Google Shape;282;p25"/>
          <p:cNvSpPr txBox="1"/>
          <p:nvPr/>
        </p:nvSpPr>
        <p:spPr>
          <a:xfrm>
            <a:off x="857250" y="4029075"/>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74151"/>
                </a:solidFill>
                <a:latin typeface="Inter"/>
                <a:ea typeface="Inter"/>
                <a:cs typeface="Inter"/>
                <a:sym typeface="Inter"/>
              </a:rPr>
              <a:t>•</a:t>
            </a:r>
            <a:endParaRPr/>
          </a:p>
        </p:txBody>
      </p:sp>
      <p:sp>
        <p:nvSpPr>
          <p:cNvPr id="283" name="Google Shape;283;p25"/>
          <p:cNvSpPr txBox="1"/>
          <p:nvPr/>
        </p:nvSpPr>
        <p:spPr>
          <a:xfrm>
            <a:off x="962025" y="4029075"/>
            <a:ext cx="4895850" cy="3048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74151"/>
                </a:solidFill>
                <a:latin typeface="Inter"/>
                <a:ea typeface="Inter"/>
                <a:cs typeface="Inter"/>
                <a:sym typeface="Inter"/>
              </a:rPr>
              <a:t>Découverte des "Edge Cases".</a:t>
            </a:r>
            <a:endParaRPr/>
          </a:p>
        </p:txBody>
      </p:sp>
      <p:sp>
        <p:nvSpPr>
          <p:cNvPr id="284" name="Google Shape;284;p25"/>
          <p:cNvSpPr txBox="1"/>
          <p:nvPr/>
        </p:nvSpPr>
        <p:spPr>
          <a:xfrm>
            <a:off x="857250" y="4333875"/>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74151"/>
                </a:solidFill>
                <a:latin typeface="Inter"/>
                <a:ea typeface="Inter"/>
                <a:cs typeface="Inter"/>
                <a:sym typeface="Inter"/>
              </a:rPr>
              <a:t>•</a:t>
            </a:r>
            <a:endParaRPr/>
          </a:p>
        </p:txBody>
      </p:sp>
      <p:sp>
        <p:nvSpPr>
          <p:cNvPr id="285" name="Google Shape;285;p25"/>
          <p:cNvSpPr txBox="1"/>
          <p:nvPr/>
        </p:nvSpPr>
        <p:spPr>
          <a:xfrm>
            <a:off x="962025" y="4333875"/>
            <a:ext cx="4895850" cy="3048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74151"/>
                </a:solidFill>
                <a:latin typeface="Inter"/>
                <a:ea typeface="Inter"/>
                <a:cs typeface="Inter"/>
                <a:sym typeface="Inter"/>
              </a:rPr>
              <a:t>Outil Java : </a:t>
            </a:r>
            <a:r>
              <a:rPr b="1" i="0" lang="en-US" sz="1500" u="none" cap="none" strike="noStrike">
                <a:solidFill>
                  <a:srgbClr val="374151"/>
                </a:solidFill>
                <a:latin typeface="Inter"/>
                <a:ea typeface="Inter"/>
                <a:cs typeface="Inter"/>
                <a:sym typeface="Inter"/>
              </a:rPr>
              <a:t>jqwik</a:t>
            </a:r>
            <a:r>
              <a:rPr b="0" i="0" lang="en-US" sz="1500" u="none" cap="none" strike="noStrike">
                <a:solidFill>
                  <a:srgbClr val="374151"/>
                </a:solidFill>
                <a:latin typeface="Inter"/>
                <a:ea typeface="Inter"/>
                <a:cs typeface="Inter"/>
                <a:sym typeface="Inter"/>
              </a:rPr>
              <a:t>.</a:t>
            </a:r>
            <a:endParaRPr/>
          </a:p>
        </p:txBody>
      </p:sp>
      <p:pic>
        <p:nvPicPr>
          <p:cNvPr descr="image.png" id="286" name="Google Shape;286;p25"/>
          <p:cNvPicPr preferRelativeResize="0"/>
          <p:nvPr/>
        </p:nvPicPr>
        <p:blipFill rotWithShape="1">
          <a:blip r:embed="rId7">
            <a:alphaModFix/>
          </a:blip>
          <a:srcRect b="0" l="0" r="0" t="0"/>
          <a:stretch/>
        </p:blipFill>
        <p:spPr>
          <a:xfrm>
            <a:off x="6534150" y="3994249"/>
            <a:ext cx="133350" cy="152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0" name="Shape 290"/>
        <p:cNvGrpSpPr/>
        <p:nvPr/>
      </p:nvGrpSpPr>
      <p:grpSpPr>
        <a:xfrm>
          <a:off x="0" y="0"/>
          <a:ext cx="0" cy="0"/>
          <a:chOff x="0" y="0"/>
          <a:chExt cx="0" cy="0"/>
        </a:xfrm>
      </p:grpSpPr>
      <p:sp>
        <p:nvSpPr>
          <p:cNvPr id="291" name="Google Shape;291;p26"/>
          <p:cNvSpPr txBox="1"/>
          <p:nvPr/>
        </p:nvSpPr>
        <p:spPr>
          <a:xfrm>
            <a:off x="581025" y="581025"/>
            <a:ext cx="11581447"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2563EB"/>
                </a:solidFill>
                <a:latin typeface="Inter"/>
                <a:ea typeface="Inter"/>
                <a:cs typeface="Inter"/>
                <a:sym typeface="Inter"/>
              </a:rPr>
              <a:t>Checklist de l'Expert</a:t>
            </a:r>
            <a:endParaRPr/>
          </a:p>
        </p:txBody>
      </p:sp>
      <p:sp>
        <p:nvSpPr>
          <p:cNvPr id="292" name="Google Shape;292;p26"/>
          <p:cNvSpPr/>
          <p:nvPr/>
        </p:nvSpPr>
        <p:spPr>
          <a:xfrm>
            <a:off x="581025" y="1333500"/>
            <a:ext cx="11029950" cy="2857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3" name="Google Shape;293;p26"/>
          <p:cNvSpPr txBox="1"/>
          <p:nvPr/>
        </p:nvSpPr>
        <p:spPr>
          <a:xfrm>
            <a:off x="305276" y="5481339"/>
            <a:ext cx="11581447"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2563EB"/>
                </a:solidFill>
                <a:latin typeface="Inter SemiBold"/>
                <a:ea typeface="Inter SemiBold"/>
                <a:cs typeface="Inter SemiBold"/>
                <a:sym typeface="Inter SemiBold"/>
              </a:rPr>
              <a:t>Questions / Réponses ?</a:t>
            </a:r>
            <a:endParaRPr/>
          </a:p>
        </p:txBody>
      </p:sp>
      <p:sp>
        <p:nvSpPr>
          <p:cNvPr id="294" name="Google Shape;294;p26"/>
          <p:cNvSpPr txBox="1"/>
          <p:nvPr/>
        </p:nvSpPr>
        <p:spPr>
          <a:xfrm>
            <a:off x="962025" y="2224236"/>
            <a:ext cx="10648950" cy="36567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374151"/>
                </a:solidFill>
                <a:latin typeface="Inter"/>
                <a:ea typeface="Inter"/>
                <a:cs typeface="Inter"/>
                <a:sym typeface="Inter"/>
              </a:rPr>
              <a:t>Lisibilité :</a:t>
            </a:r>
            <a:r>
              <a:rPr b="0" i="0" lang="en-US" sz="1800" u="none" cap="none" strike="noStrike">
                <a:solidFill>
                  <a:srgbClr val="374151"/>
                </a:solidFill>
                <a:latin typeface="Inter"/>
                <a:ea typeface="Inter"/>
                <a:cs typeface="Inter"/>
                <a:sym typeface="Inter"/>
              </a:rPr>
              <a:t> Je comprends l'erreur sans ouvrir le code.</a:t>
            </a:r>
            <a:endParaRPr/>
          </a:p>
        </p:txBody>
      </p:sp>
      <p:sp>
        <p:nvSpPr>
          <p:cNvPr id="295" name="Google Shape;295;p26"/>
          <p:cNvSpPr txBox="1"/>
          <p:nvPr/>
        </p:nvSpPr>
        <p:spPr>
          <a:xfrm>
            <a:off x="962025" y="2780407"/>
            <a:ext cx="10648950" cy="36567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374151"/>
                </a:solidFill>
                <a:latin typeface="Inter"/>
                <a:ea typeface="Inter"/>
                <a:cs typeface="Inter"/>
                <a:sym typeface="Inter"/>
              </a:rPr>
              <a:t>Indépendance :</a:t>
            </a:r>
            <a:r>
              <a:rPr b="0" i="0" lang="en-US" sz="1800" u="none" cap="none" strike="noStrike">
                <a:solidFill>
                  <a:srgbClr val="374151"/>
                </a:solidFill>
                <a:latin typeface="Inter"/>
                <a:ea typeface="Inter"/>
                <a:cs typeface="Inter"/>
                <a:sym typeface="Inter"/>
              </a:rPr>
              <a:t> Je peux lancer le test seul ou en parallèle.</a:t>
            </a:r>
            <a:endParaRPr/>
          </a:p>
        </p:txBody>
      </p:sp>
      <p:sp>
        <p:nvSpPr>
          <p:cNvPr id="296" name="Google Shape;296;p26"/>
          <p:cNvSpPr txBox="1"/>
          <p:nvPr/>
        </p:nvSpPr>
        <p:spPr>
          <a:xfrm>
            <a:off x="962025" y="3336577"/>
            <a:ext cx="10648950" cy="36567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374151"/>
                </a:solidFill>
                <a:latin typeface="Inter"/>
                <a:ea typeface="Inter"/>
                <a:cs typeface="Inter"/>
                <a:sym typeface="Inter"/>
              </a:rPr>
              <a:t>Déterminisme :</a:t>
            </a:r>
            <a:r>
              <a:rPr b="0" i="0" lang="en-US" sz="1800" u="none" cap="none" strike="noStrike">
                <a:solidFill>
                  <a:srgbClr val="374151"/>
                </a:solidFill>
                <a:latin typeface="Inter"/>
                <a:ea typeface="Inter"/>
                <a:cs typeface="Inter"/>
                <a:sym typeface="Inter"/>
              </a:rPr>
              <a:t> Le résultat est toujours le même (pas de flaky).</a:t>
            </a:r>
            <a:endParaRPr/>
          </a:p>
        </p:txBody>
      </p:sp>
      <p:sp>
        <p:nvSpPr>
          <p:cNvPr id="297" name="Google Shape;297;p26"/>
          <p:cNvSpPr txBox="1"/>
          <p:nvPr/>
        </p:nvSpPr>
        <p:spPr>
          <a:xfrm>
            <a:off x="962025" y="3892748"/>
            <a:ext cx="10648950" cy="36567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374151"/>
                </a:solidFill>
                <a:latin typeface="Inter"/>
                <a:ea typeface="Inter"/>
                <a:cs typeface="Inter"/>
                <a:sym typeface="Inter"/>
              </a:rPr>
              <a:t>Vitesse :</a:t>
            </a:r>
            <a:r>
              <a:rPr b="0" i="0" lang="en-US" sz="1800" u="none" cap="none" strike="noStrike">
                <a:solidFill>
                  <a:srgbClr val="374151"/>
                </a:solidFill>
                <a:latin typeface="Inter"/>
                <a:ea typeface="Inter"/>
                <a:cs typeface="Inter"/>
                <a:sym typeface="Inter"/>
              </a:rPr>
              <a:t> Je n'hésite pas à le lancer.</a:t>
            </a:r>
            <a:endParaRPr/>
          </a:p>
        </p:txBody>
      </p:sp>
      <p:sp>
        <p:nvSpPr>
          <p:cNvPr id="298" name="Google Shape;298;p26"/>
          <p:cNvSpPr txBox="1"/>
          <p:nvPr/>
        </p:nvSpPr>
        <p:spPr>
          <a:xfrm>
            <a:off x="962025" y="4448919"/>
            <a:ext cx="10648950" cy="36567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374151"/>
                </a:solidFill>
                <a:latin typeface="Inter"/>
                <a:ea typeface="Inter"/>
                <a:cs typeface="Inter"/>
                <a:sym typeface="Inter"/>
              </a:rPr>
              <a:t>Documentation :</a:t>
            </a:r>
            <a:r>
              <a:rPr b="0" i="0" lang="en-US" sz="1800" u="none" cap="none" strike="noStrike">
                <a:solidFill>
                  <a:srgbClr val="374151"/>
                </a:solidFill>
                <a:latin typeface="Inter"/>
                <a:ea typeface="Inter"/>
                <a:cs typeface="Inter"/>
                <a:sym typeface="Inter"/>
              </a:rPr>
              <a:t> Le test explique le "Pourquoi" du code.</a:t>
            </a:r>
            <a:endParaRPr/>
          </a:p>
        </p:txBody>
      </p:sp>
      <p:pic>
        <p:nvPicPr>
          <p:cNvPr descr="image.png" id="299" name="Google Shape;299;p26"/>
          <p:cNvPicPr preferRelativeResize="0"/>
          <p:nvPr/>
        </p:nvPicPr>
        <p:blipFill rotWithShape="1">
          <a:blip r:embed="rId3">
            <a:alphaModFix/>
          </a:blip>
          <a:srcRect b="0" l="0" r="0" t="0"/>
          <a:stretch/>
        </p:blipFill>
        <p:spPr>
          <a:xfrm>
            <a:off x="581025" y="2224236"/>
            <a:ext cx="200025" cy="247650"/>
          </a:xfrm>
          <a:prstGeom prst="rect">
            <a:avLst/>
          </a:prstGeom>
          <a:noFill/>
          <a:ln>
            <a:noFill/>
          </a:ln>
        </p:spPr>
      </p:pic>
      <p:pic>
        <p:nvPicPr>
          <p:cNvPr descr="image.png" id="300" name="Google Shape;300;p26"/>
          <p:cNvPicPr preferRelativeResize="0"/>
          <p:nvPr/>
        </p:nvPicPr>
        <p:blipFill rotWithShape="1">
          <a:blip r:embed="rId3">
            <a:alphaModFix/>
          </a:blip>
          <a:srcRect b="0" l="0" r="0" t="0"/>
          <a:stretch/>
        </p:blipFill>
        <p:spPr>
          <a:xfrm>
            <a:off x="581025" y="2780407"/>
            <a:ext cx="200025" cy="247650"/>
          </a:xfrm>
          <a:prstGeom prst="rect">
            <a:avLst/>
          </a:prstGeom>
          <a:noFill/>
          <a:ln>
            <a:noFill/>
          </a:ln>
        </p:spPr>
      </p:pic>
      <p:pic>
        <p:nvPicPr>
          <p:cNvPr descr="image.png" id="301" name="Google Shape;301;p26"/>
          <p:cNvPicPr preferRelativeResize="0"/>
          <p:nvPr/>
        </p:nvPicPr>
        <p:blipFill rotWithShape="1">
          <a:blip r:embed="rId3">
            <a:alphaModFix/>
          </a:blip>
          <a:srcRect b="0" l="0" r="0" t="0"/>
          <a:stretch/>
        </p:blipFill>
        <p:spPr>
          <a:xfrm>
            <a:off x="581025" y="3336577"/>
            <a:ext cx="200025" cy="247650"/>
          </a:xfrm>
          <a:prstGeom prst="rect">
            <a:avLst/>
          </a:prstGeom>
          <a:noFill/>
          <a:ln>
            <a:noFill/>
          </a:ln>
        </p:spPr>
      </p:pic>
      <p:pic>
        <p:nvPicPr>
          <p:cNvPr descr="image.png" id="302" name="Google Shape;302;p26"/>
          <p:cNvPicPr preferRelativeResize="0"/>
          <p:nvPr/>
        </p:nvPicPr>
        <p:blipFill rotWithShape="1">
          <a:blip r:embed="rId3">
            <a:alphaModFix/>
          </a:blip>
          <a:srcRect b="0" l="0" r="0" t="0"/>
          <a:stretch/>
        </p:blipFill>
        <p:spPr>
          <a:xfrm>
            <a:off x="581025" y="3892748"/>
            <a:ext cx="200025" cy="247650"/>
          </a:xfrm>
          <a:prstGeom prst="rect">
            <a:avLst/>
          </a:prstGeom>
          <a:noFill/>
          <a:ln>
            <a:noFill/>
          </a:ln>
        </p:spPr>
      </p:pic>
      <p:pic>
        <p:nvPicPr>
          <p:cNvPr descr="image.png" id="303" name="Google Shape;303;p26"/>
          <p:cNvPicPr preferRelativeResize="0"/>
          <p:nvPr/>
        </p:nvPicPr>
        <p:blipFill rotWithShape="1">
          <a:blip r:embed="rId3">
            <a:alphaModFix/>
          </a:blip>
          <a:srcRect b="0" l="0" r="0" t="0"/>
          <a:stretch/>
        </p:blipFill>
        <p:spPr>
          <a:xfrm>
            <a:off x="581025" y="4448919"/>
            <a:ext cx="200025" cy="247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7" name="Shape 307"/>
        <p:cNvGrpSpPr/>
        <p:nvPr/>
      </p:nvGrpSpPr>
      <p:grpSpPr>
        <a:xfrm>
          <a:off x="0" y="0"/>
          <a:ext cx="0" cy="0"/>
          <a:chOff x="0" y="0"/>
          <a:chExt cx="0" cy="0"/>
        </a:xfrm>
      </p:grpSpPr>
      <p:sp>
        <p:nvSpPr>
          <p:cNvPr id="308" name="Google Shape;308;p27"/>
          <p:cNvSpPr txBox="1"/>
          <p:nvPr/>
        </p:nvSpPr>
        <p:spPr>
          <a:xfrm>
            <a:off x="581025" y="399454"/>
            <a:ext cx="11581447"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2563EB"/>
                </a:solidFill>
                <a:latin typeface="Inter"/>
                <a:ea typeface="Inter"/>
                <a:cs typeface="Inter"/>
                <a:sym typeface="Inter"/>
              </a:rPr>
              <a:t>Image Sources</a:t>
            </a:r>
            <a:endParaRPr/>
          </a:p>
        </p:txBody>
      </p:sp>
      <p:sp>
        <p:nvSpPr>
          <p:cNvPr id="309" name="Google Shape;309;p27"/>
          <p:cNvSpPr/>
          <p:nvPr/>
        </p:nvSpPr>
        <p:spPr>
          <a:xfrm>
            <a:off x="581025" y="1151929"/>
            <a:ext cx="11029950" cy="2857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0" name="Google Shape;310;p27"/>
          <p:cNvSpPr/>
          <p:nvPr/>
        </p:nvSpPr>
        <p:spPr>
          <a:xfrm>
            <a:off x="581025" y="1561504"/>
            <a:ext cx="11029950" cy="78477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1" name="Google Shape;311;p27"/>
          <p:cNvSpPr/>
          <p:nvPr/>
        </p:nvSpPr>
        <p:spPr>
          <a:xfrm>
            <a:off x="581025" y="2346275"/>
            <a:ext cx="11029950" cy="9828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2" name="Google Shape;312;p27"/>
          <p:cNvSpPr/>
          <p:nvPr/>
        </p:nvSpPr>
        <p:spPr>
          <a:xfrm>
            <a:off x="581025" y="3329136"/>
            <a:ext cx="11029950" cy="78477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3" name="Google Shape;313;p27"/>
          <p:cNvSpPr/>
          <p:nvPr/>
        </p:nvSpPr>
        <p:spPr>
          <a:xfrm>
            <a:off x="581025" y="4113907"/>
            <a:ext cx="11029950" cy="78477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4" name="Google Shape;314;p27"/>
          <p:cNvSpPr/>
          <p:nvPr/>
        </p:nvSpPr>
        <p:spPr>
          <a:xfrm>
            <a:off x="581025" y="4898677"/>
            <a:ext cx="11029950" cy="78477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5" name="Google Shape;315;p27"/>
          <p:cNvSpPr/>
          <p:nvPr/>
        </p:nvSpPr>
        <p:spPr>
          <a:xfrm>
            <a:off x="581025" y="2336750"/>
            <a:ext cx="11029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6" name="Google Shape;316;p27"/>
          <p:cNvSpPr/>
          <p:nvPr/>
        </p:nvSpPr>
        <p:spPr>
          <a:xfrm>
            <a:off x="581025" y="2336750"/>
            <a:ext cx="11029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7" name="Google Shape;317;p27"/>
          <p:cNvSpPr/>
          <p:nvPr/>
        </p:nvSpPr>
        <p:spPr>
          <a:xfrm>
            <a:off x="581025" y="3319611"/>
            <a:ext cx="11029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8" name="Google Shape;318;p27"/>
          <p:cNvSpPr/>
          <p:nvPr/>
        </p:nvSpPr>
        <p:spPr>
          <a:xfrm>
            <a:off x="581025" y="3319611"/>
            <a:ext cx="11029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9" name="Google Shape;319;p27"/>
          <p:cNvSpPr/>
          <p:nvPr/>
        </p:nvSpPr>
        <p:spPr>
          <a:xfrm>
            <a:off x="581025" y="4104382"/>
            <a:ext cx="11029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0" name="Google Shape;320;p27"/>
          <p:cNvSpPr/>
          <p:nvPr/>
        </p:nvSpPr>
        <p:spPr>
          <a:xfrm>
            <a:off x="581025" y="4104382"/>
            <a:ext cx="11029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1" name="Google Shape;321;p27"/>
          <p:cNvSpPr/>
          <p:nvPr/>
        </p:nvSpPr>
        <p:spPr>
          <a:xfrm>
            <a:off x="581025" y="4889152"/>
            <a:ext cx="11029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2" name="Google Shape;322;p27"/>
          <p:cNvSpPr/>
          <p:nvPr/>
        </p:nvSpPr>
        <p:spPr>
          <a:xfrm>
            <a:off x="581025" y="4889152"/>
            <a:ext cx="11029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3" name="Google Shape;323;p27"/>
          <p:cNvSpPr/>
          <p:nvPr/>
        </p:nvSpPr>
        <p:spPr>
          <a:xfrm>
            <a:off x="581025" y="5673923"/>
            <a:ext cx="11029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4" name="Google Shape;324;p27"/>
          <p:cNvSpPr/>
          <p:nvPr/>
        </p:nvSpPr>
        <p:spPr>
          <a:xfrm>
            <a:off x="581025" y="5673923"/>
            <a:ext cx="11029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25" name="Google Shape;325;p27"/>
          <p:cNvPicPr preferRelativeResize="0"/>
          <p:nvPr/>
        </p:nvPicPr>
        <p:blipFill rotWithShape="1">
          <a:blip r:embed="rId3">
            <a:alphaModFix/>
          </a:blip>
          <a:srcRect b="0" l="0" r="0" t="0"/>
          <a:stretch/>
        </p:blipFill>
        <p:spPr>
          <a:xfrm>
            <a:off x="581025" y="1710928"/>
            <a:ext cx="857250" cy="476250"/>
          </a:xfrm>
          <a:prstGeom prst="rect">
            <a:avLst/>
          </a:prstGeom>
          <a:noFill/>
          <a:ln>
            <a:noFill/>
          </a:ln>
        </p:spPr>
      </p:pic>
      <p:sp>
        <p:nvSpPr>
          <p:cNvPr id="326" name="Google Shape;326;p27"/>
          <p:cNvSpPr txBox="1"/>
          <p:nvPr/>
        </p:nvSpPr>
        <p:spPr>
          <a:xfrm>
            <a:off x="1676400" y="1704379"/>
            <a:ext cx="993457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374151"/>
                </a:solidFill>
                <a:latin typeface="Inter"/>
                <a:ea typeface="Inter"/>
                <a:cs typeface="Inter"/>
                <a:sym typeface="Inter"/>
              </a:rPr>
              <a:t>https://global-uploads.webflow.com/619e15d781b21202de206fb5/628b0dca3e6eda9219d40a6a_The-Testing-Pyramid-Simplified-for-One-and-All-1280X720%20(1).jpg</a:t>
            </a:r>
            <a:endParaRPr/>
          </a:p>
        </p:txBody>
      </p:sp>
      <p:sp>
        <p:nvSpPr>
          <p:cNvPr id="327" name="Google Shape;327;p27"/>
          <p:cNvSpPr txBox="1"/>
          <p:nvPr/>
        </p:nvSpPr>
        <p:spPr>
          <a:xfrm>
            <a:off x="1676400" y="1950094"/>
            <a:ext cx="993457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374151"/>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www.headspin.io</a:t>
            </a:r>
            <a:endParaRPr/>
          </a:p>
        </p:txBody>
      </p:sp>
      <p:pic>
        <p:nvPicPr>
          <p:cNvPr descr="image.png" id="328" name="Google Shape;328;p27"/>
          <p:cNvPicPr preferRelativeResize="0"/>
          <p:nvPr/>
        </p:nvPicPr>
        <p:blipFill rotWithShape="1">
          <a:blip r:embed="rId4">
            <a:alphaModFix/>
          </a:blip>
          <a:srcRect b="0" l="0" r="0" t="0"/>
          <a:stretch/>
        </p:blipFill>
        <p:spPr>
          <a:xfrm>
            <a:off x="581025" y="2594818"/>
            <a:ext cx="857250" cy="476250"/>
          </a:xfrm>
          <a:prstGeom prst="rect">
            <a:avLst/>
          </a:prstGeom>
          <a:noFill/>
          <a:ln>
            <a:noFill/>
          </a:ln>
        </p:spPr>
      </p:pic>
      <p:sp>
        <p:nvSpPr>
          <p:cNvPr id="329" name="Google Shape;329;p27"/>
          <p:cNvSpPr txBox="1"/>
          <p:nvPr/>
        </p:nvSpPr>
        <p:spPr>
          <a:xfrm>
            <a:off x="1676400" y="2489150"/>
            <a:ext cx="9934575" cy="3961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374151"/>
                </a:solidFill>
                <a:latin typeface="Inter"/>
                <a:ea typeface="Inter"/>
                <a:cs typeface="Inter"/>
                <a:sym typeface="Inter"/>
              </a:rPr>
              <a:t>https://res.cloudinary.com/kentcdodds-com/image/upload/f_auto,q_auto,dpr_2.0,w_1600/v1625033467/kentcdodds.com/content/blog/unit-vs-integration-vs-e2e-tests/confidence-coefficient.png</a:t>
            </a:r>
            <a:endParaRPr/>
          </a:p>
        </p:txBody>
      </p:sp>
      <p:sp>
        <p:nvSpPr>
          <p:cNvPr id="330" name="Google Shape;330;p27"/>
          <p:cNvSpPr txBox="1"/>
          <p:nvPr/>
        </p:nvSpPr>
        <p:spPr>
          <a:xfrm>
            <a:off x="1676400" y="2932955"/>
            <a:ext cx="993457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374151"/>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kentcdodds.com</a:t>
            </a:r>
            <a:endParaRPr/>
          </a:p>
        </p:txBody>
      </p:sp>
      <p:pic>
        <p:nvPicPr>
          <p:cNvPr descr="image.png" id="331" name="Google Shape;331;p27"/>
          <p:cNvPicPr preferRelativeResize="0"/>
          <p:nvPr/>
        </p:nvPicPr>
        <p:blipFill rotWithShape="1">
          <a:blip r:embed="rId5">
            <a:alphaModFix/>
          </a:blip>
          <a:srcRect b="0" l="0" r="0" t="0"/>
          <a:stretch/>
        </p:blipFill>
        <p:spPr>
          <a:xfrm>
            <a:off x="581025" y="3478559"/>
            <a:ext cx="857250" cy="476250"/>
          </a:xfrm>
          <a:prstGeom prst="rect">
            <a:avLst/>
          </a:prstGeom>
          <a:noFill/>
          <a:ln>
            <a:noFill/>
          </a:ln>
        </p:spPr>
      </p:pic>
      <p:sp>
        <p:nvSpPr>
          <p:cNvPr id="332" name="Google Shape;332;p27"/>
          <p:cNvSpPr txBox="1"/>
          <p:nvPr/>
        </p:nvSpPr>
        <p:spPr>
          <a:xfrm>
            <a:off x="1676400" y="3472011"/>
            <a:ext cx="993457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374151"/>
                </a:solidFill>
                <a:latin typeface="Inter"/>
                <a:ea typeface="Inter"/>
                <a:cs typeface="Inter"/>
                <a:sym typeface="Inter"/>
              </a:rPr>
              <a:t>https://miro.medium.com/v2/resize:fit:750/0*v_kEukCKDOPhTqFI.png</a:t>
            </a:r>
            <a:endParaRPr/>
          </a:p>
        </p:txBody>
      </p:sp>
      <p:sp>
        <p:nvSpPr>
          <p:cNvPr id="333" name="Google Shape;333;p27"/>
          <p:cNvSpPr txBox="1"/>
          <p:nvPr/>
        </p:nvSpPr>
        <p:spPr>
          <a:xfrm>
            <a:off x="1676400" y="3717726"/>
            <a:ext cx="993457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374151"/>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blog.stackademic.com</a:t>
            </a:r>
            <a:endParaRPr/>
          </a:p>
        </p:txBody>
      </p:sp>
      <p:pic>
        <p:nvPicPr>
          <p:cNvPr descr="image.png" id="334" name="Google Shape;334;p27"/>
          <p:cNvPicPr preferRelativeResize="0"/>
          <p:nvPr/>
        </p:nvPicPr>
        <p:blipFill rotWithShape="1">
          <a:blip r:embed="rId6">
            <a:alphaModFix/>
          </a:blip>
          <a:srcRect b="0" l="0" r="0" t="0"/>
          <a:stretch/>
        </p:blipFill>
        <p:spPr>
          <a:xfrm>
            <a:off x="581025" y="4263330"/>
            <a:ext cx="857250" cy="476250"/>
          </a:xfrm>
          <a:prstGeom prst="rect">
            <a:avLst/>
          </a:prstGeom>
          <a:noFill/>
          <a:ln>
            <a:noFill/>
          </a:ln>
        </p:spPr>
      </p:pic>
      <p:sp>
        <p:nvSpPr>
          <p:cNvPr id="335" name="Google Shape;335;p27"/>
          <p:cNvSpPr txBox="1"/>
          <p:nvPr/>
        </p:nvSpPr>
        <p:spPr>
          <a:xfrm>
            <a:off x="1676400" y="4256782"/>
            <a:ext cx="993457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374151"/>
                </a:solidFill>
                <a:latin typeface="Inter"/>
                <a:ea typeface="Inter"/>
                <a:cs typeface="Inter"/>
                <a:sym typeface="Inter"/>
              </a:rPr>
              <a:t>https://www.fullmetalsoftware.com/wp-content/uploads/2025/05/tangled-mess-being-untangled-1024x559.jpeg.webp</a:t>
            </a:r>
            <a:endParaRPr/>
          </a:p>
        </p:txBody>
      </p:sp>
      <p:sp>
        <p:nvSpPr>
          <p:cNvPr id="336" name="Google Shape;336;p27"/>
          <p:cNvSpPr txBox="1"/>
          <p:nvPr/>
        </p:nvSpPr>
        <p:spPr>
          <a:xfrm>
            <a:off x="1676400" y="4502497"/>
            <a:ext cx="993457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374151"/>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www.fullmetalsoftware.com</a:t>
            </a:r>
            <a:endParaRPr/>
          </a:p>
        </p:txBody>
      </p:sp>
      <p:pic>
        <p:nvPicPr>
          <p:cNvPr descr="image.png" id="337" name="Google Shape;337;p27"/>
          <p:cNvPicPr preferRelativeResize="0"/>
          <p:nvPr/>
        </p:nvPicPr>
        <p:blipFill rotWithShape="1">
          <a:blip r:embed="rId7">
            <a:alphaModFix/>
          </a:blip>
          <a:srcRect b="0" l="0" r="0" t="0"/>
          <a:stretch/>
        </p:blipFill>
        <p:spPr>
          <a:xfrm>
            <a:off x="581025" y="5048101"/>
            <a:ext cx="857250" cy="476250"/>
          </a:xfrm>
          <a:prstGeom prst="rect">
            <a:avLst/>
          </a:prstGeom>
          <a:noFill/>
          <a:ln>
            <a:noFill/>
          </a:ln>
        </p:spPr>
      </p:pic>
      <p:sp>
        <p:nvSpPr>
          <p:cNvPr id="338" name="Google Shape;338;p27"/>
          <p:cNvSpPr txBox="1"/>
          <p:nvPr/>
        </p:nvSpPr>
        <p:spPr>
          <a:xfrm>
            <a:off x="1676400" y="5041552"/>
            <a:ext cx="993457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374151"/>
                </a:solidFill>
                <a:latin typeface="Inter"/>
                <a:ea typeface="Inter"/>
                <a:cs typeface="Inter"/>
                <a:sym typeface="Inter"/>
              </a:rPr>
              <a:t>https://www.lambdatest.com/dynamic-pages/resources/images/learning-hub/mutation-testing-by-sathwik-prabhu.webp</a:t>
            </a:r>
            <a:endParaRPr/>
          </a:p>
        </p:txBody>
      </p:sp>
      <p:sp>
        <p:nvSpPr>
          <p:cNvPr id="339" name="Google Shape;339;p27"/>
          <p:cNvSpPr txBox="1"/>
          <p:nvPr/>
        </p:nvSpPr>
        <p:spPr>
          <a:xfrm>
            <a:off x="1676400" y="5287267"/>
            <a:ext cx="993457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374151"/>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www.lambdatest.com</a:t>
            </a:r>
            <a:endParaRPr/>
          </a:p>
        </p:txBody>
      </p:sp>
      <p:pic>
        <p:nvPicPr>
          <p:cNvPr descr="image.png" id="340" name="Google Shape;340;p27"/>
          <p:cNvPicPr preferRelativeResize="0"/>
          <p:nvPr/>
        </p:nvPicPr>
        <p:blipFill rotWithShape="1">
          <a:blip r:embed="rId8">
            <a:alphaModFix/>
          </a:blip>
          <a:srcRect b="0" l="0" r="0" t="0"/>
          <a:stretch/>
        </p:blipFill>
        <p:spPr>
          <a:xfrm>
            <a:off x="581025" y="5832871"/>
            <a:ext cx="857250" cy="476250"/>
          </a:xfrm>
          <a:prstGeom prst="rect">
            <a:avLst/>
          </a:prstGeom>
          <a:noFill/>
          <a:ln>
            <a:noFill/>
          </a:ln>
        </p:spPr>
      </p:pic>
      <p:sp>
        <p:nvSpPr>
          <p:cNvPr id="341" name="Google Shape;341;p27"/>
          <p:cNvSpPr txBox="1"/>
          <p:nvPr/>
        </p:nvSpPr>
        <p:spPr>
          <a:xfrm>
            <a:off x="1676400" y="5826323"/>
            <a:ext cx="993457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374151"/>
                </a:solidFill>
                <a:latin typeface="Inter"/>
                <a:ea typeface="Inter"/>
                <a:cs typeface="Inter"/>
                <a:sym typeface="Inter"/>
              </a:rPr>
              <a:t>https://mguenther.net/images/2024-09-property_based_testing_with_scalacheck/2024-09-pbt-overview.png</a:t>
            </a:r>
            <a:endParaRPr/>
          </a:p>
        </p:txBody>
      </p:sp>
      <p:sp>
        <p:nvSpPr>
          <p:cNvPr id="342" name="Google Shape;342;p27"/>
          <p:cNvSpPr txBox="1"/>
          <p:nvPr/>
        </p:nvSpPr>
        <p:spPr>
          <a:xfrm>
            <a:off x="1676400" y="6072038"/>
            <a:ext cx="993457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374151"/>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mguenther.net</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