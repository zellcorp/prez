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8B364C-2AA6-486A-9F0F-5DB14B5958AB}">
  <a:tblStyle styleId="{F38B364C-2AA6-486A-9F0F-5DB14B5958A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595437" y="2012602"/>
            <a:ext cx="9001125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34074"/>
                </a:solidFill>
                <a:latin typeface="Montserrat"/>
                <a:ea typeface="Montserrat"/>
                <a:cs typeface="Montserrat"/>
                <a:sym typeface="Montserrat"/>
              </a:rPr>
              <a:t>Semantic Versioning (SemVer)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595437" y="3689002"/>
            <a:ext cx="90011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76F51"/>
                </a:solidFill>
                <a:latin typeface="Montserrat"/>
                <a:ea typeface="Montserrat"/>
                <a:cs typeface="Montserrat"/>
                <a:sym typeface="Montserrat"/>
              </a:rPr>
              <a:t>Une approche pragmatique pour l'écosystème Java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250977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Comprendre, Appliquer et Maîtriser ses dépendances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3145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B2545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145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04875" y="21717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Introduction 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Du "JAR Hell" à la solution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04875" y="26670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Les Fondamentaux 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La syntaxe X.Y.Z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31623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Détails Techniques 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Impact sur le code Java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3657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Spécificités Java 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SNAPSHOTs et Maven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4152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Pourquoi utiliser SemVer 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Résolution &amp; Communication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49530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Les Défis 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Compatibilité Binaire vs Source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54483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Outils 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Vérification et conformité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907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860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813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766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719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9720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4673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/>
        </p:nvSpPr>
        <p:spPr>
          <a:xfrm>
            <a:off x="762000" y="1390650"/>
            <a:ext cx="4800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34074"/>
                </a:solidFill>
                <a:latin typeface="Montserrat"/>
                <a:ea typeface="Montserrat"/>
                <a:cs typeface="Montserrat"/>
                <a:sym typeface="Montserrat"/>
              </a:rPr>
              <a:t>Le Problème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62000" y="2133600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76F51"/>
                </a:solidFill>
                <a:latin typeface="Montserrat"/>
                <a:ea typeface="Montserrat"/>
                <a:cs typeface="Montserrat"/>
                <a:sym typeface="Montserrat"/>
              </a:rPr>
              <a:t>"Dependency Hell"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2790825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Le développement Java moderne implique des dizaines de dépendances transitives. Sans règles strictes, c'est le chaos :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76300" y="4086225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52500" y="4086225"/>
            <a:ext cx="4381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java.lang.NoSuchMethodError au runtime.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76300" y="4400550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52500" y="4400550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Conflits de versions imprévisibles.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76300" y="4705350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52500" y="4705350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Peur de mettre à jour les librairies ("Si ça marche, ne touche à rien").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>
            <a:off x="5381625" y="2638425"/>
            <a:ext cx="1428750" cy="5715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2230516" y="2981325"/>
            <a:ext cx="773096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34074"/>
                </a:solidFill>
                <a:latin typeface="Montserrat"/>
                <a:ea typeface="Montserrat"/>
                <a:cs typeface="Montserrat"/>
                <a:sym typeface="Montserrat"/>
              </a:rPr>
              <a:t>La Solution : SemVer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2414587" y="4010025"/>
            <a:ext cx="7362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Semantic Versioning 2.0.0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78409"/>
            <a:ext cx="3492549" cy="3406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278409"/>
            <a:ext cx="3492549" cy="3406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278409"/>
            <a:ext cx="3492549" cy="340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B2545"/>
                </a:solidFill>
                <a:latin typeface="Montserrat"/>
                <a:ea typeface="Montserrat"/>
                <a:cs typeface="Montserrat"/>
                <a:sym typeface="Montserrat"/>
              </a:rPr>
              <a:t>La Syntaxe : X.Y.Z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784223" y="3592859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34074"/>
                </a:solidFill>
                <a:latin typeface="Montserrat"/>
                <a:ea typeface="Montserrat"/>
                <a:cs typeface="Montserrat"/>
                <a:sym typeface="Montserrat"/>
              </a:rPr>
              <a:t>MAJEURE (X)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57250" y="4107209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Changements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incompatibles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avec l'API existante.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57250" y="4907309"/>
            <a:ext cx="292104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Ex: v1.0.0 → v2.0.0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562523" y="3592859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34074"/>
                </a:solidFill>
                <a:latin typeface="Montserrat"/>
                <a:ea typeface="Montserrat"/>
                <a:cs typeface="Montserrat"/>
                <a:sym typeface="Montserrat"/>
              </a:rPr>
              <a:t>MINEURE (Y)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4635549" y="4107209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Nouvelles fonctionnalités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rétro-compatibles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635549" y="4907309"/>
            <a:ext cx="292104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Ex: v1.1.0 → v1.2.0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340822" y="3592859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34074"/>
                </a:solidFill>
                <a:latin typeface="Montserrat"/>
                <a:ea typeface="Montserrat"/>
                <a:cs typeface="Montserrat"/>
                <a:sym typeface="Montserrat"/>
              </a:rPr>
              <a:t>CORRECTIF (Z)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413849" y="4107209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Corrections de bugs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rétro-compatibles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413849" y="4907309"/>
            <a:ext cx="292104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Ex: v1.1.1 → v1.1.2</a:t>
            </a:r>
            <a:endParaRPr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79575" y="279275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875" y="279275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6174" y="2792759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/>
        </p:nvSpPr>
        <p:spPr>
          <a:xfrm>
            <a:off x="571500" y="563909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B2545"/>
                </a:solidFill>
                <a:latin typeface="Montserrat"/>
                <a:ea typeface="Montserrat"/>
                <a:cs typeface="Montserrat"/>
                <a:sym typeface="Montserrat"/>
              </a:rPr>
              <a:t>Impact sur le Code Java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71500" y="1259234"/>
            <a:ext cx="11049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18"/>
          <p:cNvGraphicFramePr/>
          <p:nvPr/>
        </p:nvGraphicFramePr>
        <p:xfrm>
          <a:off x="571500" y="1668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{F38B364C-2AA6-486A-9F0F-5DB14B5958AB}</a:tableStyleId>
              </a:tblPr>
              <a:tblGrid>
                <a:gridCol w="2209800"/>
                <a:gridCol w="4972050"/>
                <a:gridCol w="3867150"/>
              </a:tblGrid>
              <a:tr h="115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Exemple Java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Action SemVer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074"/>
                    </a:solidFill>
                  </a:tcPr>
                </a:tc>
              </a:tr>
              <a:tr h="115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Breaking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Supprimer une méthode publique ou changer sa signature.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public void oldMethod() → supprimé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Incrémenter </a:t>
                      </a: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MAJEURE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 (Reset Y et Z à 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Ajouter une méthode à une classe ou une interface (avec default).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public void newFeature()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Incrémenter </a:t>
                      </a: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MINEURE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 (Reset Z à 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Optimisation interne d'une méthode sans toucher à la signature.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 Correction de NullPointerException.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Incrémenter </a:t>
                      </a: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CORRECTIF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18"/>
          <p:cNvSpPr/>
          <p:nvPr/>
        </p:nvSpPr>
        <p:spPr>
          <a:xfrm>
            <a:off x="571500" y="3652837"/>
            <a:ext cx="22098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2781300" y="3652837"/>
            <a:ext cx="497205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7753350" y="3652837"/>
            <a:ext cx="386715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571500" y="4974877"/>
            <a:ext cx="22098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2781300" y="4974877"/>
            <a:ext cx="497205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7753350" y="4974877"/>
            <a:ext cx="386715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3192809"/>
            <a:ext cx="251891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800" y="4514850"/>
            <a:ext cx="2621756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86000"/>
            <a:ext cx="5334000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85987"/>
            <a:ext cx="5334000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B2545"/>
                </a:solidFill>
                <a:latin typeface="Montserrat"/>
                <a:ea typeface="Montserrat"/>
                <a:cs typeface="Montserrat"/>
                <a:sym typeface="Montserrat"/>
              </a:rPr>
              <a:t>Spécificités Java : SNAPSHOT vs SemVer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1000125" y="2667000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34074"/>
                </a:solidFill>
                <a:latin typeface="Montserrat"/>
                <a:ea typeface="Montserrat"/>
                <a:cs typeface="Montserrat"/>
                <a:sym typeface="Montserrat"/>
              </a:rPr>
              <a:t>Convention Maven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000125" y="3181350"/>
            <a:ext cx="4524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En Java, le suffixe -SNAPSHOT indique une version de développement instable et mouvante (mutable).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000125" y="3990975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1.0.0-SNAPSHOT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1000125" y="44958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Maven télécharge toujours la version la plus récente du snapshot.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715125" y="2566987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34074"/>
                </a:solidFill>
                <a:latin typeface="Montserrat"/>
                <a:ea typeface="Montserrat"/>
                <a:cs typeface="Montserrat"/>
                <a:sym typeface="Montserrat"/>
              </a:rPr>
              <a:t>Convention SemVer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715125" y="3081337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SemVer utilise des pré-releases immuables pour stabiliser une version avant la release officielle.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715125" y="3881437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1.0.0-alpha.1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715125" y="4386262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1.0.0-beta.2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715125" y="4891087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1.0.0-rc.1 (Release Candidate)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764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B2545"/>
                </a:solidFill>
                <a:latin typeface="Montserrat"/>
                <a:ea typeface="Montserrat"/>
                <a:cs typeface="Montserrat"/>
                <a:sym typeface="Montserrat"/>
              </a:rPr>
              <a:t>Pourquoi ? Résolution de Conflits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71500" y="17145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34074"/>
                </a:solidFill>
                <a:latin typeface="Montserrat"/>
                <a:ea typeface="Montserrat"/>
                <a:cs typeface="Montserrat"/>
                <a:sym typeface="Montserrat"/>
              </a:rPr>
              <a:t>L'Algorithme de Résolution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22288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Maven et Gradle ont besoin de logique pour résoudre les dépendances transitives (A dépend de B, qui dépend de C...).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33337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En respectant SemVer, vous garantissez que :</a:t>
            </a:r>
            <a:endParaRPr/>
          </a:p>
        </p:txBody>
      </p:sp>
      <p:pic>
        <p:nvPicPr>
          <p:cNvPr descr="image.png" id="193" name="Google Shape;1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764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904875" y="382905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La mise à jour de 1.2.0 à 1.2.5 est sûre (Patch).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904875" y="4333875"/>
            <a:ext cx="4953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La mise à jour de 1.2.0 à 1.3.0 ajoute des fonctions sans casser l'existant (Minor).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904875" y="51435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Vous évitez le "Diamond Dependency Problem" en permettant aux outils de choisir la version compatible la plus récente.</a:t>
            </a:r>
            <a:endParaRPr/>
          </a:p>
        </p:txBody>
      </p:sp>
      <p:pic>
        <p:nvPicPr>
          <p:cNvPr descr="image.png" id="197" name="Google Shape;1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48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529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625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B2545"/>
                </a:solidFill>
                <a:latin typeface="Montserrat"/>
                <a:ea typeface="Montserrat"/>
                <a:cs typeface="Montserrat"/>
                <a:sym typeface="Montserrat"/>
              </a:rPr>
              <a:t>Pourquoi ? Communication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1428750" y="3421409"/>
            <a:ext cx="9334500" cy="11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34074"/>
                </a:solidFill>
                <a:latin typeface="Montserrat"/>
                <a:ea typeface="Montserrat"/>
                <a:cs typeface="Montserrat"/>
                <a:sym typeface="Montserrat"/>
              </a:rPr>
              <a:t>"Le numéro de version est une promesse de compatibilité faite aux autres développeurs."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48954"/>
            <a:ext cx="5334000" cy="3264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81250"/>
            <a:ext cx="53340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B2545"/>
                </a:solidFill>
                <a:latin typeface="Montserrat"/>
                <a:ea typeface="Montserrat"/>
                <a:cs typeface="Montserrat"/>
                <a:sym typeface="Montserrat"/>
              </a:rPr>
              <a:t>Le Défi : Compatibilité Binaire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1000125" y="2729954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34074"/>
                </a:solidFill>
                <a:latin typeface="Montserrat"/>
                <a:ea typeface="Montserrat"/>
                <a:cs typeface="Montserrat"/>
                <a:sym typeface="Montserrat"/>
              </a:rPr>
              <a:t>Source vs Binaire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1000125" y="3244304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En Java, le code source peut compiler (Source Compatible), mais l'application peut planter à l'exécution (Binary Incompatible).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1000125" y="4349204"/>
            <a:ext cx="45243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Exemple : Changer le type de retour d'une méthode est souvent une rupture binaire, même si le code source semble similaire.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715125" y="2762250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34074"/>
                </a:solidFill>
                <a:latin typeface="Montserrat"/>
                <a:ea typeface="Montserrat"/>
                <a:cs typeface="Montserrat"/>
                <a:sym typeface="Montserrat"/>
              </a:rPr>
              <a:t>Le Piège de l'humain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715125" y="3276600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Il est très difficile pour un développeur de détecter manuellement toutes les ruptures de compatibilité binaire.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715125" y="4381500"/>
            <a:ext cx="4524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C'est la cause principale des erreurs LinkageError ou NoSuchMethodError lors des montées de version.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B2545"/>
                </a:solidFill>
                <a:latin typeface="Montserrat"/>
                <a:ea typeface="Montserrat"/>
                <a:cs typeface="Montserrat"/>
                <a:sym typeface="Montserrat"/>
              </a:rPr>
              <a:t>Version Marketing vs Technique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571500" y="307657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76F51"/>
                </a:solidFill>
                <a:latin typeface="Montserrat"/>
                <a:ea typeface="Montserrat"/>
                <a:cs typeface="Montserrat"/>
                <a:sym typeface="Montserrat"/>
              </a:rPr>
              <a:t>Version Produit (Marketing)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71500" y="35909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Guidée par les ventes et les nouvelles fonctionnalités majeures perçues par l'utilisateur final.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571500" y="43910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"MonAppli 2024"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ou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"SuperSuite V5"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6743700" y="2919412"/>
            <a:ext cx="51206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34074"/>
                </a:solidFill>
                <a:latin typeface="Montserrat"/>
                <a:ea typeface="Montserrat"/>
                <a:cs typeface="Montserrat"/>
                <a:sym typeface="Montserrat"/>
              </a:rPr>
              <a:t>Version SemVer (Technique)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6743700" y="3433762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Guidée par l'API publique et la compatibilité du code.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6743700" y="3929062"/>
            <a:ext cx="48768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La "V5" commerciale peut techniquement n'être qu'une version 2.4.0 si elle ne casse pas l'API existante pour les intégrateurs.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764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B2545"/>
                </a:solidFill>
                <a:latin typeface="Montserrat"/>
                <a:ea typeface="Montserrat"/>
                <a:cs typeface="Montserrat"/>
                <a:sym typeface="Montserrat"/>
              </a:rPr>
              <a:t>Outils de Vérification</a:t>
            </a:r>
            <a:endParaRPr/>
          </a:p>
        </p:txBody>
      </p:sp>
      <p:sp>
        <p:nvSpPr>
          <p:cNvPr id="239" name="Google Shape;239;p24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0" name="Google Shape;24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64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6334125" y="2164109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34074"/>
                </a:solidFill>
                <a:latin typeface="Montserrat"/>
                <a:ea typeface="Montserrat"/>
                <a:cs typeface="Montserrat"/>
                <a:sym typeface="Montserrat"/>
              </a:rPr>
              <a:t>Ne faites pas confiance, vérifiez.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6334125" y="2678459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Plutôt que de lourds processus de release, utilisez des outils légers dans votre build pour garantir le respect de SemVer :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6334125" y="5078759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Ces outils peuvent faire échouer le build si vous introduisez un breaking change dans une version mineure.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6667500" y="3478559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Revapi 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Analyse l'API et signale les changements incompatibles.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6667500" y="4278659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Japicmp 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Compare deux fichiers JAR (l'ancien et le nouveau) et liste les différences binaires.</a:t>
            </a:r>
            <a:endParaRPr/>
          </a:p>
        </p:txBody>
      </p:sp>
      <p:pic>
        <p:nvPicPr>
          <p:cNvPr descr="image.png" id="246" name="Google Shape;24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49760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297709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 txBox="1"/>
          <p:nvPr/>
        </p:nvSpPr>
        <p:spPr>
          <a:xfrm>
            <a:off x="3005613" y="2299394"/>
            <a:ext cx="6180772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34074"/>
                </a:solidFill>
                <a:latin typeface="Montserrat"/>
                <a:ea typeface="Montserrat"/>
                <a:cs typeface="Montserrat"/>
                <a:sym typeface="Montserrat"/>
              </a:rPr>
              <a:t>Questions ?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3152775" y="3766244"/>
            <a:ext cx="58864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Merci de votre attention.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B2545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259" name="Google Shape;259;p26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571500" y="241667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571500" y="320144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571500" y="398621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571500" y="31919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571500" y="31919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571500" y="39766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571500" y="39766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571500" y="47614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571500" y="47614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9" name="Google Shape;2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660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1666875" y="255954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https://static.vecteezy.com/system/resources/thumbnails/055/721/380/small/dark-gray-blocks-arranged-in-a-floating-structure-with-an-isometric-perspective-vector.jpg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1666875" y="280526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www.vecteezy.com</a:t>
            </a:r>
            <a:endParaRPr/>
          </a:p>
        </p:txBody>
      </p:sp>
      <p:pic>
        <p:nvPicPr>
          <p:cNvPr descr="image.png" id="272" name="Google Shape;27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508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1666875" y="334431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https://img.freepik.com/premium-photo/chaotic-room-full-tangled-wires-outdated-computer-equipment-showcasing-overwhelming-array-technology_95891-122629.jpg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1666875" y="359003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www.freepik.com</a:t>
            </a:r>
            <a:endParaRPr/>
          </a:p>
        </p:txBody>
      </p:sp>
      <p:pic>
        <p:nvPicPr>
          <p:cNvPr descr="image.png" id="275" name="Google Shape;27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356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/>
          <p:nvPr/>
        </p:nvSpPr>
        <p:spPr>
          <a:xfrm>
            <a:off x="1666875" y="412908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https://images.stockcake.com/public/5/9/5/59597cf8-10ad-49e0-9783-6e42e191e158_large/complex-network-visualization-stockcake.jpg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1666875" y="437480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stockcake.com</a:t>
            </a:r>
            <a:endParaRPr/>
          </a:p>
        </p:txBody>
      </p:sp>
      <p:pic>
        <p:nvPicPr>
          <p:cNvPr descr="image.png" id="278" name="Google Shape;27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204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6"/>
          <p:cNvSpPr txBox="1"/>
          <p:nvPr/>
        </p:nvSpPr>
        <p:spPr>
          <a:xfrm>
            <a:off x="1666875" y="491385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https://i.etsystatic.com/15445335/r/il/5946c4/4552820019/il_570xN.4552820019_phxc.jpg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1666875" y="515957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www.etsy.com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