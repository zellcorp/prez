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JetBrains Mono" panose="020B0604020202020204" charset="0"/>
      <p:regular r:id="rId17"/>
      <p:bold r:id="rId18"/>
      <p:italic r:id="rId19"/>
      <p:boldItalic r:id="rId20"/>
    </p:embeddedFont>
    <p:embeddedFont>
      <p:font typeface="Plus Jakarta Sans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A53106-029D-40A9-AE31-D0608114568D}">
  <a:tblStyle styleId="{C8A53106-029D-40A9-AE31-D060811456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5800" y="444043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85800" y="2379315"/>
            <a:ext cx="115062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FONDAMENTALE &amp; ÉCOSYSTÈME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85800" y="2712690"/>
            <a:ext cx="11001375" cy="5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des IA Modernes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85800" y="3510855"/>
            <a:ext cx="7905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 matrices de poids inertes au protocole MCP : concepts théoriques, mécanique d'inférence et cas concrets.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2257425"/>
            <a:ext cx="5342929" cy="2933700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257329" y="2436316"/>
            <a:ext cx="5325070" cy="1373981"/>
          </a:xfrm>
          <a:prstGeom prst="roundRect">
            <a:avLst>
              <a:gd name="adj" fmla="val 9705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257329" y="3962697"/>
            <a:ext cx="5325070" cy="1049535"/>
          </a:xfrm>
          <a:prstGeom prst="roundRect">
            <a:avLst>
              <a:gd name="adj" fmla="val 12705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257329" y="2436316"/>
            <a:ext cx="38100" cy="137398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FONDEMENT THÉORIQUE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09600" y="6096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Qu'est-ce qu'un LLM ? Ni Texte, Ni Logiciel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14400" y="2562225"/>
            <a:ext cx="621249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L'Organe Synaptique Figé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2962275"/>
            <a:ext cx="48285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LLM n'est pas une encyclopédie de souvenirs rangés mot pour mot, mais un immense réseau de connexions statistiques.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3571875"/>
            <a:ext cx="482857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 Synaptique 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Encode la grammaire, la logique et des associations d'idées.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4048125"/>
            <a:ext cx="482857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Totalement Inerte 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Sans apport d'énergie ou d'exécutable, le modèle ne peut rien calculer.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4524375"/>
            <a:ext cx="482857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Probabiliste 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Conçu exclusivement pour estimer la distribution du prochain token.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24029" y="2664916"/>
            <a:ext cx="56679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L'Analogie du Cerveau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24029" y="2960191"/>
            <a:ext cx="4925020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LLM est l'architecture biologique des neurones. Il a besoin d'un flux électrique (le moteur d'inférence) pour s'activer et d'un corps (l'hôte) pour communiquer avec le monde extérieur.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66879" y="4172247"/>
            <a:ext cx="572512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Pourquoi les Hallucinations ?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466879" y="4429422"/>
            <a:ext cx="500122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modèle ne consulte pas une base de données de vérités : il assemble les concepts les plus probables selon le contexte immédiat.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609601" y="2608212"/>
            <a:ext cx="3520315" cy="2232124"/>
          </a:xfrm>
          <a:prstGeom prst="roundRect">
            <a:avLst>
              <a:gd name="adj" fmla="val 601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330749" y="2608212"/>
            <a:ext cx="3530649" cy="2232124"/>
          </a:xfrm>
          <a:prstGeom prst="roundRect">
            <a:avLst>
              <a:gd name="adj" fmla="val 512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8051899" y="2608212"/>
            <a:ext cx="3530649" cy="2232124"/>
          </a:xfrm>
          <a:prstGeom prst="roundRect">
            <a:avLst>
              <a:gd name="adj" fmla="val 512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819150" y="3370212"/>
            <a:ext cx="3111698" cy="1260574"/>
          </a:xfrm>
          <a:prstGeom prst="roundRect">
            <a:avLst>
              <a:gd name="adj" fmla="val 1024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4540299" y="3370212"/>
            <a:ext cx="3111549" cy="1260574"/>
          </a:xfrm>
          <a:prstGeom prst="roundRect">
            <a:avLst>
              <a:gd name="adj" fmla="val 7556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8261449" y="3370212"/>
            <a:ext cx="3111549" cy="1260574"/>
          </a:xfrm>
          <a:prstGeom prst="roundRect">
            <a:avLst>
              <a:gd name="adj" fmla="val 7556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0299" y="2846337"/>
            <a:ext cx="1428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1449" y="2846337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MATÉRIALITÉ DU MODÈLE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09600" y="609600"/>
            <a:ext cx="115824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Sur le Disque : </a:t>
            </a:r>
            <a:r>
              <a:rPr lang="en-US" sz="22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Tenseurs</a:t>
            </a:r>
            <a:r>
              <a:rPr lang="en-US" sz="22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Tokenizer et Config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971550" y="2751087"/>
            <a:ext cx="408390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model.safetensors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863600" y="3065412"/>
            <a:ext cx="388943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Les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poids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synaptiques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bruts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971550" y="3669208"/>
            <a:ext cx="2901999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[0.0142, -0.3891,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12.4502, 532.6767,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-0.0003, 8.1924, ...]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Milliards de </a:t>
            </a:r>
            <a:r>
              <a:rPr lang="en-US" sz="900" b="0" i="0" u="none" strike="noStrike" cap="none" dirty="0" err="1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réels</a:t>
            </a:r>
            <a:r>
              <a:rPr lang="en-US" sz="900" b="0" i="0" u="none" strike="noStrike" cap="none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(float16 / int4)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4540299" y="2817762"/>
            <a:ext cx="408390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tokenizer.json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540299" y="3103512"/>
            <a:ext cx="388943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Dictionnaire mots ↔ IDs entiers.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692699" y="3503562"/>
            <a:ext cx="2901999" cy="99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"Bonjour": 15243,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 chat": 4021,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 git": 8920,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"": 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261449" y="2817762"/>
            <a:ext cx="39305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config.json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261449" y="3103512"/>
            <a:ext cx="388943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Paramètres de l'architecture.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413849" y="3503562"/>
            <a:ext cx="2901999" cy="99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"hidden_size": 4096,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"num_attention_heads": 32,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"vocab_size": 32000,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"layers": 32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/>
          </a:p>
        </p:txBody>
      </p:sp>
      <p:pic>
        <p:nvPicPr>
          <p:cNvPr id="4" name="Graphique 3" descr="Boulier avec un remplissage uni">
            <a:extLst>
              <a:ext uri="{FF2B5EF4-FFF2-40B4-BE49-F238E27FC236}">
                <a16:creationId xmlns:a16="http://schemas.microsoft.com/office/drawing/2014/main" id="{41DCF5C1-96C0-C15A-E658-400B68E59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" y="2762149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609600" y="2487215"/>
            <a:ext cx="5334000" cy="2474118"/>
          </a:xfrm>
          <a:prstGeom prst="roundRect">
            <a:avLst>
              <a:gd name="adj" fmla="val 615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248400" y="2552700"/>
            <a:ext cx="5334000" cy="2343150"/>
          </a:xfrm>
          <a:prstGeom prst="roundRect">
            <a:avLst>
              <a:gd name="adj" fmla="val 6504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876300" y="3709987"/>
            <a:ext cx="4800600" cy="984646"/>
          </a:xfrm>
          <a:prstGeom prst="roundRect">
            <a:avLst>
              <a:gd name="adj" fmla="val 9673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MOTEUR D'EXÉCUTION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09600" y="6096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Moteur d'Inférence : L'Exécutable Vivant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76300" y="2753915"/>
            <a:ext cx="630078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Binaire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Machine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Dédié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876300" y="3134915"/>
            <a:ext cx="4895850" cy="441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fichier de poids ne calcule rien de lui-même. C'est un binaire C++/CUDA optimisé qui anime les couches mathématiques.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28700" y="3843337"/>
            <a:ext cx="4591050" cy="71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./llama-server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--model mistral-7b.gguf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--n-gpu-layers 33 \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--port 8080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515100" y="2819400"/>
            <a:ext cx="5676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Opérations</a:t>
            </a:r>
            <a:r>
              <a:rPr lang="en-US" sz="1650" b="1" i="0" u="none" strike="noStrike" cap="none" dirty="0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</a:t>
            </a:r>
            <a:r>
              <a:rPr lang="en-US" sz="1650" b="1" i="0" u="none" strike="noStrike" cap="none" dirty="0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Mémoire</a:t>
            </a:r>
            <a:r>
              <a:rPr lang="en-US" sz="1650" b="1" i="0" u="none" strike="noStrike" cap="none" dirty="0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VRAM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6515100" y="320040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Chargement</a:t>
            </a:r>
            <a:r>
              <a:rPr lang="en-US" sz="1200" b="1" i="0" u="none" strike="noStrike" cap="none" dirty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Monte les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gigaoctets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matrices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mémoire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graphique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6515100" y="371475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 Matriciel :</a:t>
            </a:r>
            <a:r>
              <a:rPr lang="en-US" sz="1200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Multiplie les vecteurs d'attention Q, K, V en parallèle.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15100" y="422910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Échantillonnage :</a:t>
            </a:r>
            <a:r>
              <a:rPr lang="en-US" sz="1200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Transforme les logits en un token retenu (temperature, top-p).</a:t>
            </a:r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18F5870-58AE-0EB4-880D-CAA83D26B6CD}"/>
              </a:ext>
            </a:extLst>
          </p:cNvPr>
          <p:cNvSpPr txBox="1"/>
          <p:nvPr/>
        </p:nvSpPr>
        <p:spPr>
          <a:xfrm>
            <a:off x="534108" y="1351911"/>
            <a:ext cx="726352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50" b="1" dirty="0">
                <a:solidFill>
                  <a:srgbClr val="0F172A"/>
                </a:solidFill>
                <a:latin typeface="Plus Jakarta Sans"/>
                <a:cs typeface="Plus Jakarta Sans"/>
              </a:rPr>
              <a:t>Son Rôle : </a:t>
            </a:r>
          </a:p>
          <a:p>
            <a:r>
              <a:rPr lang="fr-FR" sz="1650" b="1" dirty="0">
                <a:solidFill>
                  <a:srgbClr val="1D4ED8"/>
                </a:solidFill>
                <a:latin typeface="Plus Jakarta Sans"/>
                <a:cs typeface="Plus Jakarta Sans"/>
              </a:rPr>
              <a:t>Faire des calculs matriciels sur GPU/RAM pour sortir le prochain </a:t>
            </a:r>
            <a:r>
              <a:rPr lang="fr-FR" sz="1650" b="1" dirty="0" err="1">
                <a:solidFill>
                  <a:srgbClr val="1D4ED8"/>
                </a:solidFill>
                <a:latin typeface="Plus Jakarta Sans"/>
                <a:cs typeface="Plus Jakarta Sans"/>
              </a:rPr>
              <a:t>token</a:t>
            </a:r>
            <a:endParaRPr lang="fr-FR" sz="1650" b="1" dirty="0">
              <a:solidFill>
                <a:srgbClr val="1D4ED8"/>
              </a:solidFill>
              <a:latin typeface="Plus Jakarta Sans"/>
              <a:cs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622300" y="2746027"/>
            <a:ext cx="10972800" cy="1594395"/>
          </a:xfrm>
          <a:prstGeom prst="roundRect">
            <a:avLst>
              <a:gd name="adj" fmla="val 8363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22300" y="1622077"/>
            <a:ext cx="2643187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398837" y="1622077"/>
            <a:ext cx="2643187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175375" y="1622077"/>
            <a:ext cx="2643187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8951912" y="1622077"/>
            <a:ext cx="2643187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810543" y="176495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587081" y="176495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363618" y="176495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10140156" y="176495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831850" y="3359348"/>
            <a:ext cx="2524125" cy="729555"/>
          </a:xfrm>
          <a:prstGeom prst="roundRect">
            <a:avLst>
              <a:gd name="adj" fmla="val 10444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508375" y="3359348"/>
            <a:ext cx="2524125" cy="729555"/>
          </a:xfrm>
          <a:prstGeom prst="roundRect">
            <a:avLst>
              <a:gd name="adj" fmla="val 10444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184900" y="3279427"/>
            <a:ext cx="2524125" cy="889545"/>
          </a:xfrm>
          <a:prstGeom prst="roundRect">
            <a:avLst>
              <a:gd name="adj" fmla="val 856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8861425" y="3279427"/>
            <a:ext cx="2524125" cy="889545"/>
          </a:xfrm>
          <a:prstGeom prst="roundRect">
            <a:avLst>
              <a:gd name="adj" fmla="val 856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941290"/>
            <a:ext cx="10522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609600" y="3810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MÉCANIQUE INTERNE &amp; EXEMPLE PRATIQUE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09600" y="5715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Cycle de Génération : Prompt « Bonjour IA. »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667668" y="1764952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396825" y="2088802"/>
            <a:ext cx="309413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Tokenisation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70495" y="2288827"/>
            <a:ext cx="294679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Hôte + Dictionnaire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444206" y="1764952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3173362" y="2088802"/>
            <a:ext cx="309413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 VRAM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247032" y="2288827"/>
            <a:ext cx="294679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Moteur + Poids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7220743" y="1764952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949900" y="2088802"/>
            <a:ext cx="309413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Probabilités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023570" y="2288827"/>
            <a:ext cx="294679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Softmax &amp; Choix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997281" y="1764952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726437" y="2088802"/>
            <a:ext cx="309413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Boucle &amp; Arrêt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800107" y="2288827"/>
            <a:ext cx="294679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Réinjection Hôte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31850" y="2922240"/>
            <a:ext cx="251147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1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TRACÉ RÉEL D'EXÉCUTION</a:t>
            </a:r>
            <a:endParaRPr dirty="0"/>
          </a:p>
        </p:txBody>
      </p:sp>
      <p:sp>
        <p:nvSpPr>
          <p:cNvPr id="179" name="Google Shape;179;p17"/>
          <p:cNvSpPr txBox="1"/>
          <p:nvPr/>
        </p:nvSpPr>
        <p:spPr>
          <a:xfrm>
            <a:off x="9556750" y="2917477"/>
            <a:ext cx="2286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 : « Bonjour IA. »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946150" y="3473648"/>
            <a:ext cx="28694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HÔTE &amp; TOKENIZER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946150" y="3654623"/>
            <a:ext cx="23907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Convertit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« Bonjour IA. »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entiers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</a:t>
            </a: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FACC1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[15243, 892, 28723]</a:t>
            </a:r>
            <a:endParaRPr dirty="0"/>
          </a:p>
        </p:txBody>
      </p:sp>
      <p:sp>
        <p:nvSpPr>
          <p:cNvPr id="182" name="Google Shape;182;p17"/>
          <p:cNvSpPr txBox="1"/>
          <p:nvPr/>
        </p:nvSpPr>
        <p:spPr>
          <a:xfrm>
            <a:off x="3622675" y="3473648"/>
            <a:ext cx="28694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MOTEUR + POIDS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3622675" y="3654623"/>
            <a:ext cx="23907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Multiplie la séquence par les </a:t>
            </a:r>
            <a:r>
              <a:rPr lang="en-US" sz="900" b="0" i="0" u="none" strike="noStrike" cap="none">
                <a:solidFill>
                  <a:srgbClr val="FACC1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safetensors</a:t>
            </a:r>
            <a:r>
              <a:rPr lang="en-US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(32 couches GPU).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299200" y="3393727"/>
            <a:ext cx="28694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PRÉDICTION PROCHAIN TOKEN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299200" y="3574702"/>
            <a:ext cx="23907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« </a:t>
            </a:r>
            <a:r>
              <a:rPr lang="en-US" sz="90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Comment » (84%)</a:t>
            </a: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900" dirty="0">
                <a:solidFill>
                  <a:srgbClr val="CBD5E1"/>
                </a:solidFill>
                <a:latin typeface="Plus Jakarta Sans"/>
                <a:cs typeface="Plus Jakarta Sans"/>
                <a:sym typeface="Calibri"/>
              </a:rPr>
            </a:br>
            <a:r>
              <a:rPr lang="en-US" sz="90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 « </a:t>
            </a:r>
            <a:r>
              <a:rPr lang="en-US" sz="900" dirty="0" err="1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Que</a:t>
            </a:r>
            <a:r>
              <a:rPr lang="en-US" sz="90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 » (12%)</a:t>
            </a: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900" dirty="0">
                <a:solidFill>
                  <a:srgbClr val="CBD5E1"/>
                </a:solidFill>
                <a:latin typeface="Plus Jakarta Sans"/>
                <a:cs typeface="Plus Jakarta Sans"/>
                <a:sym typeface="Calibri"/>
              </a:rPr>
            </a:br>
            <a:r>
              <a:rPr lang="en-US" sz="90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 → Choix 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-US" sz="900" b="0" i="0" u="none" strike="noStrike" cap="none" dirty="0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 2482 (« Comment »)</a:t>
            </a:r>
            <a:endParaRPr dirty="0"/>
          </a:p>
        </p:txBody>
      </p:sp>
      <p:sp>
        <p:nvSpPr>
          <p:cNvPr id="186" name="Google Shape;186;p17"/>
          <p:cNvSpPr txBox="1"/>
          <p:nvPr/>
        </p:nvSpPr>
        <p:spPr>
          <a:xfrm>
            <a:off x="8975725" y="3393727"/>
            <a:ext cx="28694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RÉINJECTION DANS L'HÔTE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8975725" y="3574702"/>
            <a:ext cx="23907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Nouveau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contexte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 </a:t>
            </a:r>
            <a:r>
              <a:rPr lang="en-US" sz="8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« Bonjour IA. Comment »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boucle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reprend</a:t>
            </a:r>
            <a:r>
              <a:rPr lang="en-US" sz="900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5" name="Google Shape;150;p17">
            <a:extLst>
              <a:ext uri="{FF2B5EF4-FFF2-40B4-BE49-F238E27FC236}">
                <a16:creationId xmlns:a16="http://schemas.microsoft.com/office/drawing/2014/main" id="{FB941B79-B4CB-7B61-50F0-D0F9082D7BDE}"/>
              </a:ext>
            </a:extLst>
          </p:cNvPr>
          <p:cNvSpPr/>
          <p:nvPr/>
        </p:nvSpPr>
        <p:spPr>
          <a:xfrm>
            <a:off x="622300" y="4456731"/>
            <a:ext cx="10972800" cy="1594395"/>
          </a:xfrm>
          <a:prstGeom prst="roundRect">
            <a:avLst>
              <a:gd name="adj" fmla="val 8363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59;p17">
            <a:extLst>
              <a:ext uri="{FF2B5EF4-FFF2-40B4-BE49-F238E27FC236}">
                <a16:creationId xmlns:a16="http://schemas.microsoft.com/office/drawing/2014/main" id="{874BB958-0E66-DA36-45F3-AFD0EBFD948A}"/>
              </a:ext>
            </a:extLst>
          </p:cNvPr>
          <p:cNvSpPr/>
          <p:nvPr/>
        </p:nvSpPr>
        <p:spPr>
          <a:xfrm>
            <a:off x="831850" y="5070052"/>
            <a:ext cx="2524125" cy="729555"/>
          </a:xfrm>
          <a:prstGeom prst="roundRect">
            <a:avLst>
              <a:gd name="adj" fmla="val 10444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60;p17">
            <a:extLst>
              <a:ext uri="{FF2B5EF4-FFF2-40B4-BE49-F238E27FC236}">
                <a16:creationId xmlns:a16="http://schemas.microsoft.com/office/drawing/2014/main" id="{5338E09F-CA3C-000E-9D46-830128730B2B}"/>
              </a:ext>
            </a:extLst>
          </p:cNvPr>
          <p:cNvSpPr/>
          <p:nvPr/>
        </p:nvSpPr>
        <p:spPr>
          <a:xfrm>
            <a:off x="3508375" y="5070052"/>
            <a:ext cx="2524125" cy="729555"/>
          </a:xfrm>
          <a:prstGeom prst="roundRect">
            <a:avLst>
              <a:gd name="adj" fmla="val 10444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61;p17">
            <a:extLst>
              <a:ext uri="{FF2B5EF4-FFF2-40B4-BE49-F238E27FC236}">
                <a16:creationId xmlns:a16="http://schemas.microsoft.com/office/drawing/2014/main" id="{0741E6C2-C705-FF9D-3AF9-FB5583572C86}"/>
              </a:ext>
            </a:extLst>
          </p:cNvPr>
          <p:cNvSpPr/>
          <p:nvPr/>
        </p:nvSpPr>
        <p:spPr>
          <a:xfrm>
            <a:off x="6184900" y="4990131"/>
            <a:ext cx="2524125" cy="889545"/>
          </a:xfrm>
          <a:prstGeom prst="roundRect">
            <a:avLst>
              <a:gd name="adj" fmla="val 856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62;p17">
            <a:extLst>
              <a:ext uri="{FF2B5EF4-FFF2-40B4-BE49-F238E27FC236}">
                <a16:creationId xmlns:a16="http://schemas.microsoft.com/office/drawing/2014/main" id="{2C21143C-AD7C-B738-B0D0-25C64153464E}"/>
              </a:ext>
            </a:extLst>
          </p:cNvPr>
          <p:cNvSpPr/>
          <p:nvPr/>
        </p:nvSpPr>
        <p:spPr>
          <a:xfrm>
            <a:off x="8861425" y="4990131"/>
            <a:ext cx="2524125" cy="889545"/>
          </a:xfrm>
          <a:prstGeom prst="roundRect">
            <a:avLst>
              <a:gd name="adj" fmla="val 856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63;p17" descr="image.png">
            <a:extLst>
              <a:ext uri="{FF2B5EF4-FFF2-40B4-BE49-F238E27FC236}">
                <a16:creationId xmlns:a16="http://schemas.microsoft.com/office/drawing/2014/main" id="{A9C850FD-2312-2ACB-3B23-577B21F0E4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4651994"/>
            <a:ext cx="10522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8;p17">
            <a:extLst>
              <a:ext uri="{FF2B5EF4-FFF2-40B4-BE49-F238E27FC236}">
                <a16:creationId xmlns:a16="http://schemas.microsoft.com/office/drawing/2014/main" id="{B03F4CD7-5B0B-4214-5EEB-FC0DA43B8900}"/>
              </a:ext>
            </a:extLst>
          </p:cNvPr>
          <p:cNvSpPr txBox="1"/>
          <p:nvPr/>
        </p:nvSpPr>
        <p:spPr>
          <a:xfrm>
            <a:off x="831850" y="4632944"/>
            <a:ext cx="251147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1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TRACÉ RÉEL D'EXÉCUTION</a:t>
            </a:r>
            <a:endParaRPr/>
          </a:p>
        </p:txBody>
      </p:sp>
      <p:sp>
        <p:nvSpPr>
          <p:cNvPr id="19" name="Google Shape;179;p17">
            <a:extLst>
              <a:ext uri="{FF2B5EF4-FFF2-40B4-BE49-F238E27FC236}">
                <a16:creationId xmlns:a16="http://schemas.microsoft.com/office/drawing/2014/main" id="{47646DED-1BAD-E0D5-6EDD-AC39E32CC160}"/>
              </a:ext>
            </a:extLst>
          </p:cNvPr>
          <p:cNvSpPr txBox="1"/>
          <p:nvPr/>
        </p:nvSpPr>
        <p:spPr>
          <a:xfrm>
            <a:off x="9556750" y="4628181"/>
            <a:ext cx="2286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 : « Bonjour IA. »</a:t>
            </a:r>
            <a:endParaRPr/>
          </a:p>
        </p:txBody>
      </p:sp>
      <p:sp>
        <p:nvSpPr>
          <p:cNvPr id="21" name="Google Shape;180;p17">
            <a:extLst>
              <a:ext uri="{FF2B5EF4-FFF2-40B4-BE49-F238E27FC236}">
                <a16:creationId xmlns:a16="http://schemas.microsoft.com/office/drawing/2014/main" id="{46840557-393F-5FB3-7760-D16CC8B7E422}"/>
              </a:ext>
            </a:extLst>
          </p:cNvPr>
          <p:cNvSpPr txBox="1"/>
          <p:nvPr/>
        </p:nvSpPr>
        <p:spPr>
          <a:xfrm>
            <a:off x="946150" y="5184352"/>
            <a:ext cx="28694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HÔTE &amp; TOKENIZER</a:t>
            </a:r>
            <a:endParaRPr/>
          </a:p>
        </p:txBody>
      </p:sp>
      <p:sp>
        <p:nvSpPr>
          <p:cNvPr id="23" name="Google Shape;181;p17">
            <a:extLst>
              <a:ext uri="{FF2B5EF4-FFF2-40B4-BE49-F238E27FC236}">
                <a16:creationId xmlns:a16="http://schemas.microsoft.com/office/drawing/2014/main" id="{30A37DD0-5C87-0C5F-6321-3F07B499F903}"/>
              </a:ext>
            </a:extLst>
          </p:cNvPr>
          <p:cNvSpPr txBox="1"/>
          <p:nvPr/>
        </p:nvSpPr>
        <p:spPr>
          <a:xfrm>
            <a:off x="831850" y="5365327"/>
            <a:ext cx="25050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Convertit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« Bonjour IA. Comment »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entiers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</a:t>
            </a: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FACC1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[15243, 892, 28723, 56]</a:t>
            </a:r>
            <a:endParaRPr dirty="0"/>
          </a:p>
        </p:txBody>
      </p:sp>
      <p:sp>
        <p:nvSpPr>
          <p:cNvPr id="25" name="Google Shape;182;p17">
            <a:extLst>
              <a:ext uri="{FF2B5EF4-FFF2-40B4-BE49-F238E27FC236}">
                <a16:creationId xmlns:a16="http://schemas.microsoft.com/office/drawing/2014/main" id="{868769CC-CFB4-75E1-92CE-9085B802AB8E}"/>
              </a:ext>
            </a:extLst>
          </p:cNvPr>
          <p:cNvSpPr txBox="1"/>
          <p:nvPr/>
        </p:nvSpPr>
        <p:spPr>
          <a:xfrm>
            <a:off x="3622675" y="5184352"/>
            <a:ext cx="28694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MOTEUR + POIDS</a:t>
            </a:r>
            <a:endParaRPr/>
          </a:p>
        </p:txBody>
      </p:sp>
      <p:sp>
        <p:nvSpPr>
          <p:cNvPr id="27" name="Google Shape;183;p17">
            <a:extLst>
              <a:ext uri="{FF2B5EF4-FFF2-40B4-BE49-F238E27FC236}">
                <a16:creationId xmlns:a16="http://schemas.microsoft.com/office/drawing/2014/main" id="{F13957B2-9D3A-F0FB-4541-91C044114AE4}"/>
              </a:ext>
            </a:extLst>
          </p:cNvPr>
          <p:cNvSpPr txBox="1"/>
          <p:nvPr/>
        </p:nvSpPr>
        <p:spPr>
          <a:xfrm>
            <a:off x="3622675" y="5365327"/>
            <a:ext cx="23907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Multiplie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séquence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 les </a:t>
            </a:r>
            <a:r>
              <a:rPr lang="en-US" sz="900" b="0" i="0" u="none" strike="noStrike" cap="none" dirty="0" err="1">
                <a:solidFill>
                  <a:srgbClr val="FACC1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safetensors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(32 couches GPU).</a:t>
            </a:r>
            <a:endParaRPr dirty="0"/>
          </a:p>
        </p:txBody>
      </p:sp>
      <p:sp>
        <p:nvSpPr>
          <p:cNvPr id="29" name="Google Shape;184;p17">
            <a:extLst>
              <a:ext uri="{FF2B5EF4-FFF2-40B4-BE49-F238E27FC236}">
                <a16:creationId xmlns:a16="http://schemas.microsoft.com/office/drawing/2014/main" id="{041D02F7-A8B2-CED3-6A55-D86BF4D49EA0}"/>
              </a:ext>
            </a:extLst>
          </p:cNvPr>
          <p:cNvSpPr txBox="1"/>
          <p:nvPr/>
        </p:nvSpPr>
        <p:spPr>
          <a:xfrm>
            <a:off x="6299200" y="5104431"/>
            <a:ext cx="28694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PRÉDICTION PROCHAIN TOKEN</a:t>
            </a:r>
            <a:endParaRPr/>
          </a:p>
        </p:txBody>
      </p:sp>
      <p:sp>
        <p:nvSpPr>
          <p:cNvPr id="31" name="Google Shape;185;p17">
            <a:extLst>
              <a:ext uri="{FF2B5EF4-FFF2-40B4-BE49-F238E27FC236}">
                <a16:creationId xmlns:a16="http://schemas.microsoft.com/office/drawing/2014/main" id="{D57EC7CA-399F-FC85-37C1-920AC4D1721F}"/>
              </a:ext>
            </a:extLst>
          </p:cNvPr>
          <p:cNvSpPr txBox="1"/>
          <p:nvPr/>
        </p:nvSpPr>
        <p:spPr>
          <a:xfrm>
            <a:off x="6299200" y="5285406"/>
            <a:ext cx="23907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« vas » (90%)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900" dirty="0">
              <a:solidFill>
                <a:srgbClr val="CBD5E1"/>
              </a:solidFill>
              <a:latin typeface="Plus Jakarta Sans"/>
              <a:cs typeface="Plus Jakarta Sans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 « Tu 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» (</a:t>
            </a:r>
            <a:r>
              <a:rPr lang="en-US" sz="900" dirty="0">
                <a:solidFill>
                  <a:srgbClr val="CBD5E1"/>
                </a:solidFill>
                <a:latin typeface="Plus Jakarta Sans"/>
                <a:cs typeface="Plus Jakarta Sans"/>
                <a:sym typeface="Plus Jakarta Sans"/>
              </a:rPr>
              <a:t>18%)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→ Choix : </a:t>
            </a:r>
            <a:r>
              <a:rPr lang="en-US" sz="900" b="0" i="0" u="none" strike="noStrike" cap="none" dirty="0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 245</a:t>
            </a:r>
            <a:r>
              <a:rPr lang="en-US" sz="900" dirty="0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r>
              <a:rPr lang="en-US" sz="900" b="0" i="0" u="none" strike="noStrike" cap="none" dirty="0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(« </a:t>
            </a:r>
            <a:r>
              <a:rPr lang="en-US" sz="900" dirty="0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</a:t>
            </a:r>
            <a:r>
              <a:rPr lang="en-US" sz="900" b="0" i="0" u="none" strike="noStrike" cap="none" dirty="0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as»)</a:t>
            </a:r>
            <a:endParaRPr dirty="0"/>
          </a:p>
        </p:txBody>
      </p:sp>
      <p:sp>
        <p:nvSpPr>
          <p:cNvPr id="33" name="Google Shape;187;p17">
            <a:extLst>
              <a:ext uri="{FF2B5EF4-FFF2-40B4-BE49-F238E27FC236}">
                <a16:creationId xmlns:a16="http://schemas.microsoft.com/office/drawing/2014/main" id="{56CD71FC-4877-3B05-B802-685A43CE021D}"/>
              </a:ext>
            </a:extLst>
          </p:cNvPr>
          <p:cNvSpPr txBox="1"/>
          <p:nvPr/>
        </p:nvSpPr>
        <p:spPr>
          <a:xfrm>
            <a:off x="8975725" y="5285406"/>
            <a:ext cx="23844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Nouveau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contexte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-US" sz="8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«</a:t>
            </a:r>
            <a:r>
              <a:rPr lang="en-US" sz="825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Comment </a:t>
            </a:r>
            <a:r>
              <a:rPr lang="en-US" sz="825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vas</a:t>
            </a:r>
            <a:r>
              <a:rPr lang="en-US" sz="8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»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boucle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reprend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jusqu'au</a:t>
            </a:r>
            <a:r>
              <a:rPr lang="en-US" sz="9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token de fin .</a:t>
            </a:r>
            <a:endParaRPr dirty="0"/>
          </a:p>
        </p:txBody>
      </p:sp>
      <p:sp>
        <p:nvSpPr>
          <p:cNvPr id="34" name="Flèche : bas 33">
            <a:extLst>
              <a:ext uri="{FF2B5EF4-FFF2-40B4-BE49-F238E27FC236}">
                <a16:creationId xmlns:a16="http://schemas.microsoft.com/office/drawing/2014/main" id="{EFD5E326-C6D2-CDB0-BFA9-05416BBC0509}"/>
              </a:ext>
            </a:extLst>
          </p:cNvPr>
          <p:cNvSpPr/>
          <p:nvPr/>
        </p:nvSpPr>
        <p:spPr>
          <a:xfrm>
            <a:off x="203200" y="3891370"/>
            <a:ext cx="241300" cy="11307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/>
          <p:nvPr/>
        </p:nvSpPr>
        <p:spPr>
          <a:xfrm>
            <a:off x="609600" y="2257425"/>
            <a:ext cx="5334000" cy="2933700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248400" y="2219325"/>
            <a:ext cx="5334000" cy="3009900"/>
          </a:xfrm>
          <a:prstGeom prst="roundRect">
            <a:avLst>
              <a:gd name="adj" fmla="val 5063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553200" y="2895600"/>
            <a:ext cx="4724400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6553200" y="2895600"/>
            <a:ext cx="38100" cy="4667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553200" y="3476625"/>
            <a:ext cx="4724400" cy="6667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553200" y="3476625"/>
            <a:ext cx="38100" cy="666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6553200" y="4257675"/>
            <a:ext cx="4724400" cy="6667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553200" y="4257675"/>
            <a:ext cx="38100" cy="666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COUCHE ORCHESTRATION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09600" y="6096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L'Application Hôte : Le Corps du Système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914400" y="2562225"/>
            <a:ext cx="6200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L'Intermédiaire Indispensable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914400" y="2962275"/>
            <a:ext cx="4819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 n'est pas le système d'exploitation, mais le logiciel applicatif qui encadre l'échange avec le modèle.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553200" y="2524125"/>
            <a:ext cx="56388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 que l'Hôte Fait concrètement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914400" y="3571875"/>
            <a:ext cx="4819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Exemples Concrets 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Cursor, Windsurf, Claude Desktop, Ollama, ou un script Python.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914400" y="4048125"/>
            <a:ext cx="4819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 de l'UI et du Contexte 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Gère l'historique de discussion et les fenêtres de tokens.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914400" y="4524375"/>
            <a:ext cx="4819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Sécurité &amp; Droits 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Filtre les requêtes et demande la confirmation à l'utilisateur avant exécution.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686550" y="3028950"/>
            <a:ext cx="4552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Déclaration :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Décrit les fonctions utilisables au modèle.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686550" y="3609975"/>
            <a:ext cx="4552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Interception :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Arrête la génération dès que le LLM émet du JSON d'outil.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686550" y="4391025"/>
            <a:ext cx="4552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Exécution &amp; Réinjection :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Exécute le code et donne le résultat en pâture au modèle.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/>
          <p:nvPr/>
        </p:nvSpPr>
        <p:spPr>
          <a:xfrm>
            <a:off x="609600" y="2537519"/>
            <a:ext cx="5334000" cy="2373510"/>
          </a:xfrm>
          <a:prstGeom prst="roundRect">
            <a:avLst>
              <a:gd name="adj" fmla="val 642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248400" y="2624137"/>
            <a:ext cx="5334000" cy="2200275"/>
          </a:xfrm>
          <a:prstGeom prst="roundRect">
            <a:avLst>
              <a:gd name="adj" fmla="val 6926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876300" y="4004369"/>
            <a:ext cx="4800600" cy="639960"/>
          </a:xfrm>
          <a:prstGeom prst="roundRect">
            <a:avLst>
              <a:gd name="adj" fmla="val 14883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650" y="4166294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INTERACTION STRUCTURÉE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09600" y="609600"/>
            <a:ext cx="11582400" cy="674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Tool Calling : La </a:t>
            </a:r>
            <a:r>
              <a:rPr lang="en-US" sz="22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Passerelle</a:t>
            </a:r>
            <a:r>
              <a:rPr lang="en-US" sz="22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2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Textuelle</a:t>
            </a:r>
            <a:br>
              <a:rPr lang="en-US" sz="22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 la </a:t>
            </a:r>
            <a:r>
              <a:rPr lang="en-US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volonté</a:t>
            </a:r>
            <a:r>
              <a:rPr lang="en-US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)</a:t>
            </a:r>
            <a:endParaRPr dirty="0"/>
          </a:p>
        </p:txBody>
      </p:sp>
      <p:sp>
        <p:nvSpPr>
          <p:cNvPr id="221" name="Google Shape;221;p19"/>
          <p:cNvSpPr txBox="1"/>
          <p:nvPr/>
        </p:nvSpPr>
        <p:spPr>
          <a:xfrm>
            <a:off x="876300" y="2804219"/>
            <a:ext cx="630078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 un Outil, Ni un Sous-Modèle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76300" y="3185219"/>
            <a:ext cx="48958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tool calling désigne simplement la capacité d'un LLM à formater son intention sous forme d'appel de fonction standardisé (souvent JSON).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009650" y="4137719"/>
            <a:ext cx="46291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LLM n'a jamais accès à internet ou au terminal. Il émet une demande textuelle formelle à l'hôte.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515100" y="2890837"/>
            <a:ext cx="56769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Pourquoi le Modèle Sait-il Faire Cela ?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515100" y="3243262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Fine-Tuning Spécialisé :</a:t>
            </a:r>
            <a:r>
              <a:rPr lang="en-US" sz="1125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Entraîné sur des milliers de paires question/schéma JSON.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6515100" y="3719512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Tokens d'Arrêt :</a:t>
            </a:r>
            <a:r>
              <a:rPr lang="en-US" sz="1125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Balise spécifique qui signale la fin immédiate de la commande.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515100" y="4195762"/>
            <a:ext cx="48958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Précision des Arguments :</a:t>
            </a:r>
            <a:r>
              <a:rPr lang="en-US" sz="1125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Capacité à extraire des paramètres typés depuis le dialogue.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/>
          <p:nvPr/>
        </p:nvSpPr>
        <p:spPr>
          <a:xfrm>
            <a:off x="609600" y="2959744"/>
            <a:ext cx="5372100" cy="1757511"/>
          </a:xfrm>
          <a:prstGeom prst="roundRect">
            <a:avLst>
              <a:gd name="adj" fmla="val 541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6210300" y="3208139"/>
            <a:ext cx="5372100" cy="1260574"/>
          </a:xfrm>
          <a:prstGeom prst="roundRect">
            <a:avLst>
              <a:gd name="adj" fmla="val 7556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PROTOCOLE DE DIALOGUE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09600" y="6096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Exemple Concret : Le JSON du Tool Calling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09600" y="2731144"/>
            <a:ext cx="67151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Émis par le LLM (Intention brute)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62000" y="3093094"/>
            <a:ext cx="5162550" cy="149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"tool_calls": [{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"type": "function",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"function": {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"name": "google_search",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"arguments": "{\"query\": \"Météo Montreuil\"}"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}]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210300" y="2979539"/>
            <a:ext cx="5981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Renvoyé par l'Hôte (Donnée certifiée)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362700" y="3341489"/>
            <a:ext cx="5162550" cy="99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"role": "tool",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"name": "google_search",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"content": "{\"temp\": \"14°C\", \"ciel\": \"Pluvieux\"}"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Le LLM formule : "Il fait 14°C avec de la pluie à Montreuil."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609600" y="2324100"/>
            <a:ext cx="5334000" cy="2800350"/>
          </a:xfrm>
          <a:prstGeom prst="roundRect">
            <a:avLst>
              <a:gd name="adj" fmla="val 544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248400" y="2133600"/>
            <a:ext cx="5334000" cy="3181350"/>
          </a:xfrm>
          <a:prstGeom prst="roundRect">
            <a:avLst>
              <a:gd name="adj" fmla="val 4790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6553200" y="2809875"/>
            <a:ext cx="4724400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6553200" y="3581400"/>
            <a:ext cx="4724400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553200" y="4352925"/>
            <a:ext cx="4724400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COUCHE MÉTIER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09600" y="6096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Les Skills : Donner une Fiche de Poste à l'IA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914400" y="2628900"/>
            <a:ext cx="6200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Plus qu'un Simple Outil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914400" y="3028950"/>
            <a:ext cx="4819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outil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isolé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est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fonction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technique. Le skill est le mode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d'emploi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qui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encadre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l'usage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outils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pour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accomplir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mission donnée.</a:t>
            </a:r>
            <a:endParaRPr dirty="0"/>
          </a:p>
        </p:txBody>
      </p:sp>
      <p:sp>
        <p:nvSpPr>
          <p:cNvPr id="253" name="Google Shape;253;p21"/>
          <p:cNvSpPr txBox="1"/>
          <p:nvPr/>
        </p:nvSpPr>
        <p:spPr>
          <a:xfrm>
            <a:off x="6553200" y="2438400"/>
            <a:ext cx="56388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Composition Standard d'un Skill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914400" y="3867150"/>
            <a:ext cx="4819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Instructions Contextuelles 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Règles de conduite et démarches analytiques obligatoires.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914400" y="4343400"/>
            <a:ext cx="5905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Sélection Ciblée 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Évite de polluer le contexte avec 200 outils inutiles.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914400" y="4638675"/>
            <a:ext cx="5905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Contrôle Qualité 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Critères d'arrêt et de validation des résultats.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686550" y="2943225"/>
            <a:ext cx="455295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Métier :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6686550" y="3714750"/>
            <a:ext cx="455295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Boîte à Outils Autorisée :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686550" y="4486275"/>
            <a:ext cx="455295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Gabarits &amp; Exemples :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686550" y="3162300"/>
            <a:ext cx="5505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Définit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 ton,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l'expertise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et les étapes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logiques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à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suivre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261" name="Google Shape;261;p21"/>
          <p:cNvSpPr txBox="1"/>
          <p:nvPr/>
        </p:nvSpPr>
        <p:spPr>
          <a:xfrm>
            <a:off x="6686550" y="3933825"/>
            <a:ext cx="5505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Liste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restreinte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fonctions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activables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pour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cette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compétence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262" name="Google Shape;262;p21"/>
          <p:cNvSpPr txBox="1"/>
          <p:nvPr/>
        </p:nvSpPr>
        <p:spPr>
          <a:xfrm>
            <a:off x="6686550" y="4705350"/>
            <a:ext cx="5505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Modèles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code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texte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conformes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aux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attentes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/>
          <p:nvPr/>
        </p:nvSpPr>
        <p:spPr>
          <a:xfrm>
            <a:off x="609600" y="2464444"/>
            <a:ext cx="5887194" cy="2888606"/>
          </a:xfrm>
          <a:prstGeom prst="roundRect">
            <a:avLst>
              <a:gd name="adj" fmla="val 529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6763494" y="2933551"/>
            <a:ext cx="4818905" cy="1581150"/>
          </a:xfrm>
          <a:prstGeom prst="roundRect">
            <a:avLst>
              <a:gd name="adj" fmla="val 8433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838200" y="2997844"/>
            <a:ext cx="5429994" cy="2165464"/>
          </a:xfrm>
          <a:prstGeom prst="roundRect">
            <a:avLst>
              <a:gd name="adj" fmla="val 541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721619"/>
            <a:ext cx="1428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EXPERTISE OPÉRATIONNELLE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09600" y="6096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Exemple Concret : Un Skill « Assistant Git »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838200" y="2693044"/>
            <a:ext cx="712686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git_skill_config.yaml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7131794" y="1575207"/>
            <a:ext cx="5220444" cy="11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/w </a:t>
            </a:r>
            <a:r>
              <a:rPr lang="en-US" sz="1000" b="1" i="0" u="none" strike="noStrike" cap="none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ismahen</a:t>
            </a:r>
            <a:r>
              <a:rPr lang="en-US" sz="1000" b="1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 b="1" i="0" u="none" strike="noStrike" cap="none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C’est</a:t>
            </a:r>
            <a:r>
              <a:rPr lang="en-US" sz="1000" b="1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pour Ifrit, je </a:t>
            </a:r>
            <a:r>
              <a:rPr lang="en-US" sz="1000" b="1" i="0" u="none" strike="noStrike" cap="none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vais</a:t>
            </a:r>
            <a:r>
              <a:rPr lang="en-US" sz="1000" b="1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prendre </a:t>
            </a:r>
            <a:r>
              <a:rPr lang="en-US" sz="1000" b="1" i="0" u="none" strike="noStrike" cap="none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rdv</a:t>
            </a:r>
            <a:r>
              <a:rPr lang="en-US" sz="1000" b="1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pendant </a:t>
            </a:r>
            <a:r>
              <a:rPr lang="en-US" sz="1000" b="1" i="0" u="none" strike="noStrike" cap="none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mes</a:t>
            </a:r>
            <a:r>
              <a:rPr lang="en-US" sz="1000" b="1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congés</a:t>
            </a:r>
            <a:endParaRPr sz="1000" b="1" dirty="0"/>
          </a:p>
        </p:txBody>
      </p:sp>
      <p:sp>
        <p:nvSpPr>
          <p:cNvPr id="275" name="Google Shape;275;p22"/>
          <p:cNvSpPr txBox="1"/>
          <p:nvPr/>
        </p:nvSpPr>
        <p:spPr>
          <a:xfrm>
            <a:off x="6992094" y="3162151"/>
            <a:ext cx="519990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Pourquoi ce n'est pas qu'un Tool ?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992094" y="3476476"/>
            <a:ext cx="519990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Méthode Métier :</a:t>
            </a:r>
            <a:r>
              <a:rPr lang="en-US" sz="1125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L'IA sait inspecter le diff avant de valider.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992094" y="3771751"/>
            <a:ext cx="519990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Garde-Fous :</a:t>
            </a:r>
            <a:r>
              <a:rPr lang="en-US" sz="1125" b="0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Interdiction d'ajouter des fichiers .env.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992094" y="4086076"/>
            <a:ext cx="519990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Gabarit</a:t>
            </a:r>
            <a:r>
              <a:rPr lang="en-US" sz="1125" b="1" i="0" u="none" strike="noStrike" cap="none" dirty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Sortie :</a:t>
            </a:r>
            <a:r>
              <a:rPr lang="en-US" sz="1125" b="0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Format feat(auth): ... </a:t>
            </a:r>
            <a:r>
              <a:rPr lang="en-US" sz="1125" b="0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imposé</a:t>
            </a:r>
            <a:r>
              <a:rPr lang="en-US" sz="1125" b="0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B6D98FB-BC0D-E07A-1DD0-23BA1F4BD7B9}"/>
              </a:ext>
            </a:extLst>
          </p:cNvPr>
          <p:cNvSpPr txBox="1"/>
          <p:nvPr/>
        </p:nvSpPr>
        <p:spPr>
          <a:xfrm>
            <a:off x="981075" y="3088439"/>
            <a:ext cx="4772025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name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: 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git_commit_specialist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instructions: |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  1. Analyser le résultat de 'git 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status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' et 'git diff --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staged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'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  2. Valider les règles de sécurité avant tout commit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garde_fous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: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  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fichiers_interdits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: [".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env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", "*.key", "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credentials.json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"]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  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condition_prealable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: "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npm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 test == 0"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gabarit_de_sortie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: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  format: "&lt;type&gt;(&lt;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portee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&gt;): &lt;description concise&gt;"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  exemple: "feat(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auth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): ajout du 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refresh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 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token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 JWT"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tools_allowed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: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  - 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cli_exec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("git diff --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staged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")</a:t>
            </a:r>
            <a:b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</a:b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  - </a:t>
            </a:r>
            <a:r>
              <a:rPr lang="fr-FR" sz="900" dirty="0" err="1">
                <a:solidFill>
                  <a:srgbClr val="F8FAFC"/>
                </a:solidFill>
                <a:latin typeface="JetBrains Mono"/>
                <a:cs typeface="JetBrains Mono"/>
              </a:rPr>
              <a:t>cli_exec</a:t>
            </a:r>
            <a:r>
              <a:rPr lang="fr-FR" sz="900" dirty="0">
                <a:solidFill>
                  <a:srgbClr val="F8FAFC"/>
                </a:solidFill>
                <a:latin typeface="JetBrains Mono"/>
                <a:cs typeface="JetBrains Mono"/>
              </a:rPr>
              <a:t>("git commit -m ...")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/>
          <p:nvPr/>
        </p:nvSpPr>
        <p:spPr>
          <a:xfrm>
            <a:off x="609600" y="2451199"/>
            <a:ext cx="10972800" cy="2546002"/>
          </a:xfrm>
          <a:prstGeom prst="roundRect">
            <a:avLst>
              <a:gd name="adj" fmla="val 523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838200" y="2679799"/>
            <a:ext cx="6172200" cy="2088802"/>
          </a:xfrm>
          <a:prstGeom prst="roundRect">
            <a:avLst>
              <a:gd name="adj" fmla="val 456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7239000" y="3843188"/>
            <a:ext cx="4286250" cy="563712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3300" y="3986063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3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APPROCHE DIRECTE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609600" y="6096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Recherche Google : Codée en Dur dans l'Hôte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990600" y="2813149"/>
            <a:ext cx="5962650" cy="182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app_hote_directe.py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import requests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def google_search(query: str) -&gt; str: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url = f"https://api.search.com/v1?q={query}"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res = requests.get(url, headers={"Authorization": "Bearer KEY"})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return res.json()["snippets"][0]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Déclaré manuellement à l'API OpenAI / Anthropic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tools = [{"type": "function", "function": {"name": "google_search", ...}}]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L'hôte exécute lui-même google_search() à la réception du JSON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7239000" y="3033563"/>
            <a:ext cx="4953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Limite Majeure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7239000" y="3328838"/>
            <a:ext cx="42100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code de requête HTTP et la gestion des clés d'API sont enfermés dans ce seul script.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7543800" y="3971946"/>
            <a:ext cx="39814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Inutilisable</a:t>
            </a:r>
            <a:r>
              <a:rPr lang="en-US" sz="1050" b="1" i="0" u="none" strike="noStrike" cap="none" dirty="0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dans Continue </a:t>
            </a:r>
            <a:r>
              <a:rPr lang="en-US" sz="1050" b="1" i="0" u="none" strike="noStrike" cap="none" dirty="0" err="1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</a:t>
            </a:r>
            <a:r>
              <a:rPr lang="en-US" sz="1050" b="1" i="0" u="none" strike="noStrike" cap="none" dirty="0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1" i="0" u="none" strike="noStrike" cap="none" dirty="0" err="1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autre</a:t>
            </a:r>
            <a:r>
              <a:rPr lang="en-US" sz="1050" b="1" i="0" u="none" strike="noStrike" cap="none" dirty="0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sans tout </a:t>
            </a:r>
            <a:r>
              <a:rPr lang="en-US" sz="1050" b="1" i="0" u="none" strike="noStrike" cap="none" dirty="0" err="1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réécrire</a:t>
            </a:r>
            <a:r>
              <a:rPr lang="en-US" sz="1050" b="1" i="0" u="none" strike="noStrike" cap="none" dirty="0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/>
          <p:nvPr/>
        </p:nvSpPr>
        <p:spPr>
          <a:xfrm>
            <a:off x="609600" y="2282725"/>
            <a:ext cx="5391150" cy="2883098"/>
          </a:xfrm>
          <a:prstGeom prst="roundRect">
            <a:avLst>
              <a:gd name="adj" fmla="val 396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6191250" y="2416819"/>
            <a:ext cx="5391150" cy="2614761"/>
          </a:xfrm>
          <a:prstGeom prst="roundRect">
            <a:avLst>
              <a:gd name="adj" fmla="val 4371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819150" y="2701825"/>
            <a:ext cx="4972050" cy="2254448"/>
          </a:xfrm>
          <a:prstGeom prst="roundRect">
            <a:avLst>
              <a:gd name="adj" fmla="val 4224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6400800" y="2835919"/>
            <a:ext cx="4972050" cy="1757511"/>
          </a:xfrm>
          <a:prstGeom prst="roundRect">
            <a:avLst>
              <a:gd name="adj" fmla="val 5419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APPROCHE MODULAIRE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09600" y="6096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Recherche Google : L'Équivalent en Serveur MCP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819150" y="2492275"/>
            <a:ext cx="621506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Le Serveur MCP Autonome (serveur_recherche.py)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971550" y="2835175"/>
            <a:ext cx="4762500" cy="198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mcp.server.fastmcp import FastMCP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import requests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mcp = FastMCP("SearchService")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@mcp.tool()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def search_google(query: str) -&gt; str: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"""Exécute une requête de recherche web."""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res = requests.get(f"https://api.search.com/q={query}")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return res.text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mcp.run(transport="stdio")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6400800" y="2626369"/>
            <a:ext cx="5791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Prise en charge universelle dans n'importe quel Hôte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6553200" y="2969269"/>
            <a:ext cx="4762500" cy="910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claude_desktop_config.json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Continue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</a:t>
            </a:r>
            <a:r>
              <a:rPr lang="en-US" sz="900" b="0" i="0" u="none" strike="noStrike" cap="none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mcpServers</a:t>
            </a:r>
            <a:r>
              <a:rPr lang="en-US" sz="900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": {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"web-search": {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"command": "python",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"</a:t>
            </a:r>
            <a:r>
              <a:rPr lang="en-US" sz="900" b="0" i="0" u="none" strike="noStrike" cap="none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900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": ["/chemins/serveur_recherche.py"]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}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}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 dirty="0"/>
          </a:p>
        </p:txBody>
      </p:sp>
      <p:sp>
        <p:nvSpPr>
          <p:cNvPr id="307" name="Google Shape;307;p24"/>
          <p:cNvSpPr txBox="1"/>
          <p:nvPr/>
        </p:nvSpPr>
        <p:spPr>
          <a:xfrm>
            <a:off x="6400800" y="4669631"/>
            <a:ext cx="5791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Aucun code de réseau ou de schéma JSON à écrire dans l'hôte.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"/>
          <p:cNvSpPr/>
          <p:nvPr/>
        </p:nvSpPr>
        <p:spPr>
          <a:xfrm>
            <a:off x="609600" y="2747962"/>
            <a:ext cx="10972800" cy="1952625"/>
          </a:xfrm>
          <a:prstGeom prst="roundRect">
            <a:avLst>
              <a:gd name="adj" fmla="val 780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838200" y="3910012"/>
            <a:ext cx="105156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838200" y="3014662"/>
            <a:ext cx="2286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4857750" y="3014662"/>
            <a:ext cx="2476500" cy="723900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90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9067800" y="3014662"/>
            <a:ext cx="2286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3476625" y="4062412"/>
            <a:ext cx="5238750" cy="371475"/>
          </a:xfrm>
          <a:prstGeom prst="roundRect">
            <a:avLst>
              <a:gd name="adj" fmla="val 2051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838200" y="3910012"/>
            <a:ext cx="105156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5225" y="3262312"/>
            <a:ext cx="571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5275" y="3262312"/>
            <a:ext cx="571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7125" y="418623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FLUX SYSTÉMIQUE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609600" y="6096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Schéma d'Interaction Globale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766762" y="3186112"/>
            <a:ext cx="24288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UTILISATEUR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706040" y="3357562"/>
            <a:ext cx="255031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« </a:t>
            </a:r>
            <a:r>
              <a:rPr lang="en-US" sz="1275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Cherche</a:t>
            </a:r>
            <a:r>
              <a:rPr lang="en-US" sz="12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 score »</a:t>
            </a:r>
            <a:endParaRPr dirty="0"/>
          </a:p>
        </p:txBody>
      </p:sp>
      <p:sp>
        <p:nvSpPr>
          <p:cNvPr id="326" name="Google Shape;326;p25"/>
          <p:cNvSpPr txBox="1"/>
          <p:nvPr/>
        </p:nvSpPr>
        <p:spPr>
          <a:xfrm>
            <a:off x="4762500" y="3186112"/>
            <a:ext cx="2667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HÔTE (Continue)</a:t>
            </a:r>
            <a:endParaRPr dirty="0"/>
          </a:p>
        </p:txBody>
      </p:sp>
      <p:sp>
        <p:nvSpPr>
          <p:cNvPr id="327" name="Google Shape;327;p25"/>
          <p:cNvSpPr txBox="1"/>
          <p:nvPr/>
        </p:nvSpPr>
        <p:spPr>
          <a:xfrm>
            <a:off x="4695825" y="3357562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Transmet les Schémas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8996362" y="3186112"/>
            <a:ext cx="24288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 + MOTEUR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8935640" y="3357562"/>
            <a:ext cx="255031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Émet l'Appel JSON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3059906" y="4157662"/>
            <a:ext cx="607218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L'hôte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relaie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l'ordre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serveur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MCP qui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contacte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l'API</a:t>
            </a:r>
            <a:r>
              <a:rPr lang="en-US" sz="1125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externe </a:t>
            </a:r>
            <a:r>
              <a:rPr lang="en-US" sz="1125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réelle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/>
          <p:nvPr/>
        </p:nvSpPr>
        <p:spPr>
          <a:xfrm>
            <a:off x="609600" y="2328862"/>
            <a:ext cx="10972800" cy="2790825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6" name="Google Shape;336;p26"/>
          <p:cNvGraphicFramePr/>
          <p:nvPr>
            <p:extLst>
              <p:ext uri="{D42A27DB-BD31-4B8C-83A1-F6EECF244321}">
                <p14:modId xmlns:p14="http://schemas.microsoft.com/office/powerpoint/2010/main" val="360491035"/>
              </p:ext>
            </p:extLst>
          </p:nvPr>
        </p:nvGraphicFramePr>
        <p:xfrm>
          <a:off x="609600" y="2328862"/>
          <a:ext cx="10972800" cy="2790900"/>
        </p:xfrm>
        <a:graphic>
          <a:graphicData uri="http://schemas.openxmlformats.org/drawingml/2006/table">
            <a:tbl>
              <a:tblPr>
                <a:noFill/>
                <a:tableStyleId>{C8A53106-029D-40A9-AE31-D0608114568D}</a:tableStyleId>
              </a:tblPr>
              <a:tblGrid>
                <a:gridCol w="202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Composant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Forme Concrète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Exemple Précis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Rôle Spécifique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LLM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Fichier de tenseurs binaires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weights.safetensors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Structure synaptique inerte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Moteur d'Inférence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Binaire machine C++/CUDA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llama-server, vLLM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Multiplication matricielle GPU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Application Hôte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Logiciel utilisateur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Continue, Cursor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Orchestration, contexte &amp; sécurité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Tool Calling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Contrat textuel JSON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{"name": "google_search"}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Émission d'intention d'action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Serveur MCP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Processus indépendant standardisé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serveur_mcp_git.py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Exécute le code réel (CLI/Web)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Skill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Instructions &amp; sélection d'outils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git_commit_expert.yaml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Définit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la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méthodologie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métier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7" name="Google Shape;337;p26"/>
          <p:cNvSpPr txBox="1"/>
          <p:nvPr/>
        </p:nvSpPr>
        <p:spPr>
          <a:xfrm>
            <a:off x="609600" y="4191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RÉCAPITULATIF GLOBAL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609600" y="60960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Tableau Synthétique des Rôles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1865</Words>
  <Application>Microsoft Office PowerPoint</Application>
  <PresentationFormat>Grand écran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JetBrains Mono</vt:lpstr>
      <vt:lpstr>Arial</vt:lpstr>
      <vt:lpstr>Calibri</vt:lpstr>
      <vt:lpstr>Plus Jakarta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Zell</dc:creator>
  <cp:lastModifiedBy>larbi bougoufa</cp:lastModifiedBy>
  <cp:revision>6</cp:revision>
  <dcterms:modified xsi:type="dcterms:W3CDTF">2026-10-23T12:14:56Z</dcterms:modified>
</cp:coreProperties>
</file>